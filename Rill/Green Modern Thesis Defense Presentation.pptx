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5" r:id="rId30"/>
    <p:sldId id="286" r:id="rId31"/>
    <p:sldId id="288" r:id="rId32"/>
    <p:sldId id="289" r:id="rId33"/>
  </p:sldIdLst>
  <p:sldSz cx="18288000" cy="10287000"/>
  <p:notesSz cx="6858000" cy="9144000"/>
  <p:embeddedFontLst>
    <p:embeddedFont>
      <p:font typeface="Adirek Sans" panose="020B0604020202020204" charset="-34"/>
      <p:regular r:id="rId34"/>
    </p:embeddedFont>
    <p:embeddedFont>
      <p:font typeface="Adirek Sans Bold" panose="020B0604020202020204" charset="-34"/>
      <p:regular r:id="rId35"/>
    </p:embeddedFont>
    <p:embeddedFont>
      <p:font typeface="Adirek Sans Heavy" panose="020B0604020202020204" charset="-34"/>
      <p:regular r:id="rId36"/>
    </p:embeddedFont>
    <p:embeddedFont>
      <p:font typeface="Roboto" panose="02000000000000000000" pitchFamily="2" charset="0"/>
      <p:regular r:id="rId37"/>
      <p:bold r:id="rId38"/>
      <p:italic r:id="rId39"/>
      <p:boldItalic r:id="rId40"/>
    </p:embeddedFont>
    <p:embeddedFont>
      <p:font typeface="Roboto Bold" panose="02000000000000000000" pitchFamily="2" charset="0"/>
      <p:regular r:id="rId41"/>
      <p:bold r:id="rId42"/>
    </p:embeddedFont>
    <p:embeddedFont>
      <p:font typeface="Roboto Italics" panose="020B0604020202020204" charset="0"/>
      <p:regular r:id="rId4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p:scale>
          <a:sx n="69" d="100"/>
          <a:sy n="69" d="100"/>
        </p:scale>
        <p:origin x="332" y="13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font" Target="fonts/font9.fntdata"/><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font" Target="fonts/font10.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5.fntdata"/><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font" Target="fonts/font8.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7/24/2024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7/24/2024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7/24/2024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2EA"/>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2322645" cy="10287000"/>
            <a:chOff x="0" y="0"/>
            <a:chExt cx="483575" cy="2141755"/>
          </a:xfrm>
        </p:grpSpPr>
        <p:sp>
          <p:nvSpPr>
            <p:cNvPr id="3" name="Freeform 3"/>
            <p:cNvSpPr/>
            <p:nvPr/>
          </p:nvSpPr>
          <p:spPr>
            <a:xfrm>
              <a:off x="0" y="0"/>
              <a:ext cx="483575" cy="2141755"/>
            </a:xfrm>
            <a:custGeom>
              <a:avLst/>
              <a:gdLst/>
              <a:ahLst/>
              <a:cxnLst/>
              <a:rect l="l" t="t" r="r" b="b"/>
              <a:pathLst>
                <a:path w="483575" h="2141755">
                  <a:moveTo>
                    <a:pt x="0" y="0"/>
                  </a:moveTo>
                  <a:lnTo>
                    <a:pt x="483575" y="0"/>
                  </a:lnTo>
                  <a:lnTo>
                    <a:pt x="483575" y="2141755"/>
                  </a:lnTo>
                  <a:lnTo>
                    <a:pt x="0" y="2141755"/>
                  </a:lnTo>
                  <a:close/>
                </a:path>
              </a:pathLst>
            </a:custGeom>
            <a:solidFill>
              <a:srgbClr val="283728"/>
            </a:solidFill>
          </p:spPr>
        </p:sp>
        <p:sp>
          <p:nvSpPr>
            <p:cNvPr id="4" name="TextBox 4"/>
            <p:cNvSpPr txBox="1"/>
            <p:nvPr/>
          </p:nvSpPr>
          <p:spPr>
            <a:xfrm>
              <a:off x="0" y="-47625"/>
              <a:ext cx="483575" cy="2189380"/>
            </a:xfrm>
            <a:prstGeom prst="rect">
              <a:avLst/>
            </a:prstGeom>
          </p:spPr>
          <p:txBody>
            <a:bodyPr lIns="50800" tIns="50800" rIns="50800" bIns="50800" rtlCol="0" anchor="ctr"/>
            <a:lstStyle/>
            <a:p>
              <a:pPr algn="ctr">
                <a:lnSpc>
                  <a:spcPts val="3079"/>
                </a:lnSpc>
              </a:pPr>
              <a:endParaRPr/>
            </a:p>
          </p:txBody>
        </p:sp>
      </p:grpSp>
      <p:sp>
        <p:nvSpPr>
          <p:cNvPr id="5" name="TextBox 5"/>
          <p:cNvSpPr txBox="1"/>
          <p:nvPr/>
        </p:nvSpPr>
        <p:spPr>
          <a:xfrm>
            <a:off x="2644149" y="2428875"/>
            <a:ext cx="15342237" cy="2730519"/>
          </a:xfrm>
          <a:prstGeom prst="rect">
            <a:avLst/>
          </a:prstGeom>
        </p:spPr>
        <p:txBody>
          <a:bodyPr lIns="0" tIns="0" rIns="0" bIns="0" rtlCol="0" anchor="t">
            <a:spAutoFit/>
          </a:bodyPr>
          <a:lstStyle/>
          <a:p>
            <a:pPr algn="l">
              <a:lnSpc>
                <a:spcPts val="7151"/>
              </a:lnSpc>
            </a:pPr>
            <a:r>
              <a:rPr lang="en-US" sz="6501">
                <a:solidFill>
                  <a:srgbClr val="283728"/>
                </a:solidFill>
                <a:latin typeface="Adirek Sans Heavy"/>
                <a:ea typeface="Adirek Sans Heavy"/>
                <a:cs typeface="Adirek Sans Heavy"/>
                <a:sym typeface="Adirek Sans Heavy"/>
              </a:rPr>
              <a:t>IMPLEMENTASI VARIATIONAL AUTOENCODER DAN REGULARIZED SINGULAR VALUE DECOMPOSITION PADA SISTEM REKOMENDASI FILM</a:t>
            </a:r>
          </a:p>
        </p:txBody>
      </p:sp>
      <p:sp>
        <p:nvSpPr>
          <p:cNvPr id="6" name="TextBox 6"/>
          <p:cNvSpPr txBox="1"/>
          <p:nvPr/>
        </p:nvSpPr>
        <p:spPr>
          <a:xfrm>
            <a:off x="2644149" y="5562710"/>
            <a:ext cx="9184121" cy="771527"/>
          </a:xfrm>
          <a:prstGeom prst="rect">
            <a:avLst/>
          </a:prstGeom>
        </p:spPr>
        <p:txBody>
          <a:bodyPr lIns="0" tIns="0" rIns="0" bIns="0" rtlCol="0" anchor="t">
            <a:spAutoFit/>
          </a:bodyPr>
          <a:lstStyle/>
          <a:p>
            <a:pPr algn="l">
              <a:lnSpc>
                <a:spcPts val="6299"/>
              </a:lnSpc>
              <a:spcBef>
                <a:spcPct val="0"/>
              </a:spcBef>
            </a:pPr>
            <a:r>
              <a:rPr lang="en-US" sz="4499" spc="224">
                <a:solidFill>
                  <a:srgbClr val="5B544C"/>
                </a:solidFill>
                <a:latin typeface="Roboto"/>
                <a:ea typeface="Roboto"/>
                <a:cs typeface="Roboto"/>
                <a:sym typeface="Roboto"/>
              </a:rPr>
              <a:t>Ida Bagus Gede Basudewa Weda</a:t>
            </a:r>
          </a:p>
        </p:txBody>
      </p:sp>
      <p:sp>
        <p:nvSpPr>
          <p:cNvPr id="7" name="TextBox 7"/>
          <p:cNvSpPr txBox="1"/>
          <p:nvPr/>
        </p:nvSpPr>
        <p:spPr>
          <a:xfrm>
            <a:off x="2644149" y="6238986"/>
            <a:ext cx="9184121" cy="771527"/>
          </a:xfrm>
          <a:prstGeom prst="rect">
            <a:avLst/>
          </a:prstGeom>
        </p:spPr>
        <p:txBody>
          <a:bodyPr lIns="0" tIns="0" rIns="0" bIns="0" rtlCol="0" anchor="t">
            <a:spAutoFit/>
          </a:bodyPr>
          <a:lstStyle/>
          <a:p>
            <a:pPr algn="l">
              <a:lnSpc>
                <a:spcPts val="6299"/>
              </a:lnSpc>
              <a:spcBef>
                <a:spcPct val="0"/>
              </a:spcBef>
            </a:pPr>
            <a:r>
              <a:rPr lang="en-US" sz="4499" spc="224">
                <a:solidFill>
                  <a:srgbClr val="5B544C"/>
                </a:solidFill>
                <a:latin typeface="Roboto"/>
                <a:ea typeface="Roboto"/>
                <a:cs typeface="Roboto"/>
                <a:sym typeface="Roboto"/>
              </a:rPr>
              <a:t>2208561077</a:t>
            </a:r>
          </a:p>
        </p:txBody>
      </p:sp>
      <p:sp>
        <p:nvSpPr>
          <p:cNvPr id="8" name="TextBox 8"/>
          <p:cNvSpPr txBox="1"/>
          <p:nvPr/>
        </p:nvSpPr>
        <p:spPr>
          <a:xfrm>
            <a:off x="15315889" y="431799"/>
            <a:ext cx="2541810" cy="596901"/>
          </a:xfrm>
          <a:prstGeom prst="rect">
            <a:avLst/>
          </a:prstGeom>
        </p:spPr>
        <p:txBody>
          <a:bodyPr lIns="0" tIns="0" rIns="0" bIns="0" rtlCol="0" anchor="t">
            <a:spAutoFit/>
          </a:bodyPr>
          <a:lstStyle/>
          <a:p>
            <a:pPr algn="l">
              <a:lnSpc>
                <a:spcPts val="4899"/>
              </a:lnSpc>
              <a:spcBef>
                <a:spcPct val="0"/>
              </a:spcBef>
            </a:pPr>
            <a:r>
              <a:rPr lang="en-US" sz="3499" spc="174">
                <a:solidFill>
                  <a:srgbClr val="5B544C"/>
                </a:solidFill>
                <a:latin typeface="Roboto"/>
                <a:ea typeface="Roboto"/>
                <a:cs typeface="Roboto"/>
                <a:sym typeface="Roboto"/>
              </a:rPr>
              <a:t>Informatika</a:t>
            </a:r>
          </a:p>
        </p:txBody>
      </p:sp>
      <p:sp>
        <p:nvSpPr>
          <p:cNvPr id="9" name="TextBox 9"/>
          <p:cNvSpPr txBox="1"/>
          <p:nvPr/>
        </p:nvSpPr>
        <p:spPr>
          <a:xfrm>
            <a:off x="11828270" y="8661399"/>
            <a:ext cx="6029430" cy="596901"/>
          </a:xfrm>
          <a:prstGeom prst="rect">
            <a:avLst/>
          </a:prstGeom>
        </p:spPr>
        <p:txBody>
          <a:bodyPr lIns="0" tIns="0" rIns="0" bIns="0" rtlCol="0" anchor="t">
            <a:spAutoFit/>
          </a:bodyPr>
          <a:lstStyle/>
          <a:p>
            <a:pPr algn="l">
              <a:lnSpc>
                <a:spcPts val="4899"/>
              </a:lnSpc>
              <a:spcBef>
                <a:spcPct val="0"/>
              </a:spcBef>
            </a:pPr>
            <a:r>
              <a:rPr lang="en-US" sz="3499" spc="174">
                <a:solidFill>
                  <a:srgbClr val="5B544C"/>
                </a:solidFill>
                <a:latin typeface="Roboto"/>
                <a:ea typeface="Roboto"/>
                <a:cs typeface="Roboto"/>
                <a:sym typeface="Roboto"/>
              </a:rPr>
              <a:t>Universitas Udayana | 2024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2EA"/>
        </a:solidFill>
        <a:effectLst/>
      </p:bgPr>
    </p:bg>
    <p:spTree>
      <p:nvGrpSpPr>
        <p:cNvPr id="1" name=""/>
        <p:cNvGrpSpPr/>
        <p:nvPr/>
      </p:nvGrpSpPr>
      <p:grpSpPr>
        <a:xfrm>
          <a:off x="0" y="0"/>
          <a:ext cx="0" cy="0"/>
          <a:chOff x="0" y="0"/>
          <a:chExt cx="0" cy="0"/>
        </a:xfrm>
      </p:grpSpPr>
      <p:grpSp>
        <p:nvGrpSpPr>
          <p:cNvPr id="2" name="Group 2"/>
          <p:cNvGrpSpPr/>
          <p:nvPr/>
        </p:nvGrpSpPr>
        <p:grpSpPr>
          <a:xfrm>
            <a:off x="16610134" y="0"/>
            <a:ext cx="1677866" cy="1679634"/>
            <a:chOff x="0" y="0"/>
            <a:chExt cx="568780" cy="569379"/>
          </a:xfrm>
        </p:grpSpPr>
        <p:sp>
          <p:nvSpPr>
            <p:cNvPr id="3" name="Freeform 3"/>
            <p:cNvSpPr/>
            <p:nvPr/>
          </p:nvSpPr>
          <p:spPr>
            <a:xfrm>
              <a:off x="0" y="0"/>
              <a:ext cx="568780" cy="569379"/>
            </a:xfrm>
            <a:custGeom>
              <a:avLst/>
              <a:gdLst/>
              <a:ahLst/>
              <a:cxnLst/>
              <a:rect l="l" t="t" r="r" b="b"/>
              <a:pathLst>
                <a:path w="568780" h="569379">
                  <a:moveTo>
                    <a:pt x="0" y="0"/>
                  </a:moveTo>
                  <a:lnTo>
                    <a:pt x="568780" y="0"/>
                  </a:lnTo>
                  <a:lnTo>
                    <a:pt x="568780" y="569379"/>
                  </a:lnTo>
                  <a:lnTo>
                    <a:pt x="0" y="569379"/>
                  </a:lnTo>
                  <a:close/>
                </a:path>
              </a:pathLst>
            </a:custGeom>
            <a:solidFill>
              <a:srgbClr val="283728"/>
            </a:solidFill>
          </p:spPr>
        </p:sp>
        <p:sp>
          <p:nvSpPr>
            <p:cNvPr id="4" name="TextBox 4"/>
            <p:cNvSpPr txBox="1"/>
            <p:nvPr/>
          </p:nvSpPr>
          <p:spPr>
            <a:xfrm>
              <a:off x="0" y="-47625"/>
              <a:ext cx="568780" cy="617004"/>
            </a:xfrm>
            <a:prstGeom prst="rect">
              <a:avLst/>
            </a:prstGeom>
          </p:spPr>
          <p:txBody>
            <a:bodyPr lIns="50800" tIns="50800" rIns="50800" bIns="50800" rtlCol="0" anchor="ctr"/>
            <a:lstStyle/>
            <a:p>
              <a:pPr algn="ctr">
                <a:lnSpc>
                  <a:spcPts val="3079"/>
                </a:lnSpc>
              </a:pPr>
              <a:endParaRPr/>
            </a:p>
          </p:txBody>
        </p:sp>
      </p:grpSp>
      <p:grpSp>
        <p:nvGrpSpPr>
          <p:cNvPr id="5" name="Group 5"/>
          <p:cNvGrpSpPr/>
          <p:nvPr/>
        </p:nvGrpSpPr>
        <p:grpSpPr>
          <a:xfrm>
            <a:off x="933450" y="2485725"/>
            <a:ext cx="5242298" cy="5908805"/>
            <a:chOff x="0" y="0"/>
            <a:chExt cx="1380688" cy="1556229"/>
          </a:xfrm>
        </p:grpSpPr>
        <p:sp>
          <p:nvSpPr>
            <p:cNvPr id="6" name="Freeform 6"/>
            <p:cNvSpPr/>
            <p:nvPr/>
          </p:nvSpPr>
          <p:spPr>
            <a:xfrm>
              <a:off x="0" y="0"/>
              <a:ext cx="1380688" cy="1556229"/>
            </a:xfrm>
            <a:custGeom>
              <a:avLst/>
              <a:gdLst/>
              <a:ahLst/>
              <a:cxnLst/>
              <a:rect l="l" t="t" r="r" b="b"/>
              <a:pathLst>
                <a:path w="1380688" h="1556229">
                  <a:moveTo>
                    <a:pt x="0" y="0"/>
                  </a:moveTo>
                  <a:lnTo>
                    <a:pt x="1380688" y="0"/>
                  </a:lnTo>
                  <a:lnTo>
                    <a:pt x="1380688" y="1556229"/>
                  </a:lnTo>
                  <a:lnTo>
                    <a:pt x="0" y="1556229"/>
                  </a:lnTo>
                  <a:close/>
                </a:path>
              </a:pathLst>
            </a:custGeom>
            <a:solidFill>
              <a:srgbClr val="283728"/>
            </a:solidFill>
          </p:spPr>
        </p:sp>
        <p:sp>
          <p:nvSpPr>
            <p:cNvPr id="7" name="TextBox 7"/>
            <p:cNvSpPr txBox="1"/>
            <p:nvPr/>
          </p:nvSpPr>
          <p:spPr>
            <a:xfrm>
              <a:off x="0" y="-47625"/>
              <a:ext cx="1380688" cy="1603854"/>
            </a:xfrm>
            <a:prstGeom prst="rect">
              <a:avLst/>
            </a:prstGeom>
          </p:spPr>
          <p:txBody>
            <a:bodyPr lIns="50800" tIns="50800" rIns="50800" bIns="50800" rtlCol="0" anchor="ctr"/>
            <a:lstStyle/>
            <a:p>
              <a:pPr algn="ctr">
                <a:lnSpc>
                  <a:spcPts val="3079"/>
                </a:lnSpc>
              </a:pPr>
              <a:endParaRPr/>
            </a:p>
          </p:txBody>
        </p:sp>
      </p:grpSp>
      <p:grpSp>
        <p:nvGrpSpPr>
          <p:cNvPr id="8" name="Group 8"/>
          <p:cNvGrpSpPr/>
          <p:nvPr/>
        </p:nvGrpSpPr>
        <p:grpSpPr>
          <a:xfrm>
            <a:off x="6535951" y="2485725"/>
            <a:ext cx="5242298" cy="5908805"/>
            <a:chOff x="0" y="0"/>
            <a:chExt cx="1380688" cy="1556229"/>
          </a:xfrm>
        </p:grpSpPr>
        <p:sp>
          <p:nvSpPr>
            <p:cNvPr id="9" name="Freeform 9"/>
            <p:cNvSpPr/>
            <p:nvPr/>
          </p:nvSpPr>
          <p:spPr>
            <a:xfrm>
              <a:off x="0" y="0"/>
              <a:ext cx="1380688" cy="1556229"/>
            </a:xfrm>
            <a:custGeom>
              <a:avLst/>
              <a:gdLst/>
              <a:ahLst/>
              <a:cxnLst/>
              <a:rect l="l" t="t" r="r" b="b"/>
              <a:pathLst>
                <a:path w="1380688" h="1556229">
                  <a:moveTo>
                    <a:pt x="0" y="0"/>
                  </a:moveTo>
                  <a:lnTo>
                    <a:pt x="1380688" y="0"/>
                  </a:lnTo>
                  <a:lnTo>
                    <a:pt x="1380688" y="1556229"/>
                  </a:lnTo>
                  <a:lnTo>
                    <a:pt x="0" y="1556229"/>
                  </a:lnTo>
                  <a:close/>
                </a:path>
              </a:pathLst>
            </a:custGeom>
            <a:solidFill>
              <a:srgbClr val="283728"/>
            </a:solidFill>
          </p:spPr>
        </p:sp>
        <p:sp>
          <p:nvSpPr>
            <p:cNvPr id="10" name="TextBox 10"/>
            <p:cNvSpPr txBox="1"/>
            <p:nvPr/>
          </p:nvSpPr>
          <p:spPr>
            <a:xfrm>
              <a:off x="0" y="-47625"/>
              <a:ext cx="1380688" cy="1603854"/>
            </a:xfrm>
            <a:prstGeom prst="rect">
              <a:avLst/>
            </a:prstGeom>
          </p:spPr>
          <p:txBody>
            <a:bodyPr lIns="50800" tIns="50800" rIns="50800" bIns="50800" rtlCol="0" anchor="ctr"/>
            <a:lstStyle/>
            <a:p>
              <a:pPr algn="ctr">
                <a:lnSpc>
                  <a:spcPts val="3079"/>
                </a:lnSpc>
              </a:pPr>
              <a:endParaRPr/>
            </a:p>
          </p:txBody>
        </p:sp>
      </p:grpSp>
      <p:grpSp>
        <p:nvGrpSpPr>
          <p:cNvPr id="11" name="Group 11"/>
          <p:cNvGrpSpPr/>
          <p:nvPr/>
        </p:nvGrpSpPr>
        <p:grpSpPr>
          <a:xfrm>
            <a:off x="12140200" y="2485725"/>
            <a:ext cx="5242298" cy="5908805"/>
            <a:chOff x="0" y="0"/>
            <a:chExt cx="1380688" cy="1556229"/>
          </a:xfrm>
        </p:grpSpPr>
        <p:sp>
          <p:nvSpPr>
            <p:cNvPr id="12" name="Freeform 12"/>
            <p:cNvSpPr/>
            <p:nvPr/>
          </p:nvSpPr>
          <p:spPr>
            <a:xfrm>
              <a:off x="0" y="0"/>
              <a:ext cx="1380688" cy="1556229"/>
            </a:xfrm>
            <a:custGeom>
              <a:avLst/>
              <a:gdLst/>
              <a:ahLst/>
              <a:cxnLst/>
              <a:rect l="l" t="t" r="r" b="b"/>
              <a:pathLst>
                <a:path w="1380688" h="1556229">
                  <a:moveTo>
                    <a:pt x="0" y="0"/>
                  </a:moveTo>
                  <a:lnTo>
                    <a:pt x="1380688" y="0"/>
                  </a:lnTo>
                  <a:lnTo>
                    <a:pt x="1380688" y="1556229"/>
                  </a:lnTo>
                  <a:lnTo>
                    <a:pt x="0" y="1556229"/>
                  </a:lnTo>
                  <a:close/>
                </a:path>
              </a:pathLst>
            </a:custGeom>
            <a:solidFill>
              <a:srgbClr val="283728"/>
            </a:solidFill>
          </p:spPr>
        </p:sp>
        <p:sp>
          <p:nvSpPr>
            <p:cNvPr id="13" name="TextBox 13"/>
            <p:cNvSpPr txBox="1"/>
            <p:nvPr/>
          </p:nvSpPr>
          <p:spPr>
            <a:xfrm>
              <a:off x="0" y="-47625"/>
              <a:ext cx="1380688" cy="1603854"/>
            </a:xfrm>
            <a:prstGeom prst="rect">
              <a:avLst/>
            </a:prstGeom>
          </p:spPr>
          <p:txBody>
            <a:bodyPr lIns="50800" tIns="50800" rIns="50800" bIns="50800" rtlCol="0" anchor="ctr"/>
            <a:lstStyle/>
            <a:p>
              <a:pPr algn="ctr">
                <a:lnSpc>
                  <a:spcPts val="3079"/>
                </a:lnSpc>
              </a:pPr>
              <a:endParaRPr/>
            </a:p>
          </p:txBody>
        </p:sp>
      </p:grpSp>
      <p:sp>
        <p:nvSpPr>
          <p:cNvPr id="14" name="Freeform 14"/>
          <p:cNvSpPr/>
          <p:nvPr/>
        </p:nvSpPr>
        <p:spPr>
          <a:xfrm>
            <a:off x="16872103" y="188695"/>
            <a:ext cx="1156433" cy="1302244"/>
          </a:xfrm>
          <a:custGeom>
            <a:avLst/>
            <a:gdLst/>
            <a:ahLst/>
            <a:cxnLst/>
            <a:rect l="l" t="t" r="r" b="b"/>
            <a:pathLst>
              <a:path w="1156433" h="1302244">
                <a:moveTo>
                  <a:pt x="0" y="0"/>
                </a:moveTo>
                <a:lnTo>
                  <a:pt x="1156433" y="0"/>
                </a:lnTo>
                <a:lnTo>
                  <a:pt x="1156433" y="1302244"/>
                </a:lnTo>
                <a:lnTo>
                  <a:pt x="0" y="1302244"/>
                </a:lnTo>
                <a:lnTo>
                  <a:pt x="0" y="0"/>
                </a:lnTo>
                <a:close/>
              </a:path>
            </a:pathLst>
          </a:custGeom>
          <a:blipFill>
            <a:blip r:embed="rId2"/>
            <a:stretch>
              <a:fillRect/>
            </a:stretch>
          </a:blipFill>
        </p:spPr>
      </p:sp>
      <p:sp>
        <p:nvSpPr>
          <p:cNvPr id="15" name="TextBox 15"/>
          <p:cNvSpPr txBox="1"/>
          <p:nvPr/>
        </p:nvSpPr>
        <p:spPr>
          <a:xfrm>
            <a:off x="933450" y="188111"/>
            <a:ext cx="7258753" cy="1973750"/>
          </a:xfrm>
          <a:prstGeom prst="rect">
            <a:avLst/>
          </a:prstGeom>
        </p:spPr>
        <p:txBody>
          <a:bodyPr lIns="0" tIns="0" rIns="0" bIns="0" rtlCol="0" anchor="t">
            <a:spAutoFit/>
          </a:bodyPr>
          <a:lstStyle/>
          <a:p>
            <a:pPr algn="l">
              <a:lnSpc>
                <a:spcPts val="16160"/>
              </a:lnSpc>
            </a:pPr>
            <a:r>
              <a:rPr lang="en-US" sz="11543">
                <a:solidFill>
                  <a:srgbClr val="283728"/>
                </a:solidFill>
                <a:latin typeface="Adirek Sans Heavy"/>
                <a:ea typeface="Adirek Sans Heavy"/>
                <a:cs typeface="Adirek Sans Heavy"/>
                <a:sym typeface="Adirek Sans Heavy"/>
              </a:rPr>
              <a:t>DAFTAR ISI</a:t>
            </a:r>
          </a:p>
        </p:txBody>
      </p:sp>
      <p:sp>
        <p:nvSpPr>
          <p:cNvPr id="16" name="TextBox 16"/>
          <p:cNvSpPr txBox="1"/>
          <p:nvPr/>
        </p:nvSpPr>
        <p:spPr>
          <a:xfrm>
            <a:off x="16610134" y="9518480"/>
            <a:ext cx="598073" cy="311277"/>
          </a:xfrm>
          <a:prstGeom prst="rect">
            <a:avLst/>
          </a:prstGeom>
        </p:spPr>
        <p:txBody>
          <a:bodyPr lIns="0" tIns="0" rIns="0" bIns="0" rtlCol="0" anchor="t">
            <a:spAutoFit/>
          </a:bodyPr>
          <a:lstStyle/>
          <a:p>
            <a:pPr algn="ctr">
              <a:lnSpc>
                <a:spcPts val="2304"/>
              </a:lnSpc>
            </a:pPr>
            <a:r>
              <a:rPr lang="en-US" sz="2400">
                <a:solidFill>
                  <a:srgbClr val="283728"/>
                </a:solidFill>
                <a:latin typeface="Adirek Sans Bold"/>
                <a:ea typeface="Adirek Sans Bold"/>
                <a:cs typeface="Adirek Sans Bold"/>
                <a:sym typeface="Adirek Sans Bold"/>
              </a:rPr>
              <a:t>2024</a:t>
            </a:r>
          </a:p>
        </p:txBody>
      </p:sp>
      <p:sp>
        <p:nvSpPr>
          <p:cNvPr id="17" name="TextBox 17"/>
          <p:cNvSpPr txBox="1"/>
          <p:nvPr/>
        </p:nvSpPr>
        <p:spPr>
          <a:xfrm>
            <a:off x="1106129" y="3885247"/>
            <a:ext cx="4896941" cy="2411730"/>
          </a:xfrm>
          <a:prstGeom prst="rect">
            <a:avLst/>
          </a:prstGeom>
        </p:spPr>
        <p:txBody>
          <a:bodyPr lIns="0" tIns="0" rIns="0" bIns="0" rtlCol="0" anchor="t">
            <a:spAutoFit/>
          </a:bodyPr>
          <a:lstStyle/>
          <a:p>
            <a:pPr marL="518158" lvl="1" indent="-259079" algn="l">
              <a:lnSpc>
                <a:spcPts val="3839"/>
              </a:lnSpc>
              <a:buFont typeface="Arial"/>
              <a:buChar char="•"/>
            </a:pPr>
            <a:r>
              <a:rPr lang="en-US" sz="2399">
                <a:solidFill>
                  <a:srgbClr val="FAF2EA"/>
                </a:solidFill>
                <a:latin typeface="Roboto"/>
                <a:ea typeface="Roboto"/>
                <a:cs typeface="Roboto"/>
                <a:sym typeface="Roboto"/>
              </a:rPr>
              <a:t>Latar Belakang</a:t>
            </a:r>
          </a:p>
          <a:p>
            <a:pPr marL="518158" lvl="1" indent="-259079" algn="l">
              <a:lnSpc>
                <a:spcPts val="3839"/>
              </a:lnSpc>
              <a:buFont typeface="Arial"/>
              <a:buChar char="•"/>
            </a:pPr>
            <a:r>
              <a:rPr lang="en-US" sz="2399">
                <a:solidFill>
                  <a:srgbClr val="FAF2EA"/>
                </a:solidFill>
                <a:latin typeface="Roboto"/>
                <a:ea typeface="Roboto"/>
                <a:cs typeface="Roboto"/>
                <a:sym typeface="Roboto"/>
              </a:rPr>
              <a:t>Rumusan Masalah</a:t>
            </a:r>
          </a:p>
          <a:p>
            <a:pPr marL="518158" lvl="1" indent="-259079" algn="l">
              <a:lnSpc>
                <a:spcPts val="3839"/>
              </a:lnSpc>
              <a:buFont typeface="Arial"/>
              <a:buChar char="•"/>
            </a:pPr>
            <a:r>
              <a:rPr lang="en-US" sz="2399">
                <a:solidFill>
                  <a:srgbClr val="FAF2EA"/>
                </a:solidFill>
                <a:latin typeface="Roboto"/>
                <a:ea typeface="Roboto"/>
                <a:cs typeface="Roboto"/>
                <a:sym typeface="Roboto"/>
              </a:rPr>
              <a:t>Tujuan Penelitian</a:t>
            </a:r>
          </a:p>
          <a:p>
            <a:pPr marL="518158" lvl="1" indent="-259079" algn="l">
              <a:lnSpc>
                <a:spcPts val="3839"/>
              </a:lnSpc>
              <a:buFont typeface="Arial"/>
              <a:buChar char="•"/>
            </a:pPr>
            <a:r>
              <a:rPr lang="en-US" sz="2399">
                <a:solidFill>
                  <a:srgbClr val="FAF2EA"/>
                </a:solidFill>
                <a:latin typeface="Roboto"/>
                <a:ea typeface="Roboto"/>
                <a:cs typeface="Roboto"/>
                <a:sym typeface="Roboto"/>
              </a:rPr>
              <a:t>Batasan Masalah</a:t>
            </a:r>
          </a:p>
          <a:p>
            <a:pPr marL="518158" lvl="1" indent="-259079" algn="l">
              <a:lnSpc>
                <a:spcPts val="3839"/>
              </a:lnSpc>
              <a:buFont typeface="Arial"/>
              <a:buChar char="•"/>
            </a:pPr>
            <a:r>
              <a:rPr lang="en-US" sz="2399">
                <a:solidFill>
                  <a:srgbClr val="FAF2EA"/>
                </a:solidFill>
                <a:latin typeface="Roboto"/>
                <a:ea typeface="Roboto"/>
                <a:cs typeface="Roboto"/>
                <a:sym typeface="Roboto"/>
              </a:rPr>
              <a:t>Manfaat Penelitian</a:t>
            </a:r>
          </a:p>
        </p:txBody>
      </p:sp>
      <p:sp>
        <p:nvSpPr>
          <p:cNvPr id="18" name="TextBox 18"/>
          <p:cNvSpPr txBox="1"/>
          <p:nvPr/>
        </p:nvSpPr>
        <p:spPr>
          <a:xfrm>
            <a:off x="1432517" y="2736594"/>
            <a:ext cx="4244165" cy="1038225"/>
          </a:xfrm>
          <a:prstGeom prst="rect">
            <a:avLst/>
          </a:prstGeom>
        </p:spPr>
        <p:txBody>
          <a:bodyPr lIns="0" tIns="0" rIns="0" bIns="0" rtlCol="0" anchor="t">
            <a:spAutoFit/>
          </a:bodyPr>
          <a:lstStyle/>
          <a:p>
            <a:pPr algn="ctr">
              <a:lnSpc>
                <a:spcPts val="8400"/>
              </a:lnSpc>
            </a:pPr>
            <a:r>
              <a:rPr lang="en-US" sz="6000" dirty="0">
                <a:solidFill>
                  <a:srgbClr val="FAF2EA"/>
                </a:solidFill>
                <a:latin typeface="Adirek Sans Heavy"/>
                <a:ea typeface="Adirek Sans Heavy"/>
                <a:cs typeface="Adirek Sans Heavy"/>
                <a:sym typeface="Adirek Sans Heavy"/>
              </a:rPr>
              <a:t>PENDAHULUAN</a:t>
            </a:r>
          </a:p>
        </p:txBody>
      </p:sp>
      <p:sp>
        <p:nvSpPr>
          <p:cNvPr id="19" name="TextBox 19"/>
          <p:cNvSpPr txBox="1"/>
          <p:nvPr/>
        </p:nvSpPr>
        <p:spPr>
          <a:xfrm>
            <a:off x="6708630" y="3885247"/>
            <a:ext cx="4896941" cy="2897505"/>
          </a:xfrm>
          <a:prstGeom prst="rect">
            <a:avLst/>
          </a:prstGeom>
        </p:spPr>
        <p:txBody>
          <a:bodyPr lIns="0" tIns="0" rIns="0" bIns="0" rtlCol="0" anchor="t">
            <a:spAutoFit/>
          </a:bodyPr>
          <a:lstStyle/>
          <a:p>
            <a:pPr marL="518158" lvl="1" indent="-259079" algn="l">
              <a:lnSpc>
                <a:spcPts val="3839"/>
              </a:lnSpc>
              <a:buFont typeface="Arial"/>
              <a:buChar char="•"/>
            </a:pPr>
            <a:r>
              <a:rPr lang="en-US" sz="2399">
                <a:solidFill>
                  <a:srgbClr val="FAF2EA"/>
                </a:solidFill>
                <a:latin typeface="Roboto"/>
                <a:ea typeface="Roboto"/>
                <a:cs typeface="Roboto"/>
                <a:sym typeface="Roboto"/>
              </a:rPr>
              <a:t>Sistem Rekomendasi</a:t>
            </a:r>
          </a:p>
          <a:p>
            <a:pPr marL="518158" lvl="1" indent="-259079" algn="l">
              <a:lnSpc>
                <a:spcPts val="3839"/>
              </a:lnSpc>
              <a:buFont typeface="Arial"/>
              <a:buChar char="•"/>
            </a:pPr>
            <a:r>
              <a:rPr lang="en-US" sz="2399">
                <a:solidFill>
                  <a:srgbClr val="FAF2EA"/>
                </a:solidFill>
                <a:latin typeface="Roboto"/>
                <a:ea typeface="Roboto"/>
                <a:cs typeface="Roboto"/>
                <a:sym typeface="Roboto"/>
              </a:rPr>
              <a:t>Collaborative Filtering</a:t>
            </a:r>
          </a:p>
          <a:p>
            <a:pPr marL="518158" lvl="1" indent="-259079" algn="l">
              <a:lnSpc>
                <a:spcPts val="3839"/>
              </a:lnSpc>
              <a:buFont typeface="Arial"/>
              <a:buChar char="•"/>
            </a:pPr>
            <a:r>
              <a:rPr lang="en-US" sz="2399">
                <a:solidFill>
                  <a:srgbClr val="FAF2EA"/>
                </a:solidFill>
                <a:latin typeface="Roboto"/>
                <a:ea typeface="Roboto"/>
                <a:cs typeface="Roboto"/>
                <a:sym typeface="Roboto"/>
              </a:rPr>
              <a:t>Variational Autoencoder (VAE)</a:t>
            </a:r>
          </a:p>
          <a:p>
            <a:pPr marL="518158" lvl="1" indent="-259079" algn="l">
              <a:lnSpc>
                <a:spcPts val="3839"/>
              </a:lnSpc>
              <a:buFont typeface="Arial"/>
              <a:buChar char="•"/>
            </a:pPr>
            <a:r>
              <a:rPr lang="en-US" sz="2399">
                <a:solidFill>
                  <a:srgbClr val="FAF2EA"/>
                </a:solidFill>
                <a:latin typeface="Roboto"/>
                <a:ea typeface="Roboto"/>
                <a:cs typeface="Roboto"/>
                <a:sym typeface="Roboto"/>
              </a:rPr>
              <a:t>Regularized Singular Value Decomposition (RSVD)</a:t>
            </a:r>
          </a:p>
          <a:p>
            <a:pPr marL="518158" lvl="1" indent="-259079" algn="l">
              <a:lnSpc>
                <a:spcPts val="3839"/>
              </a:lnSpc>
              <a:buFont typeface="Arial"/>
              <a:buChar char="•"/>
            </a:pPr>
            <a:r>
              <a:rPr lang="en-US" sz="2399">
                <a:solidFill>
                  <a:srgbClr val="FAF2EA"/>
                </a:solidFill>
                <a:latin typeface="Roboto"/>
                <a:ea typeface="Roboto"/>
                <a:cs typeface="Roboto"/>
                <a:sym typeface="Roboto"/>
              </a:rPr>
              <a:t>MSE &amp; RMSE</a:t>
            </a:r>
          </a:p>
        </p:txBody>
      </p:sp>
      <p:sp>
        <p:nvSpPr>
          <p:cNvPr id="20" name="TextBox 20"/>
          <p:cNvSpPr txBox="1"/>
          <p:nvPr/>
        </p:nvSpPr>
        <p:spPr>
          <a:xfrm>
            <a:off x="6708630" y="2736594"/>
            <a:ext cx="4896941" cy="1038225"/>
          </a:xfrm>
          <a:prstGeom prst="rect">
            <a:avLst/>
          </a:prstGeom>
        </p:spPr>
        <p:txBody>
          <a:bodyPr lIns="0" tIns="0" rIns="0" bIns="0" rtlCol="0" anchor="t">
            <a:spAutoFit/>
          </a:bodyPr>
          <a:lstStyle/>
          <a:p>
            <a:pPr algn="ctr">
              <a:lnSpc>
                <a:spcPts val="8400"/>
              </a:lnSpc>
            </a:pPr>
            <a:r>
              <a:rPr lang="en-US" sz="6000">
                <a:solidFill>
                  <a:srgbClr val="FAF2EA"/>
                </a:solidFill>
                <a:latin typeface="Adirek Sans Heavy"/>
                <a:ea typeface="Adirek Sans Heavy"/>
                <a:cs typeface="Adirek Sans Heavy"/>
                <a:sym typeface="Adirek Sans Heavy"/>
              </a:rPr>
              <a:t>TINJAUAN TEORI</a:t>
            </a:r>
          </a:p>
        </p:txBody>
      </p:sp>
      <p:sp>
        <p:nvSpPr>
          <p:cNvPr id="21" name="TextBox 21"/>
          <p:cNvSpPr txBox="1"/>
          <p:nvPr/>
        </p:nvSpPr>
        <p:spPr>
          <a:xfrm>
            <a:off x="12312879" y="3885247"/>
            <a:ext cx="4896941" cy="954405"/>
          </a:xfrm>
          <a:prstGeom prst="rect">
            <a:avLst/>
          </a:prstGeom>
        </p:spPr>
        <p:txBody>
          <a:bodyPr lIns="0" tIns="0" rIns="0" bIns="0" rtlCol="0" anchor="t">
            <a:spAutoFit/>
          </a:bodyPr>
          <a:lstStyle/>
          <a:p>
            <a:pPr marL="518158" lvl="1" indent="-259079" algn="l">
              <a:lnSpc>
                <a:spcPts val="3839"/>
              </a:lnSpc>
              <a:buFont typeface="Arial"/>
              <a:buChar char="•"/>
            </a:pPr>
            <a:r>
              <a:rPr lang="en-US" sz="2399">
                <a:solidFill>
                  <a:srgbClr val="FAF2EA"/>
                </a:solidFill>
                <a:latin typeface="Roboto"/>
                <a:ea typeface="Roboto"/>
                <a:cs typeface="Roboto"/>
                <a:sym typeface="Roboto"/>
              </a:rPr>
              <a:t>Metodologi Penelitian</a:t>
            </a:r>
          </a:p>
          <a:p>
            <a:pPr marL="518158" lvl="1" indent="-259079" algn="l">
              <a:lnSpc>
                <a:spcPts val="3839"/>
              </a:lnSpc>
              <a:buFont typeface="Arial"/>
              <a:buChar char="•"/>
            </a:pPr>
            <a:r>
              <a:rPr lang="en-US" sz="2399">
                <a:solidFill>
                  <a:srgbClr val="FAF2EA"/>
                </a:solidFill>
                <a:latin typeface="Roboto"/>
                <a:ea typeface="Roboto"/>
                <a:cs typeface="Roboto"/>
                <a:sym typeface="Roboto"/>
              </a:rPr>
              <a:t>Jadwal Pelaksanaan Penelitian</a:t>
            </a:r>
          </a:p>
        </p:txBody>
      </p:sp>
      <p:sp>
        <p:nvSpPr>
          <p:cNvPr id="22" name="TextBox 22"/>
          <p:cNvSpPr txBox="1"/>
          <p:nvPr/>
        </p:nvSpPr>
        <p:spPr>
          <a:xfrm>
            <a:off x="12639266" y="2736594"/>
            <a:ext cx="4244165" cy="1038225"/>
          </a:xfrm>
          <a:prstGeom prst="rect">
            <a:avLst/>
          </a:prstGeom>
        </p:spPr>
        <p:txBody>
          <a:bodyPr lIns="0" tIns="0" rIns="0" bIns="0" rtlCol="0" anchor="t">
            <a:spAutoFit/>
          </a:bodyPr>
          <a:lstStyle/>
          <a:p>
            <a:pPr algn="ctr">
              <a:lnSpc>
                <a:spcPts val="8400"/>
              </a:lnSpc>
            </a:pPr>
            <a:r>
              <a:rPr lang="en-US" sz="6000">
                <a:solidFill>
                  <a:srgbClr val="FAF2EA"/>
                </a:solidFill>
                <a:latin typeface="Adirek Sans Heavy"/>
                <a:ea typeface="Adirek Sans Heavy"/>
                <a:cs typeface="Adirek Sans Heavy"/>
                <a:sym typeface="Adirek Sans Heavy"/>
              </a:rPr>
              <a:t>PEMBAHASAN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2EA"/>
        </a:solidFill>
        <a:effectLst/>
      </p:bgPr>
    </p:bg>
    <p:spTree>
      <p:nvGrpSpPr>
        <p:cNvPr id="1" name=""/>
        <p:cNvGrpSpPr/>
        <p:nvPr/>
      </p:nvGrpSpPr>
      <p:grpSpPr>
        <a:xfrm>
          <a:off x="0" y="0"/>
          <a:ext cx="0" cy="0"/>
          <a:chOff x="0" y="0"/>
          <a:chExt cx="0" cy="0"/>
        </a:xfrm>
      </p:grpSpPr>
      <p:grpSp>
        <p:nvGrpSpPr>
          <p:cNvPr id="2" name="Group 2"/>
          <p:cNvGrpSpPr/>
          <p:nvPr/>
        </p:nvGrpSpPr>
        <p:grpSpPr>
          <a:xfrm>
            <a:off x="201093" y="2161861"/>
            <a:ext cx="17981584" cy="7096439"/>
            <a:chOff x="0" y="0"/>
            <a:chExt cx="4735890" cy="1869021"/>
          </a:xfrm>
        </p:grpSpPr>
        <p:sp>
          <p:nvSpPr>
            <p:cNvPr id="3" name="Freeform 3"/>
            <p:cNvSpPr/>
            <p:nvPr/>
          </p:nvSpPr>
          <p:spPr>
            <a:xfrm>
              <a:off x="0" y="0"/>
              <a:ext cx="4735890" cy="1869021"/>
            </a:xfrm>
            <a:custGeom>
              <a:avLst/>
              <a:gdLst/>
              <a:ahLst/>
              <a:cxnLst/>
              <a:rect l="l" t="t" r="r" b="b"/>
              <a:pathLst>
                <a:path w="4735890" h="1869021">
                  <a:moveTo>
                    <a:pt x="0" y="0"/>
                  </a:moveTo>
                  <a:lnTo>
                    <a:pt x="4735890" y="0"/>
                  </a:lnTo>
                  <a:lnTo>
                    <a:pt x="4735890" y="1869021"/>
                  </a:lnTo>
                  <a:lnTo>
                    <a:pt x="0" y="1869021"/>
                  </a:lnTo>
                  <a:close/>
                </a:path>
              </a:pathLst>
            </a:custGeom>
            <a:solidFill>
              <a:srgbClr val="283728"/>
            </a:solidFill>
          </p:spPr>
        </p:sp>
        <p:sp>
          <p:nvSpPr>
            <p:cNvPr id="4" name="TextBox 4"/>
            <p:cNvSpPr txBox="1"/>
            <p:nvPr/>
          </p:nvSpPr>
          <p:spPr>
            <a:xfrm>
              <a:off x="0" y="-47625"/>
              <a:ext cx="4735890" cy="1916646"/>
            </a:xfrm>
            <a:prstGeom prst="rect">
              <a:avLst/>
            </a:prstGeom>
          </p:spPr>
          <p:txBody>
            <a:bodyPr lIns="50800" tIns="50800" rIns="50800" bIns="50800" rtlCol="0" anchor="ctr"/>
            <a:lstStyle/>
            <a:p>
              <a:pPr algn="ctr">
                <a:lnSpc>
                  <a:spcPts val="3079"/>
                </a:lnSpc>
              </a:pPr>
              <a:endParaRPr/>
            </a:p>
          </p:txBody>
        </p:sp>
      </p:grpSp>
      <p:sp>
        <p:nvSpPr>
          <p:cNvPr id="5" name="TextBox 5"/>
          <p:cNvSpPr txBox="1"/>
          <p:nvPr/>
        </p:nvSpPr>
        <p:spPr>
          <a:xfrm>
            <a:off x="16610134" y="9518480"/>
            <a:ext cx="598073" cy="311277"/>
          </a:xfrm>
          <a:prstGeom prst="rect">
            <a:avLst/>
          </a:prstGeom>
        </p:spPr>
        <p:txBody>
          <a:bodyPr lIns="0" tIns="0" rIns="0" bIns="0" rtlCol="0" anchor="t">
            <a:spAutoFit/>
          </a:bodyPr>
          <a:lstStyle/>
          <a:p>
            <a:pPr algn="ctr">
              <a:lnSpc>
                <a:spcPts val="2304"/>
              </a:lnSpc>
            </a:pPr>
            <a:r>
              <a:rPr lang="en-US" sz="2400">
                <a:solidFill>
                  <a:srgbClr val="283728"/>
                </a:solidFill>
                <a:latin typeface="Adirek Sans Bold"/>
                <a:ea typeface="Adirek Sans Bold"/>
                <a:cs typeface="Adirek Sans Bold"/>
                <a:sym typeface="Adirek Sans Bold"/>
              </a:rPr>
              <a:t>2024</a:t>
            </a:r>
          </a:p>
        </p:txBody>
      </p:sp>
      <p:sp>
        <p:nvSpPr>
          <p:cNvPr id="6" name="TextBox 6"/>
          <p:cNvSpPr txBox="1"/>
          <p:nvPr/>
        </p:nvSpPr>
        <p:spPr>
          <a:xfrm>
            <a:off x="201093" y="188111"/>
            <a:ext cx="9949740" cy="1973750"/>
          </a:xfrm>
          <a:prstGeom prst="rect">
            <a:avLst/>
          </a:prstGeom>
        </p:spPr>
        <p:txBody>
          <a:bodyPr lIns="0" tIns="0" rIns="0" bIns="0" rtlCol="0" anchor="t">
            <a:spAutoFit/>
          </a:bodyPr>
          <a:lstStyle/>
          <a:p>
            <a:pPr algn="l">
              <a:lnSpc>
                <a:spcPts val="16160"/>
              </a:lnSpc>
            </a:pPr>
            <a:r>
              <a:rPr lang="en-US" sz="11543">
                <a:solidFill>
                  <a:srgbClr val="283728"/>
                </a:solidFill>
                <a:latin typeface="Adirek Sans Heavy"/>
                <a:ea typeface="Adirek Sans Heavy"/>
                <a:cs typeface="Adirek Sans Heavy"/>
                <a:sym typeface="Adirek Sans Heavy"/>
              </a:rPr>
              <a:t>LATAR BELAKANG</a:t>
            </a:r>
          </a:p>
        </p:txBody>
      </p:sp>
      <p:grpSp>
        <p:nvGrpSpPr>
          <p:cNvPr id="7" name="Group 7"/>
          <p:cNvGrpSpPr/>
          <p:nvPr/>
        </p:nvGrpSpPr>
        <p:grpSpPr>
          <a:xfrm>
            <a:off x="16610134" y="0"/>
            <a:ext cx="1677866" cy="1679634"/>
            <a:chOff x="0" y="0"/>
            <a:chExt cx="568780" cy="569379"/>
          </a:xfrm>
        </p:grpSpPr>
        <p:sp>
          <p:nvSpPr>
            <p:cNvPr id="8" name="Freeform 8"/>
            <p:cNvSpPr/>
            <p:nvPr/>
          </p:nvSpPr>
          <p:spPr>
            <a:xfrm>
              <a:off x="0" y="0"/>
              <a:ext cx="568780" cy="569379"/>
            </a:xfrm>
            <a:custGeom>
              <a:avLst/>
              <a:gdLst/>
              <a:ahLst/>
              <a:cxnLst/>
              <a:rect l="l" t="t" r="r" b="b"/>
              <a:pathLst>
                <a:path w="568780" h="569379">
                  <a:moveTo>
                    <a:pt x="0" y="0"/>
                  </a:moveTo>
                  <a:lnTo>
                    <a:pt x="568780" y="0"/>
                  </a:lnTo>
                  <a:lnTo>
                    <a:pt x="568780" y="569379"/>
                  </a:lnTo>
                  <a:lnTo>
                    <a:pt x="0" y="569379"/>
                  </a:lnTo>
                  <a:close/>
                </a:path>
              </a:pathLst>
            </a:custGeom>
            <a:solidFill>
              <a:srgbClr val="283728"/>
            </a:solidFill>
          </p:spPr>
        </p:sp>
        <p:sp>
          <p:nvSpPr>
            <p:cNvPr id="9" name="TextBox 9"/>
            <p:cNvSpPr txBox="1"/>
            <p:nvPr/>
          </p:nvSpPr>
          <p:spPr>
            <a:xfrm>
              <a:off x="0" y="-47625"/>
              <a:ext cx="568780" cy="617004"/>
            </a:xfrm>
            <a:prstGeom prst="rect">
              <a:avLst/>
            </a:prstGeom>
          </p:spPr>
          <p:txBody>
            <a:bodyPr lIns="50800" tIns="50800" rIns="50800" bIns="50800" rtlCol="0" anchor="ctr"/>
            <a:lstStyle/>
            <a:p>
              <a:pPr algn="ctr">
                <a:lnSpc>
                  <a:spcPts val="3079"/>
                </a:lnSpc>
              </a:pPr>
              <a:endParaRPr/>
            </a:p>
          </p:txBody>
        </p:sp>
      </p:grpSp>
      <p:sp>
        <p:nvSpPr>
          <p:cNvPr id="10" name="Freeform 10"/>
          <p:cNvSpPr/>
          <p:nvPr/>
        </p:nvSpPr>
        <p:spPr>
          <a:xfrm>
            <a:off x="16872103" y="188695"/>
            <a:ext cx="1156433" cy="1302244"/>
          </a:xfrm>
          <a:custGeom>
            <a:avLst/>
            <a:gdLst/>
            <a:ahLst/>
            <a:cxnLst/>
            <a:rect l="l" t="t" r="r" b="b"/>
            <a:pathLst>
              <a:path w="1156433" h="1302244">
                <a:moveTo>
                  <a:pt x="0" y="0"/>
                </a:moveTo>
                <a:lnTo>
                  <a:pt x="1156433" y="0"/>
                </a:lnTo>
                <a:lnTo>
                  <a:pt x="1156433" y="1302244"/>
                </a:lnTo>
                <a:lnTo>
                  <a:pt x="0" y="1302244"/>
                </a:lnTo>
                <a:lnTo>
                  <a:pt x="0" y="0"/>
                </a:lnTo>
                <a:close/>
              </a:path>
            </a:pathLst>
          </a:custGeom>
          <a:blipFill>
            <a:blip r:embed="rId2"/>
            <a:stretch>
              <a:fillRect/>
            </a:stretch>
          </a:blipFill>
        </p:spPr>
      </p:sp>
      <p:sp>
        <p:nvSpPr>
          <p:cNvPr id="11" name="TextBox 11"/>
          <p:cNvSpPr txBox="1"/>
          <p:nvPr/>
        </p:nvSpPr>
        <p:spPr>
          <a:xfrm>
            <a:off x="441898" y="2348184"/>
            <a:ext cx="6310561" cy="2897505"/>
          </a:xfrm>
          <a:prstGeom prst="rect">
            <a:avLst/>
          </a:prstGeom>
        </p:spPr>
        <p:txBody>
          <a:bodyPr lIns="0" tIns="0" rIns="0" bIns="0" rtlCol="0" anchor="t">
            <a:spAutoFit/>
          </a:bodyPr>
          <a:lstStyle/>
          <a:p>
            <a:pPr algn="l">
              <a:lnSpc>
                <a:spcPts val="3839"/>
              </a:lnSpc>
            </a:pPr>
            <a:r>
              <a:rPr lang="en-US" sz="2399">
                <a:solidFill>
                  <a:srgbClr val="FAF2EA"/>
                </a:solidFill>
                <a:latin typeface="Roboto"/>
                <a:ea typeface="Roboto"/>
                <a:cs typeface="Roboto"/>
                <a:sym typeface="Roboto"/>
              </a:rPr>
              <a:t>Di era informasi saat ini, kita dihadapkan dengan informasi yang hampir tak terhingga jumlahnya mengakibatkan terjadinya kesulitan dalam pengambilan keputusan, terutama ketika memilih produk, layanan, atau konten yang sesuai dengan preferensi kita. </a:t>
            </a:r>
          </a:p>
        </p:txBody>
      </p:sp>
      <p:sp>
        <p:nvSpPr>
          <p:cNvPr id="12" name="TextBox 12"/>
          <p:cNvSpPr txBox="1"/>
          <p:nvPr/>
        </p:nvSpPr>
        <p:spPr>
          <a:xfrm>
            <a:off x="7303983" y="2591072"/>
            <a:ext cx="4965067" cy="2411730"/>
          </a:xfrm>
          <a:prstGeom prst="rect">
            <a:avLst/>
          </a:prstGeom>
        </p:spPr>
        <p:txBody>
          <a:bodyPr lIns="0" tIns="0" rIns="0" bIns="0" rtlCol="0" anchor="t">
            <a:spAutoFit/>
          </a:bodyPr>
          <a:lstStyle/>
          <a:p>
            <a:pPr algn="l">
              <a:lnSpc>
                <a:spcPts val="3839"/>
              </a:lnSpc>
            </a:pPr>
            <a:r>
              <a:rPr lang="en-US" sz="2399">
                <a:solidFill>
                  <a:srgbClr val="FAF2EA"/>
                </a:solidFill>
                <a:latin typeface="Roboto"/>
                <a:ea typeface="Roboto"/>
                <a:cs typeface="Roboto"/>
                <a:sym typeface="Roboto"/>
              </a:rPr>
              <a:t>Sistem rekomendasi dapat digunakan untuk mengatasi masalah ini. Salah satu jenis dari sistem rekomendasi adalah </a:t>
            </a:r>
            <a:r>
              <a:rPr lang="en-US" sz="2399">
                <a:solidFill>
                  <a:srgbClr val="FAF2EA"/>
                </a:solidFill>
                <a:latin typeface="Roboto Italics"/>
                <a:ea typeface="Roboto Italics"/>
                <a:cs typeface="Roboto Italics"/>
                <a:sym typeface="Roboto Italics"/>
              </a:rPr>
              <a:t>collaborative filtering </a:t>
            </a:r>
            <a:r>
              <a:rPr lang="en-US" sz="2399">
                <a:solidFill>
                  <a:srgbClr val="FAF2EA"/>
                </a:solidFill>
                <a:latin typeface="Roboto"/>
                <a:ea typeface="Roboto"/>
                <a:cs typeface="Roboto"/>
                <a:sym typeface="Roboto"/>
              </a:rPr>
              <a:t>berbasis model</a:t>
            </a:r>
          </a:p>
        </p:txBody>
      </p:sp>
      <p:sp>
        <p:nvSpPr>
          <p:cNvPr id="13" name="TextBox 13"/>
          <p:cNvSpPr txBox="1"/>
          <p:nvPr/>
        </p:nvSpPr>
        <p:spPr>
          <a:xfrm>
            <a:off x="12820575" y="6273451"/>
            <a:ext cx="5067256" cy="1925955"/>
          </a:xfrm>
          <a:prstGeom prst="rect">
            <a:avLst/>
          </a:prstGeom>
        </p:spPr>
        <p:txBody>
          <a:bodyPr lIns="0" tIns="0" rIns="0" bIns="0" rtlCol="0" anchor="t">
            <a:spAutoFit/>
          </a:bodyPr>
          <a:lstStyle/>
          <a:p>
            <a:pPr algn="l">
              <a:lnSpc>
                <a:spcPts val="3839"/>
              </a:lnSpc>
            </a:pPr>
            <a:r>
              <a:rPr lang="en-US" sz="2399" dirty="0">
                <a:solidFill>
                  <a:srgbClr val="FAF2EA"/>
                </a:solidFill>
                <a:latin typeface="Roboto Italics"/>
                <a:ea typeface="Roboto Italics"/>
                <a:cs typeface="Roboto Italics"/>
                <a:sym typeface="Roboto Italics"/>
              </a:rPr>
              <a:t>Variational Autoencoder</a:t>
            </a:r>
            <a:r>
              <a:rPr lang="en-US" sz="2399" dirty="0">
                <a:solidFill>
                  <a:srgbClr val="FAF2EA"/>
                </a:solidFill>
                <a:latin typeface="Roboto"/>
                <a:ea typeface="Roboto"/>
                <a:cs typeface="Roboto"/>
                <a:sym typeface="Roboto"/>
              </a:rPr>
              <a:t> </a:t>
            </a:r>
            <a:r>
              <a:rPr lang="en-US" sz="2399" dirty="0" err="1">
                <a:solidFill>
                  <a:srgbClr val="FAF2EA"/>
                </a:solidFill>
                <a:latin typeface="Roboto"/>
                <a:ea typeface="Roboto"/>
                <a:cs typeface="Roboto"/>
                <a:sym typeface="Roboto"/>
              </a:rPr>
              <a:t>merupakan</a:t>
            </a:r>
            <a:r>
              <a:rPr lang="en-US" sz="2399" dirty="0">
                <a:solidFill>
                  <a:srgbClr val="FAF2EA"/>
                </a:solidFill>
                <a:latin typeface="Roboto"/>
                <a:ea typeface="Roboto"/>
                <a:cs typeface="Roboto"/>
                <a:sym typeface="Roboto"/>
              </a:rPr>
              <a:t> salah </a:t>
            </a:r>
            <a:r>
              <a:rPr lang="en-US" sz="2399" dirty="0" err="1">
                <a:solidFill>
                  <a:srgbClr val="FAF2EA"/>
                </a:solidFill>
                <a:latin typeface="Roboto"/>
                <a:ea typeface="Roboto"/>
                <a:cs typeface="Roboto"/>
                <a:sym typeface="Roboto"/>
              </a:rPr>
              <a:t>satu</a:t>
            </a:r>
            <a:r>
              <a:rPr lang="en-US" sz="2399" dirty="0">
                <a:solidFill>
                  <a:srgbClr val="FAF2EA"/>
                </a:solidFill>
                <a:latin typeface="Roboto"/>
                <a:ea typeface="Roboto"/>
                <a:cs typeface="Roboto"/>
                <a:sym typeface="Roboto"/>
              </a:rPr>
              <a:t> </a:t>
            </a:r>
            <a:r>
              <a:rPr lang="en-US" sz="2399" dirty="0" err="1">
                <a:solidFill>
                  <a:srgbClr val="FAF2EA"/>
                </a:solidFill>
                <a:latin typeface="Roboto"/>
                <a:ea typeface="Roboto"/>
                <a:cs typeface="Roboto"/>
                <a:sym typeface="Roboto"/>
              </a:rPr>
              <a:t>contoh</a:t>
            </a:r>
            <a:r>
              <a:rPr lang="en-US" sz="2399" dirty="0">
                <a:solidFill>
                  <a:srgbClr val="FAF2EA"/>
                </a:solidFill>
                <a:latin typeface="Roboto"/>
                <a:ea typeface="Roboto"/>
                <a:cs typeface="Roboto"/>
                <a:sym typeface="Roboto"/>
              </a:rPr>
              <a:t> model yang </a:t>
            </a:r>
            <a:r>
              <a:rPr lang="en-US" sz="2399" dirty="0" err="1">
                <a:solidFill>
                  <a:srgbClr val="FAF2EA"/>
                </a:solidFill>
                <a:latin typeface="Roboto"/>
                <a:ea typeface="Roboto"/>
                <a:cs typeface="Roboto"/>
                <a:sym typeface="Roboto"/>
              </a:rPr>
              <a:t>digunakan</a:t>
            </a:r>
            <a:r>
              <a:rPr lang="en-US" sz="2399" dirty="0">
                <a:solidFill>
                  <a:srgbClr val="FAF2EA"/>
                </a:solidFill>
                <a:latin typeface="Roboto"/>
                <a:ea typeface="Roboto"/>
                <a:cs typeface="Roboto"/>
                <a:sym typeface="Roboto"/>
              </a:rPr>
              <a:t> pada sistem </a:t>
            </a:r>
            <a:r>
              <a:rPr lang="en-US" sz="2399" dirty="0" err="1">
                <a:solidFill>
                  <a:srgbClr val="FAF2EA"/>
                </a:solidFill>
                <a:latin typeface="Roboto"/>
                <a:ea typeface="Roboto"/>
                <a:cs typeface="Roboto"/>
                <a:sym typeface="Roboto"/>
              </a:rPr>
              <a:t>rekomendasi</a:t>
            </a:r>
            <a:r>
              <a:rPr lang="en-US" sz="2399" dirty="0">
                <a:solidFill>
                  <a:srgbClr val="FAF2EA"/>
                </a:solidFill>
                <a:latin typeface="Roboto"/>
                <a:ea typeface="Roboto"/>
                <a:cs typeface="Roboto"/>
                <a:sym typeface="Roboto"/>
              </a:rPr>
              <a:t> </a:t>
            </a:r>
            <a:r>
              <a:rPr lang="en-US" sz="2399" i="1" dirty="0">
                <a:solidFill>
                  <a:srgbClr val="FAF2EA"/>
                </a:solidFill>
                <a:latin typeface="Roboto"/>
                <a:ea typeface="Roboto"/>
                <a:cs typeface="Roboto"/>
                <a:sym typeface="Roboto"/>
              </a:rPr>
              <a:t>collaborative filtering</a:t>
            </a:r>
            <a:r>
              <a:rPr lang="en-US" sz="2399" dirty="0">
                <a:solidFill>
                  <a:srgbClr val="FAF2EA"/>
                </a:solidFill>
                <a:latin typeface="Roboto"/>
                <a:ea typeface="Roboto"/>
                <a:cs typeface="Roboto"/>
                <a:sym typeface="Roboto"/>
              </a:rPr>
              <a:t> </a:t>
            </a:r>
            <a:r>
              <a:rPr lang="en-US" sz="2399" dirty="0" err="1">
                <a:solidFill>
                  <a:srgbClr val="FAF2EA"/>
                </a:solidFill>
                <a:latin typeface="Roboto"/>
                <a:ea typeface="Roboto"/>
                <a:cs typeface="Roboto"/>
                <a:sym typeface="Roboto"/>
              </a:rPr>
              <a:t>berbasis</a:t>
            </a:r>
            <a:r>
              <a:rPr lang="en-US" sz="2399" dirty="0">
                <a:solidFill>
                  <a:srgbClr val="FAF2EA"/>
                </a:solidFill>
                <a:latin typeface="Roboto"/>
                <a:ea typeface="Roboto"/>
                <a:cs typeface="Roboto"/>
                <a:sym typeface="Roboto"/>
              </a:rPr>
              <a:t> model</a:t>
            </a:r>
            <a:endParaRPr lang="en-US" sz="2399" i="1" dirty="0">
              <a:solidFill>
                <a:srgbClr val="FAF2EA"/>
              </a:solidFill>
              <a:latin typeface="Roboto Italics"/>
              <a:ea typeface="Roboto Italics"/>
              <a:cs typeface="Roboto Italics"/>
              <a:sym typeface="Roboto Italics"/>
            </a:endParaRPr>
          </a:p>
        </p:txBody>
      </p:sp>
      <p:sp>
        <p:nvSpPr>
          <p:cNvPr id="14" name="TextBox 14"/>
          <p:cNvSpPr txBox="1"/>
          <p:nvPr/>
        </p:nvSpPr>
        <p:spPr>
          <a:xfrm>
            <a:off x="12820575" y="2833959"/>
            <a:ext cx="5067256" cy="1925955"/>
          </a:xfrm>
          <a:prstGeom prst="rect">
            <a:avLst/>
          </a:prstGeom>
        </p:spPr>
        <p:txBody>
          <a:bodyPr lIns="0" tIns="0" rIns="0" bIns="0" rtlCol="0" anchor="t">
            <a:spAutoFit/>
          </a:bodyPr>
          <a:lstStyle/>
          <a:p>
            <a:pPr algn="l">
              <a:lnSpc>
                <a:spcPts val="3839"/>
              </a:lnSpc>
            </a:pPr>
            <a:r>
              <a:rPr lang="en-US" sz="2399">
                <a:solidFill>
                  <a:srgbClr val="FAF2EA"/>
                </a:solidFill>
                <a:latin typeface="Roboto"/>
                <a:ea typeface="Roboto"/>
                <a:cs typeface="Roboto"/>
                <a:sym typeface="Roboto"/>
              </a:rPr>
              <a:t>Adapun beberapa masalah yang ada pada sistem rekomendasi seperti </a:t>
            </a:r>
            <a:r>
              <a:rPr lang="en-US" sz="2399">
                <a:solidFill>
                  <a:srgbClr val="FAF2EA"/>
                </a:solidFill>
                <a:latin typeface="Roboto Italics"/>
                <a:ea typeface="Roboto Italics"/>
                <a:cs typeface="Roboto Italics"/>
                <a:sym typeface="Roboto Italics"/>
              </a:rPr>
              <a:t>cold-start problem</a:t>
            </a:r>
            <a:r>
              <a:rPr lang="en-US" sz="2399">
                <a:solidFill>
                  <a:srgbClr val="FAF2EA"/>
                </a:solidFill>
                <a:latin typeface="Roboto"/>
                <a:ea typeface="Roboto"/>
                <a:cs typeface="Roboto"/>
                <a:sym typeface="Roboto"/>
              </a:rPr>
              <a:t> dan masalah </a:t>
            </a:r>
            <a:r>
              <a:rPr lang="en-US" sz="2399">
                <a:solidFill>
                  <a:srgbClr val="FAF2EA"/>
                </a:solidFill>
                <a:latin typeface="Roboto Italics"/>
                <a:ea typeface="Roboto Italics"/>
                <a:cs typeface="Roboto Italics"/>
                <a:sym typeface="Roboto Italics"/>
              </a:rPr>
              <a:t>sparsity </a:t>
            </a:r>
            <a:r>
              <a:rPr lang="en-US" sz="2399">
                <a:solidFill>
                  <a:srgbClr val="FAF2EA"/>
                </a:solidFill>
                <a:latin typeface="Roboto"/>
                <a:ea typeface="Roboto"/>
                <a:cs typeface="Roboto"/>
                <a:sym typeface="Roboto"/>
              </a:rPr>
              <a:t>data</a:t>
            </a:r>
          </a:p>
        </p:txBody>
      </p:sp>
      <p:sp>
        <p:nvSpPr>
          <p:cNvPr id="15" name="TextBox 15"/>
          <p:cNvSpPr txBox="1"/>
          <p:nvPr/>
        </p:nvSpPr>
        <p:spPr>
          <a:xfrm>
            <a:off x="6570701" y="6273451"/>
            <a:ext cx="5697424" cy="1925955"/>
          </a:xfrm>
          <a:prstGeom prst="rect">
            <a:avLst/>
          </a:prstGeom>
        </p:spPr>
        <p:txBody>
          <a:bodyPr lIns="0" tIns="0" rIns="0" bIns="0" rtlCol="0" anchor="t">
            <a:spAutoFit/>
          </a:bodyPr>
          <a:lstStyle/>
          <a:p>
            <a:pPr algn="l">
              <a:lnSpc>
                <a:spcPts val="3839"/>
              </a:lnSpc>
            </a:pPr>
            <a:r>
              <a:rPr lang="en-US" sz="2399">
                <a:solidFill>
                  <a:srgbClr val="FAF2EA"/>
                </a:solidFill>
                <a:latin typeface="Roboto Italics"/>
                <a:ea typeface="Roboto Italics"/>
                <a:cs typeface="Roboto Italics"/>
                <a:sym typeface="Roboto Italics"/>
              </a:rPr>
              <a:t>Regularized Singular Value Decomposition</a:t>
            </a:r>
            <a:r>
              <a:rPr lang="en-US" sz="2399">
                <a:solidFill>
                  <a:srgbClr val="FAF2EA"/>
                </a:solidFill>
                <a:latin typeface="Roboto"/>
                <a:ea typeface="Roboto"/>
                <a:cs typeface="Roboto"/>
                <a:sym typeface="Roboto"/>
              </a:rPr>
              <a:t> ditambahkan pada </a:t>
            </a:r>
            <a:r>
              <a:rPr lang="en-US" sz="2399">
                <a:solidFill>
                  <a:srgbClr val="FAF2EA"/>
                </a:solidFill>
                <a:latin typeface="Roboto Italics"/>
                <a:ea typeface="Roboto Italics"/>
                <a:cs typeface="Roboto Italics"/>
                <a:sym typeface="Roboto Italics"/>
              </a:rPr>
              <a:t>Variational Autoencoder</a:t>
            </a:r>
            <a:r>
              <a:rPr lang="en-US" sz="2399">
                <a:solidFill>
                  <a:srgbClr val="FAF2EA"/>
                </a:solidFill>
                <a:latin typeface="Roboto"/>
                <a:ea typeface="Roboto"/>
                <a:cs typeface="Roboto"/>
                <a:sym typeface="Roboto"/>
              </a:rPr>
              <a:t> untuk meningkatkan performa sistem rekomendasi</a:t>
            </a:r>
          </a:p>
        </p:txBody>
      </p:sp>
      <p:sp>
        <p:nvSpPr>
          <p:cNvPr id="16" name="TextBox 16"/>
          <p:cNvSpPr txBox="1"/>
          <p:nvPr/>
        </p:nvSpPr>
        <p:spPr>
          <a:xfrm>
            <a:off x="441898" y="6273451"/>
            <a:ext cx="5697424" cy="2411730"/>
          </a:xfrm>
          <a:prstGeom prst="rect">
            <a:avLst/>
          </a:prstGeom>
        </p:spPr>
        <p:txBody>
          <a:bodyPr lIns="0" tIns="0" rIns="0" bIns="0" rtlCol="0" anchor="t">
            <a:spAutoFit/>
          </a:bodyPr>
          <a:lstStyle/>
          <a:p>
            <a:pPr algn="l">
              <a:lnSpc>
                <a:spcPts val="3839"/>
              </a:lnSpc>
            </a:pPr>
            <a:r>
              <a:rPr lang="en-US" sz="2399">
                <a:solidFill>
                  <a:srgbClr val="FAF2EA"/>
                </a:solidFill>
                <a:latin typeface="Roboto"/>
                <a:ea typeface="Roboto"/>
                <a:cs typeface="Roboto"/>
                <a:sym typeface="Roboto"/>
              </a:rPr>
              <a:t>Penelitian ini bertujuan untuk mengembangkan sistem rekomendasi yang mengimplementasikan </a:t>
            </a:r>
            <a:r>
              <a:rPr lang="en-US" sz="2399">
                <a:solidFill>
                  <a:srgbClr val="FAF2EA"/>
                </a:solidFill>
                <a:latin typeface="Roboto Italics"/>
                <a:ea typeface="Roboto Italics"/>
                <a:cs typeface="Roboto Italics"/>
                <a:sym typeface="Roboto Italics"/>
              </a:rPr>
              <a:t>Variational Autoencoder</a:t>
            </a:r>
            <a:r>
              <a:rPr lang="en-US" sz="2399">
                <a:solidFill>
                  <a:srgbClr val="FAF2EA"/>
                </a:solidFill>
                <a:latin typeface="Roboto"/>
                <a:ea typeface="Roboto"/>
                <a:cs typeface="Roboto"/>
                <a:sym typeface="Roboto"/>
              </a:rPr>
              <a:t> dan </a:t>
            </a:r>
            <a:r>
              <a:rPr lang="en-US" sz="2399">
                <a:solidFill>
                  <a:srgbClr val="FAF2EA"/>
                </a:solidFill>
                <a:latin typeface="Roboto Italics"/>
                <a:ea typeface="Roboto Italics"/>
                <a:cs typeface="Roboto Italics"/>
                <a:sym typeface="Roboto Italics"/>
              </a:rPr>
              <a:t>Regularized Singular Value Decomposition</a:t>
            </a:r>
          </a:p>
        </p:txBody>
      </p:sp>
      <p:sp>
        <p:nvSpPr>
          <p:cNvPr id="17" name="AutoShape 17"/>
          <p:cNvSpPr/>
          <p:nvPr/>
        </p:nvSpPr>
        <p:spPr>
          <a:xfrm>
            <a:off x="6879119" y="3851153"/>
            <a:ext cx="231002" cy="0"/>
          </a:xfrm>
          <a:prstGeom prst="line">
            <a:avLst/>
          </a:prstGeom>
          <a:ln w="47625" cap="flat">
            <a:solidFill>
              <a:srgbClr val="FFFFFF"/>
            </a:solidFill>
            <a:prstDash val="solid"/>
            <a:headEnd type="none" w="sm" len="sm"/>
            <a:tailEnd type="arrow" w="med" len="sm"/>
          </a:ln>
        </p:spPr>
      </p:sp>
      <p:sp>
        <p:nvSpPr>
          <p:cNvPr id="18" name="AutoShape 18"/>
          <p:cNvSpPr/>
          <p:nvPr/>
        </p:nvSpPr>
        <p:spPr>
          <a:xfrm>
            <a:off x="12411000" y="3849324"/>
            <a:ext cx="231002" cy="0"/>
          </a:xfrm>
          <a:prstGeom prst="line">
            <a:avLst/>
          </a:prstGeom>
          <a:ln w="47625" cap="flat">
            <a:solidFill>
              <a:srgbClr val="FFFFFF"/>
            </a:solidFill>
            <a:prstDash val="solid"/>
            <a:headEnd type="none" w="sm" len="sm"/>
            <a:tailEnd type="arrow" w="med" len="sm"/>
          </a:ln>
        </p:spPr>
      </p:sp>
      <p:sp>
        <p:nvSpPr>
          <p:cNvPr id="19" name="AutoShape 19"/>
          <p:cNvSpPr/>
          <p:nvPr/>
        </p:nvSpPr>
        <p:spPr>
          <a:xfrm flipH="1">
            <a:off x="15330391" y="5590119"/>
            <a:ext cx="0" cy="239924"/>
          </a:xfrm>
          <a:prstGeom prst="line">
            <a:avLst/>
          </a:prstGeom>
          <a:ln w="47625" cap="flat">
            <a:solidFill>
              <a:srgbClr val="FFFFFF"/>
            </a:solidFill>
            <a:prstDash val="solid"/>
            <a:headEnd type="none" w="sm" len="sm"/>
            <a:tailEnd type="arrow" w="med" len="sm"/>
          </a:ln>
        </p:spPr>
      </p:sp>
      <p:sp>
        <p:nvSpPr>
          <p:cNvPr id="20" name="AutoShape 20"/>
          <p:cNvSpPr/>
          <p:nvPr/>
        </p:nvSpPr>
        <p:spPr>
          <a:xfrm flipH="1" flipV="1">
            <a:off x="12411000" y="7312629"/>
            <a:ext cx="230753" cy="0"/>
          </a:xfrm>
          <a:prstGeom prst="line">
            <a:avLst/>
          </a:prstGeom>
          <a:ln w="47625" cap="flat">
            <a:solidFill>
              <a:srgbClr val="FFFFFF"/>
            </a:solidFill>
            <a:prstDash val="solid"/>
            <a:headEnd type="none" w="sm" len="sm"/>
            <a:tailEnd type="arrow" w="med" len="sm"/>
          </a:ln>
        </p:spPr>
      </p:sp>
      <p:sp>
        <p:nvSpPr>
          <p:cNvPr id="21" name="AutoShape 21"/>
          <p:cNvSpPr/>
          <p:nvPr/>
        </p:nvSpPr>
        <p:spPr>
          <a:xfrm flipH="1" flipV="1">
            <a:off x="6023945" y="7265004"/>
            <a:ext cx="230753" cy="0"/>
          </a:xfrm>
          <a:prstGeom prst="line">
            <a:avLst/>
          </a:prstGeom>
          <a:ln w="47625" cap="flat">
            <a:solidFill>
              <a:srgbClr val="FFFFFF"/>
            </a:solidFill>
            <a:prstDash val="solid"/>
            <a:headEnd type="none" w="sm" len="sm"/>
            <a:tailEnd type="arrow" w="med" len="sm"/>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2EA"/>
        </a:solidFill>
        <a:effectLst/>
      </p:bgPr>
    </p:bg>
    <p:spTree>
      <p:nvGrpSpPr>
        <p:cNvPr id="1" name=""/>
        <p:cNvGrpSpPr/>
        <p:nvPr/>
      </p:nvGrpSpPr>
      <p:grpSpPr>
        <a:xfrm>
          <a:off x="0" y="0"/>
          <a:ext cx="0" cy="0"/>
          <a:chOff x="0" y="0"/>
          <a:chExt cx="0" cy="0"/>
        </a:xfrm>
      </p:grpSpPr>
      <p:sp>
        <p:nvSpPr>
          <p:cNvPr id="2" name="TextBox 2"/>
          <p:cNvSpPr txBox="1"/>
          <p:nvPr/>
        </p:nvSpPr>
        <p:spPr>
          <a:xfrm>
            <a:off x="2414879" y="771525"/>
            <a:ext cx="13458243" cy="2321561"/>
          </a:xfrm>
          <a:prstGeom prst="rect">
            <a:avLst/>
          </a:prstGeom>
        </p:spPr>
        <p:txBody>
          <a:bodyPr lIns="0" tIns="0" rIns="0" bIns="0" rtlCol="0" anchor="t">
            <a:spAutoFit/>
          </a:bodyPr>
          <a:lstStyle/>
          <a:p>
            <a:pPr algn="ctr">
              <a:lnSpc>
                <a:spcPts val="19039"/>
              </a:lnSpc>
            </a:pPr>
            <a:r>
              <a:rPr lang="en-US" sz="13599">
                <a:solidFill>
                  <a:srgbClr val="283728"/>
                </a:solidFill>
                <a:latin typeface="Adirek Sans Heavy"/>
                <a:ea typeface="Adirek Sans Heavy"/>
                <a:cs typeface="Adirek Sans Heavy"/>
                <a:sym typeface="Adirek Sans Heavy"/>
              </a:rPr>
              <a:t>RUMUSAN MASALAH</a:t>
            </a:r>
          </a:p>
        </p:txBody>
      </p:sp>
      <p:sp>
        <p:nvSpPr>
          <p:cNvPr id="3" name="TextBox 3"/>
          <p:cNvSpPr txBox="1"/>
          <p:nvPr/>
        </p:nvSpPr>
        <p:spPr>
          <a:xfrm>
            <a:off x="16610134" y="9518480"/>
            <a:ext cx="598073" cy="311277"/>
          </a:xfrm>
          <a:prstGeom prst="rect">
            <a:avLst/>
          </a:prstGeom>
        </p:spPr>
        <p:txBody>
          <a:bodyPr lIns="0" tIns="0" rIns="0" bIns="0" rtlCol="0" anchor="t">
            <a:spAutoFit/>
          </a:bodyPr>
          <a:lstStyle/>
          <a:p>
            <a:pPr algn="ctr">
              <a:lnSpc>
                <a:spcPts val="2304"/>
              </a:lnSpc>
            </a:pPr>
            <a:r>
              <a:rPr lang="en-US" sz="2400">
                <a:solidFill>
                  <a:srgbClr val="283728"/>
                </a:solidFill>
                <a:latin typeface="Adirek Sans Bold"/>
                <a:ea typeface="Adirek Sans Bold"/>
                <a:cs typeface="Adirek Sans Bold"/>
                <a:sym typeface="Adirek Sans Bold"/>
              </a:rPr>
              <a:t>2024</a:t>
            </a:r>
          </a:p>
        </p:txBody>
      </p:sp>
      <p:grpSp>
        <p:nvGrpSpPr>
          <p:cNvPr id="4" name="Group 4"/>
          <p:cNvGrpSpPr/>
          <p:nvPr/>
        </p:nvGrpSpPr>
        <p:grpSpPr>
          <a:xfrm>
            <a:off x="16610134" y="0"/>
            <a:ext cx="1677866" cy="1679634"/>
            <a:chOff x="0" y="0"/>
            <a:chExt cx="568780" cy="569379"/>
          </a:xfrm>
        </p:grpSpPr>
        <p:sp>
          <p:nvSpPr>
            <p:cNvPr id="5" name="Freeform 5"/>
            <p:cNvSpPr/>
            <p:nvPr/>
          </p:nvSpPr>
          <p:spPr>
            <a:xfrm>
              <a:off x="0" y="0"/>
              <a:ext cx="568780" cy="569379"/>
            </a:xfrm>
            <a:custGeom>
              <a:avLst/>
              <a:gdLst/>
              <a:ahLst/>
              <a:cxnLst/>
              <a:rect l="l" t="t" r="r" b="b"/>
              <a:pathLst>
                <a:path w="568780" h="569379">
                  <a:moveTo>
                    <a:pt x="0" y="0"/>
                  </a:moveTo>
                  <a:lnTo>
                    <a:pt x="568780" y="0"/>
                  </a:lnTo>
                  <a:lnTo>
                    <a:pt x="568780" y="569379"/>
                  </a:lnTo>
                  <a:lnTo>
                    <a:pt x="0" y="569379"/>
                  </a:lnTo>
                  <a:close/>
                </a:path>
              </a:pathLst>
            </a:custGeom>
            <a:solidFill>
              <a:srgbClr val="283728"/>
            </a:solidFill>
          </p:spPr>
        </p:sp>
        <p:sp>
          <p:nvSpPr>
            <p:cNvPr id="6" name="TextBox 6"/>
            <p:cNvSpPr txBox="1"/>
            <p:nvPr/>
          </p:nvSpPr>
          <p:spPr>
            <a:xfrm>
              <a:off x="0" y="-47625"/>
              <a:ext cx="568780" cy="617004"/>
            </a:xfrm>
            <a:prstGeom prst="rect">
              <a:avLst/>
            </a:prstGeom>
          </p:spPr>
          <p:txBody>
            <a:bodyPr lIns="50800" tIns="50800" rIns="50800" bIns="50800" rtlCol="0" anchor="ctr"/>
            <a:lstStyle/>
            <a:p>
              <a:pPr algn="ctr">
                <a:lnSpc>
                  <a:spcPts val="3079"/>
                </a:lnSpc>
              </a:pPr>
              <a:endParaRPr/>
            </a:p>
          </p:txBody>
        </p:sp>
      </p:grpSp>
      <p:sp>
        <p:nvSpPr>
          <p:cNvPr id="7" name="Freeform 7"/>
          <p:cNvSpPr/>
          <p:nvPr/>
        </p:nvSpPr>
        <p:spPr>
          <a:xfrm>
            <a:off x="16872103" y="188695"/>
            <a:ext cx="1156433" cy="1302244"/>
          </a:xfrm>
          <a:custGeom>
            <a:avLst/>
            <a:gdLst/>
            <a:ahLst/>
            <a:cxnLst/>
            <a:rect l="l" t="t" r="r" b="b"/>
            <a:pathLst>
              <a:path w="1156433" h="1302244">
                <a:moveTo>
                  <a:pt x="0" y="0"/>
                </a:moveTo>
                <a:lnTo>
                  <a:pt x="1156433" y="0"/>
                </a:lnTo>
                <a:lnTo>
                  <a:pt x="1156433" y="1302244"/>
                </a:lnTo>
                <a:lnTo>
                  <a:pt x="0" y="1302244"/>
                </a:lnTo>
                <a:lnTo>
                  <a:pt x="0" y="0"/>
                </a:lnTo>
                <a:close/>
              </a:path>
            </a:pathLst>
          </a:custGeom>
          <a:blipFill>
            <a:blip r:embed="rId2"/>
            <a:stretch>
              <a:fillRect/>
            </a:stretch>
          </a:blipFill>
        </p:spPr>
      </p:sp>
      <p:sp>
        <p:nvSpPr>
          <p:cNvPr id="8" name="TextBox 8"/>
          <p:cNvSpPr txBox="1"/>
          <p:nvPr/>
        </p:nvSpPr>
        <p:spPr>
          <a:xfrm>
            <a:off x="2414879" y="4225627"/>
            <a:ext cx="13458243" cy="1341757"/>
          </a:xfrm>
          <a:prstGeom prst="rect">
            <a:avLst/>
          </a:prstGeom>
        </p:spPr>
        <p:txBody>
          <a:bodyPr lIns="0" tIns="0" rIns="0" bIns="0" rtlCol="0" anchor="t">
            <a:spAutoFit/>
          </a:bodyPr>
          <a:lstStyle/>
          <a:p>
            <a:pPr marL="734053" lvl="1" indent="-367026" algn="l">
              <a:lnSpc>
                <a:spcPts val="5439"/>
              </a:lnSpc>
              <a:buAutoNum type="arabicPeriod"/>
            </a:pPr>
            <a:r>
              <a:rPr lang="en-US" sz="3399">
                <a:solidFill>
                  <a:srgbClr val="283728"/>
                </a:solidFill>
                <a:latin typeface="Roboto"/>
                <a:ea typeface="Roboto"/>
                <a:cs typeface="Roboto"/>
                <a:sym typeface="Roboto"/>
              </a:rPr>
              <a:t>Bagaimana performa sistem rekomendasi dengan variational autoencoder dan regularized singular value decomposition?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2EA"/>
        </a:solidFill>
        <a:effectLst/>
      </p:bgPr>
    </p:bg>
    <p:spTree>
      <p:nvGrpSpPr>
        <p:cNvPr id="1" name=""/>
        <p:cNvGrpSpPr/>
        <p:nvPr/>
      </p:nvGrpSpPr>
      <p:grpSpPr>
        <a:xfrm>
          <a:off x="0" y="0"/>
          <a:ext cx="0" cy="0"/>
          <a:chOff x="0" y="0"/>
          <a:chExt cx="0" cy="0"/>
        </a:xfrm>
      </p:grpSpPr>
      <p:sp>
        <p:nvSpPr>
          <p:cNvPr id="2" name="TextBox 2"/>
          <p:cNvSpPr txBox="1"/>
          <p:nvPr/>
        </p:nvSpPr>
        <p:spPr>
          <a:xfrm>
            <a:off x="2414879" y="771525"/>
            <a:ext cx="13458243" cy="2321561"/>
          </a:xfrm>
          <a:prstGeom prst="rect">
            <a:avLst/>
          </a:prstGeom>
        </p:spPr>
        <p:txBody>
          <a:bodyPr lIns="0" tIns="0" rIns="0" bIns="0" rtlCol="0" anchor="t">
            <a:spAutoFit/>
          </a:bodyPr>
          <a:lstStyle/>
          <a:p>
            <a:pPr algn="ctr">
              <a:lnSpc>
                <a:spcPts val="19039"/>
              </a:lnSpc>
            </a:pPr>
            <a:r>
              <a:rPr lang="en-US" sz="13599">
                <a:solidFill>
                  <a:srgbClr val="283728"/>
                </a:solidFill>
                <a:latin typeface="Adirek Sans Heavy"/>
                <a:ea typeface="Adirek Sans Heavy"/>
                <a:cs typeface="Adirek Sans Heavy"/>
                <a:sym typeface="Adirek Sans Heavy"/>
              </a:rPr>
              <a:t>TUJUAN PENELITIAN</a:t>
            </a:r>
          </a:p>
        </p:txBody>
      </p:sp>
      <p:sp>
        <p:nvSpPr>
          <p:cNvPr id="3" name="TextBox 3"/>
          <p:cNvSpPr txBox="1"/>
          <p:nvPr/>
        </p:nvSpPr>
        <p:spPr>
          <a:xfrm>
            <a:off x="16610134" y="9518480"/>
            <a:ext cx="598073" cy="311277"/>
          </a:xfrm>
          <a:prstGeom prst="rect">
            <a:avLst/>
          </a:prstGeom>
        </p:spPr>
        <p:txBody>
          <a:bodyPr lIns="0" tIns="0" rIns="0" bIns="0" rtlCol="0" anchor="t">
            <a:spAutoFit/>
          </a:bodyPr>
          <a:lstStyle/>
          <a:p>
            <a:pPr algn="ctr">
              <a:lnSpc>
                <a:spcPts val="2304"/>
              </a:lnSpc>
            </a:pPr>
            <a:r>
              <a:rPr lang="en-US" sz="2400">
                <a:solidFill>
                  <a:srgbClr val="283728"/>
                </a:solidFill>
                <a:latin typeface="Adirek Sans Bold"/>
                <a:ea typeface="Adirek Sans Bold"/>
                <a:cs typeface="Adirek Sans Bold"/>
                <a:sym typeface="Adirek Sans Bold"/>
              </a:rPr>
              <a:t>2024</a:t>
            </a:r>
          </a:p>
        </p:txBody>
      </p:sp>
      <p:grpSp>
        <p:nvGrpSpPr>
          <p:cNvPr id="4" name="Group 4"/>
          <p:cNvGrpSpPr/>
          <p:nvPr/>
        </p:nvGrpSpPr>
        <p:grpSpPr>
          <a:xfrm>
            <a:off x="16610134" y="0"/>
            <a:ext cx="1677866" cy="1679634"/>
            <a:chOff x="0" y="0"/>
            <a:chExt cx="568780" cy="569379"/>
          </a:xfrm>
        </p:grpSpPr>
        <p:sp>
          <p:nvSpPr>
            <p:cNvPr id="5" name="Freeform 5"/>
            <p:cNvSpPr/>
            <p:nvPr/>
          </p:nvSpPr>
          <p:spPr>
            <a:xfrm>
              <a:off x="0" y="0"/>
              <a:ext cx="568780" cy="569379"/>
            </a:xfrm>
            <a:custGeom>
              <a:avLst/>
              <a:gdLst/>
              <a:ahLst/>
              <a:cxnLst/>
              <a:rect l="l" t="t" r="r" b="b"/>
              <a:pathLst>
                <a:path w="568780" h="569379">
                  <a:moveTo>
                    <a:pt x="0" y="0"/>
                  </a:moveTo>
                  <a:lnTo>
                    <a:pt x="568780" y="0"/>
                  </a:lnTo>
                  <a:lnTo>
                    <a:pt x="568780" y="569379"/>
                  </a:lnTo>
                  <a:lnTo>
                    <a:pt x="0" y="569379"/>
                  </a:lnTo>
                  <a:close/>
                </a:path>
              </a:pathLst>
            </a:custGeom>
            <a:solidFill>
              <a:srgbClr val="283728"/>
            </a:solidFill>
          </p:spPr>
        </p:sp>
        <p:sp>
          <p:nvSpPr>
            <p:cNvPr id="6" name="TextBox 6"/>
            <p:cNvSpPr txBox="1"/>
            <p:nvPr/>
          </p:nvSpPr>
          <p:spPr>
            <a:xfrm>
              <a:off x="0" y="-47625"/>
              <a:ext cx="568780" cy="617004"/>
            </a:xfrm>
            <a:prstGeom prst="rect">
              <a:avLst/>
            </a:prstGeom>
          </p:spPr>
          <p:txBody>
            <a:bodyPr lIns="50800" tIns="50800" rIns="50800" bIns="50800" rtlCol="0" anchor="ctr"/>
            <a:lstStyle/>
            <a:p>
              <a:pPr algn="ctr">
                <a:lnSpc>
                  <a:spcPts val="3079"/>
                </a:lnSpc>
              </a:pPr>
              <a:endParaRPr/>
            </a:p>
          </p:txBody>
        </p:sp>
      </p:grpSp>
      <p:sp>
        <p:nvSpPr>
          <p:cNvPr id="7" name="Freeform 7"/>
          <p:cNvSpPr/>
          <p:nvPr/>
        </p:nvSpPr>
        <p:spPr>
          <a:xfrm>
            <a:off x="16872103" y="188695"/>
            <a:ext cx="1156433" cy="1302244"/>
          </a:xfrm>
          <a:custGeom>
            <a:avLst/>
            <a:gdLst/>
            <a:ahLst/>
            <a:cxnLst/>
            <a:rect l="l" t="t" r="r" b="b"/>
            <a:pathLst>
              <a:path w="1156433" h="1302244">
                <a:moveTo>
                  <a:pt x="0" y="0"/>
                </a:moveTo>
                <a:lnTo>
                  <a:pt x="1156433" y="0"/>
                </a:lnTo>
                <a:lnTo>
                  <a:pt x="1156433" y="1302244"/>
                </a:lnTo>
                <a:lnTo>
                  <a:pt x="0" y="1302244"/>
                </a:lnTo>
                <a:lnTo>
                  <a:pt x="0" y="0"/>
                </a:lnTo>
                <a:close/>
              </a:path>
            </a:pathLst>
          </a:custGeom>
          <a:blipFill>
            <a:blip r:embed="rId2"/>
            <a:stretch>
              <a:fillRect/>
            </a:stretch>
          </a:blipFill>
        </p:spPr>
      </p:sp>
      <p:sp>
        <p:nvSpPr>
          <p:cNvPr id="8" name="TextBox 8"/>
          <p:cNvSpPr txBox="1"/>
          <p:nvPr/>
        </p:nvSpPr>
        <p:spPr>
          <a:xfrm>
            <a:off x="2040184" y="4225627"/>
            <a:ext cx="14207632" cy="1341757"/>
          </a:xfrm>
          <a:prstGeom prst="rect">
            <a:avLst/>
          </a:prstGeom>
        </p:spPr>
        <p:txBody>
          <a:bodyPr lIns="0" tIns="0" rIns="0" bIns="0" rtlCol="0" anchor="t">
            <a:spAutoFit/>
          </a:bodyPr>
          <a:lstStyle/>
          <a:p>
            <a:pPr marL="734053" lvl="1" indent="-367026" algn="l">
              <a:lnSpc>
                <a:spcPts val="5439"/>
              </a:lnSpc>
              <a:buAutoNum type="arabicPeriod"/>
            </a:pPr>
            <a:r>
              <a:rPr lang="en-US" sz="3399">
                <a:solidFill>
                  <a:srgbClr val="283728"/>
                </a:solidFill>
                <a:latin typeface="Roboto"/>
                <a:ea typeface="Roboto"/>
                <a:cs typeface="Roboto"/>
                <a:sym typeface="Roboto"/>
              </a:rPr>
              <a:t>Mengetahui performa sistem rekomendasi yang menggunakan variational autoencoder dan regularized singular value decomposition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2EA"/>
        </a:solidFill>
        <a:effectLst/>
      </p:bgPr>
    </p:bg>
    <p:spTree>
      <p:nvGrpSpPr>
        <p:cNvPr id="1" name=""/>
        <p:cNvGrpSpPr/>
        <p:nvPr/>
      </p:nvGrpSpPr>
      <p:grpSpPr>
        <a:xfrm>
          <a:off x="0" y="0"/>
          <a:ext cx="0" cy="0"/>
          <a:chOff x="0" y="0"/>
          <a:chExt cx="0" cy="0"/>
        </a:xfrm>
      </p:grpSpPr>
      <p:sp>
        <p:nvSpPr>
          <p:cNvPr id="2" name="TextBox 2"/>
          <p:cNvSpPr txBox="1"/>
          <p:nvPr/>
        </p:nvSpPr>
        <p:spPr>
          <a:xfrm>
            <a:off x="2414879" y="771525"/>
            <a:ext cx="13458243" cy="2321561"/>
          </a:xfrm>
          <a:prstGeom prst="rect">
            <a:avLst/>
          </a:prstGeom>
        </p:spPr>
        <p:txBody>
          <a:bodyPr lIns="0" tIns="0" rIns="0" bIns="0" rtlCol="0" anchor="t">
            <a:spAutoFit/>
          </a:bodyPr>
          <a:lstStyle/>
          <a:p>
            <a:pPr algn="ctr">
              <a:lnSpc>
                <a:spcPts val="19039"/>
              </a:lnSpc>
            </a:pPr>
            <a:r>
              <a:rPr lang="en-US" sz="13599">
                <a:solidFill>
                  <a:srgbClr val="283728"/>
                </a:solidFill>
                <a:latin typeface="Adirek Sans Heavy"/>
                <a:ea typeface="Adirek Sans Heavy"/>
                <a:cs typeface="Adirek Sans Heavy"/>
                <a:sym typeface="Adirek Sans Heavy"/>
              </a:rPr>
              <a:t>BATASAN MASALAH</a:t>
            </a:r>
          </a:p>
        </p:txBody>
      </p:sp>
      <p:sp>
        <p:nvSpPr>
          <p:cNvPr id="3" name="TextBox 3"/>
          <p:cNvSpPr txBox="1"/>
          <p:nvPr/>
        </p:nvSpPr>
        <p:spPr>
          <a:xfrm>
            <a:off x="16610134" y="9518480"/>
            <a:ext cx="598073" cy="311277"/>
          </a:xfrm>
          <a:prstGeom prst="rect">
            <a:avLst/>
          </a:prstGeom>
        </p:spPr>
        <p:txBody>
          <a:bodyPr lIns="0" tIns="0" rIns="0" bIns="0" rtlCol="0" anchor="t">
            <a:spAutoFit/>
          </a:bodyPr>
          <a:lstStyle/>
          <a:p>
            <a:pPr algn="ctr">
              <a:lnSpc>
                <a:spcPts val="2304"/>
              </a:lnSpc>
            </a:pPr>
            <a:r>
              <a:rPr lang="en-US" sz="2400">
                <a:solidFill>
                  <a:srgbClr val="283728"/>
                </a:solidFill>
                <a:latin typeface="Adirek Sans Bold"/>
                <a:ea typeface="Adirek Sans Bold"/>
                <a:cs typeface="Adirek Sans Bold"/>
                <a:sym typeface="Adirek Sans Bold"/>
              </a:rPr>
              <a:t>2024</a:t>
            </a:r>
          </a:p>
        </p:txBody>
      </p:sp>
      <p:grpSp>
        <p:nvGrpSpPr>
          <p:cNvPr id="4" name="Group 4"/>
          <p:cNvGrpSpPr/>
          <p:nvPr/>
        </p:nvGrpSpPr>
        <p:grpSpPr>
          <a:xfrm>
            <a:off x="16610134" y="0"/>
            <a:ext cx="1677866" cy="1679634"/>
            <a:chOff x="0" y="0"/>
            <a:chExt cx="568780" cy="569379"/>
          </a:xfrm>
        </p:grpSpPr>
        <p:sp>
          <p:nvSpPr>
            <p:cNvPr id="5" name="Freeform 5"/>
            <p:cNvSpPr/>
            <p:nvPr/>
          </p:nvSpPr>
          <p:spPr>
            <a:xfrm>
              <a:off x="0" y="0"/>
              <a:ext cx="568780" cy="569379"/>
            </a:xfrm>
            <a:custGeom>
              <a:avLst/>
              <a:gdLst/>
              <a:ahLst/>
              <a:cxnLst/>
              <a:rect l="l" t="t" r="r" b="b"/>
              <a:pathLst>
                <a:path w="568780" h="569379">
                  <a:moveTo>
                    <a:pt x="0" y="0"/>
                  </a:moveTo>
                  <a:lnTo>
                    <a:pt x="568780" y="0"/>
                  </a:lnTo>
                  <a:lnTo>
                    <a:pt x="568780" y="569379"/>
                  </a:lnTo>
                  <a:lnTo>
                    <a:pt x="0" y="569379"/>
                  </a:lnTo>
                  <a:close/>
                </a:path>
              </a:pathLst>
            </a:custGeom>
            <a:solidFill>
              <a:srgbClr val="283728"/>
            </a:solidFill>
          </p:spPr>
        </p:sp>
        <p:sp>
          <p:nvSpPr>
            <p:cNvPr id="6" name="TextBox 6"/>
            <p:cNvSpPr txBox="1"/>
            <p:nvPr/>
          </p:nvSpPr>
          <p:spPr>
            <a:xfrm>
              <a:off x="0" y="-47625"/>
              <a:ext cx="568780" cy="617004"/>
            </a:xfrm>
            <a:prstGeom prst="rect">
              <a:avLst/>
            </a:prstGeom>
          </p:spPr>
          <p:txBody>
            <a:bodyPr lIns="50800" tIns="50800" rIns="50800" bIns="50800" rtlCol="0" anchor="ctr"/>
            <a:lstStyle/>
            <a:p>
              <a:pPr algn="ctr">
                <a:lnSpc>
                  <a:spcPts val="3079"/>
                </a:lnSpc>
              </a:pPr>
              <a:endParaRPr/>
            </a:p>
          </p:txBody>
        </p:sp>
      </p:grpSp>
      <p:sp>
        <p:nvSpPr>
          <p:cNvPr id="7" name="Freeform 7"/>
          <p:cNvSpPr/>
          <p:nvPr/>
        </p:nvSpPr>
        <p:spPr>
          <a:xfrm>
            <a:off x="16872103" y="188695"/>
            <a:ext cx="1156433" cy="1302244"/>
          </a:xfrm>
          <a:custGeom>
            <a:avLst/>
            <a:gdLst/>
            <a:ahLst/>
            <a:cxnLst/>
            <a:rect l="l" t="t" r="r" b="b"/>
            <a:pathLst>
              <a:path w="1156433" h="1302244">
                <a:moveTo>
                  <a:pt x="0" y="0"/>
                </a:moveTo>
                <a:lnTo>
                  <a:pt x="1156433" y="0"/>
                </a:lnTo>
                <a:lnTo>
                  <a:pt x="1156433" y="1302244"/>
                </a:lnTo>
                <a:lnTo>
                  <a:pt x="0" y="1302244"/>
                </a:lnTo>
                <a:lnTo>
                  <a:pt x="0" y="0"/>
                </a:lnTo>
                <a:close/>
              </a:path>
            </a:pathLst>
          </a:custGeom>
          <a:blipFill>
            <a:blip r:embed="rId2"/>
            <a:stretch>
              <a:fillRect/>
            </a:stretch>
          </a:blipFill>
        </p:spPr>
      </p:sp>
      <p:sp>
        <p:nvSpPr>
          <p:cNvPr id="8" name="TextBox 8"/>
          <p:cNvSpPr txBox="1"/>
          <p:nvPr/>
        </p:nvSpPr>
        <p:spPr>
          <a:xfrm>
            <a:off x="2040184" y="4225627"/>
            <a:ext cx="14207632" cy="3399157"/>
          </a:xfrm>
          <a:prstGeom prst="rect">
            <a:avLst/>
          </a:prstGeom>
        </p:spPr>
        <p:txBody>
          <a:bodyPr lIns="0" tIns="0" rIns="0" bIns="0" rtlCol="0" anchor="t">
            <a:spAutoFit/>
          </a:bodyPr>
          <a:lstStyle/>
          <a:p>
            <a:pPr marL="734053" lvl="1" indent="-367026" algn="l">
              <a:lnSpc>
                <a:spcPts val="5439"/>
              </a:lnSpc>
              <a:buAutoNum type="arabicPeriod"/>
            </a:pPr>
            <a:r>
              <a:rPr lang="en-US" sz="3399">
                <a:solidFill>
                  <a:srgbClr val="283728"/>
                </a:solidFill>
                <a:latin typeface="Roboto"/>
                <a:ea typeface="Roboto"/>
                <a:cs typeface="Roboto"/>
                <a:sym typeface="Roboto"/>
              </a:rPr>
              <a:t>Data didapatkan secara sekunder melalui halaman web Kaggle/MovieLens.</a:t>
            </a:r>
          </a:p>
          <a:p>
            <a:pPr marL="734053" lvl="1" indent="-367026" algn="l">
              <a:lnSpc>
                <a:spcPts val="5439"/>
              </a:lnSpc>
              <a:buAutoNum type="arabicPeriod"/>
            </a:pPr>
            <a:r>
              <a:rPr lang="en-US" sz="3399">
                <a:solidFill>
                  <a:srgbClr val="283728"/>
                </a:solidFill>
                <a:latin typeface="Roboto"/>
                <a:ea typeface="Roboto"/>
                <a:cs typeface="Roboto"/>
                <a:sym typeface="Roboto"/>
              </a:rPr>
              <a:t>Pengguna tidak dapat menonton film secara langsung pada sistem.</a:t>
            </a:r>
          </a:p>
          <a:p>
            <a:pPr marL="734053" lvl="1" indent="-367026" algn="l">
              <a:lnSpc>
                <a:spcPts val="5439"/>
              </a:lnSpc>
              <a:buAutoNum type="arabicPeriod"/>
            </a:pPr>
            <a:r>
              <a:rPr lang="en-US" sz="3399">
                <a:solidFill>
                  <a:srgbClr val="283728"/>
                </a:solidFill>
                <a:latin typeface="Roboto"/>
                <a:ea typeface="Roboto"/>
                <a:cs typeface="Roboto"/>
                <a:sym typeface="Roboto"/>
              </a:rPr>
              <a:t>Sistem hanya dapat memberikan rekomendasi item yang terdapat pada data.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2EA"/>
        </a:solidFill>
        <a:effectLst/>
      </p:bgPr>
    </p:bg>
    <p:spTree>
      <p:nvGrpSpPr>
        <p:cNvPr id="1" name=""/>
        <p:cNvGrpSpPr/>
        <p:nvPr/>
      </p:nvGrpSpPr>
      <p:grpSpPr>
        <a:xfrm>
          <a:off x="0" y="0"/>
          <a:ext cx="0" cy="0"/>
          <a:chOff x="0" y="0"/>
          <a:chExt cx="0" cy="0"/>
        </a:xfrm>
      </p:grpSpPr>
      <p:sp>
        <p:nvSpPr>
          <p:cNvPr id="2" name="TextBox 2"/>
          <p:cNvSpPr txBox="1"/>
          <p:nvPr/>
        </p:nvSpPr>
        <p:spPr>
          <a:xfrm>
            <a:off x="1937995" y="771525"/>
            <a:ext cx="14412011" cy="2321561"/>
          </a:xfrm>
          <a:prstGeom prst="rect">
            <a:avLst/>
          </a:prstGeom>
        </p:spPr>
        <p:txBody>
          <a:bodyPr lIns="0" tIns="0" rIns="0" bIns="0" rtlCol="0" anchor="t">
            <a:spAutoFit/>
          </a:bodyPr>
          <a:lstStyle/>
          <a:p>
            <a:pPr algn="ctr">
              <a:lnSpc>
                <a:spcPts val="19039"/>
              </a:lnSpc>
            </a:pPr>
            <a:r>
              <a:rPr lang="en-US" sz="13599">
                <a:solidFill>
                  <a:srgbClr val="283728"/>
                </a:solidFill>
                <a:latin typeface="Adirek Sans Heavy"/>
                <a:ea typeface="Adirek Sans Heavy"/>
                <a:cs typeface="Adirek Sans Heavy"/>
                <a:sym typeface="Adirek Sans Heavy"/>
              </a:rPr>
              <a:t>MANFAAT PENELITIAN</a:t>
            </a:r>
          </a:p>
        </p:txBody>
      </p:sp>
      <p:sp>
        <p:nvSpPr>
          <p:cNvPr id="3" name="TextBox 3"/>
          <p:cNvSpPr txBox="1"/>
          <p:nvPr/>
        </p:nvSpPr>
        <p:spPr>
          <a:xfrm>
            <a:off x="16610134" y="9518480"/>
            <a:ext cx="598073" cy="311277"/>
          </a:xfrm>
          <a:prstGeom prst="rect">
            <a:avLst/>
          </a:prstGeom>
        </p:spPr>
        <p:txBody>
          <a:bodyPr lIns="0" tIns="0" rIns="0" bIns="0" rtlCol="0" anchor="t">
            <a:spAutoFit/>
          </a:bodyPr>
          <a:lstStyle/>
          <a:p>
            <a:pPr algn="ctr">
              <a:lnSpc>
                <a:spcPts val="2304"/>
              </a:lnSpc>
            </a:pPr>
            <a:r>
              <a:rPr lang="en-US" sz="2400">
                <a:solidFill>
                  <a:srgbClr val="283728"/>
                </a:solidFill>
                <a:latin typeface="Adirek Sans Bold"/>
                <a:ea typeface="Adirek Sans Bold"/>
                <a:cs typeface="Adirek Sans Bold"/>
                <a:sym typeface="Adirek Sans Bold"/>
              </a:rPr>
              <a:t>2024</a:t>
            </a:r>
          </a:p>
        </p:txBody>
      </p:sp>
      <p:grpSp>
        <p:nvGrpSpPr>
          <p:cNvPr id="4" name="Group 4"/>
          <p:cNvGrpSpPr/>
          <p:nvPr/>
        </p:nvGrpSpPr>
        <p:grpSpPr>
          <a:xfrm>
            <a:off x="16610134" y="0"/>
            <a:ext cx="1677866" cy="1679634"/>
            <a:chOff x="0" y="0"/>
            <a:chExt cx="568780" cy="569379"/>
          </a:xfrm>
        </p:grpSpPr>
        <p:sp>
          <p:nvSpPr>
            <p:cNvPr id="5" name="Freeform 5"/>
            <p:cNvSpPr/>
            <p:nvPr/>
          </p:nvSpPr>
          <p:spPr>
            <a:xfrm>
              <a:off x="0" y="0"/>
              <a:ext cx="568780" cy="569379"/>
            </a:xfrm>
            <a:custGeom>
              <a:avLst/>
              <a:gdLst/>
              <a:ahLst/>
              <a:cxnLst/>
              <a:rect l="l" t="t" r="r" b="b"/>
              <a:pathLst>
                <a:path w="568780" h="569379">
                  <a:moveTo>
                    <a:pt x="0" y="0"/>
                  </a:moveTo>
                  <a:lnTo>
                    <a:pt x="568780" y="0"/>
                  </a:lnTo>
                  <a:lnTo>
                    <a:pt x="568780" y="569379"/>
                  </a:lnTo>
                  <a:lnTo>
                    <a:pt x="0" y="569379"/>
                  </a:lnTo>
                  <a:close/>
                </a:path>
              </a:pathLst>
            </a:custGeom>
            <a:solidFill>
              <a:srgbClr val="283728"/>
            </a:solidFill>
          </p:spPr>
        </p:sp>
        <p:sp>
          <p:nvSpPr>
            <p:cNvPr id="6" name="TextBox 6"/>
            <p:cNvSpPr txBox="1"/>
            <p:nvPr/>
          </p:nvSpPr>
          <p:spPr>
            <a:xfrm>
              <a:off x="0" y="-47625"/>
              <a:ext cx="568780" cy="617004"/>
            </a:xfrm>
            <a:prstGeom prst="rect">
              <a:avLst/>
            </a:prstGeom>
          </p:spPr>
          <p:txBody>
            <a:bodyPr lIns="50800" tIns="50800" rIns="50800" bIns="50800" rtlCol="0" anchor="ctr"/>
            <a:lstStyle/>
            <a:p>
              <a:pPr algn="ctr">
                <a:lnSpc>
                  <a:spcPts val="3079"/>
                </a:lnSpc>
              </a:pPr>
              <a:endParaRPr/>
            </a:p>
          </p:txBody>
        </p:sp>
      </p:grpSp>
      <p:sp>
        <p:nvSpPr>
          <p:cNvPr id="7" name="Freeform 7"/>
          <p:cNvSpPr/>
          <p:nvPr/>
        </p:nvSpPr>
        <p:spPr>
          <a:xfrm>
            <a:off x="16872103" y="188695"/>
            <a:ext cx="1156433" cy="1302244"/>
          </a:xfrm>
          <a:custGeom>
            <a:avLst/>
            <a:gdLst/>
            <a:ahLst/>
            <a:cxnLst/>
            <a:rect l="l" t="t" r="r" b="b"/>
            <a:pathLst>
              <a:path w="1156433" h="1302244">
                <a:moveTo>
                  <a:pt x="0" y="0"/>
                </a:moveTo>
                <a:lnTo>
                  <a:pt x="1156433" y="0"/>
                </a:lnTo>
                <a:lnTo>
                  <a:pt x="1156433" y="1302244"/>
                </a:lnTo>
                <a:lnTo>
                  <a:pt x="0" y="1302244"/>
                </a:lnTo>
                <a:lnTo>
                  <a:pt x="0" y="0"/>
                </a:lnTo>
                <a:close/>
              </a:path>
            </a:pathLst>
          </a:custGeom>
          <a:blipFill>
            <a:blip r:embed="rId2"/>
            <a:stretch>
              <a:fillRect/>
            </a:stretch>
          </a:blipFill>
        </p:spPr>
      </p:sp>
      <p:sp>
        <p:nvSpPr>
          <p:cNvPr id="8" name="TextBox 8"/>
          <p:cNvSpPr txBox="1"/>
          <p:nvPr/>
        </p:nvSpPr>
        <p:spPr>
          <a:xfrm>
            <a:off x="2040184" y="4225627"/>
            <a:ext cx="3545871" cy="655957"/>
          </a:xfrm>
          <a:prstGeom prst="rect">
            <a:avLst/>
          </a:prstGeom>
        </p:spPr>
        <p:txBody>
          <a:bodyPr lIns="0" tIns="0" rIns="0" bIns="0" rtlCol="0" anchor="t">
            <a:spAutoFit/>
          </a:bodyPr>
          <a:lstStyle/>
          <a:p>
            <a:pPr algn="l">
              <a:lnSpc>
                <a:spcPts val="5439"/>
              </a:lnSpc>
            </a:pPr>
            <a:r>
              <a:rPr lang="en-US" sz="3399">
                <a:solidFill>
                  <a:srgbClr val="283728"/>
                </a:solidFill>
                <a:latin typeface="Roboto Bold"/>
                <a:ea typeface="Roboto Bold"/>
                <a:cs typeface="Roboto Bold"/>
                <a:sym typeface="Roboto Bold"/>
              </a:rPr>
              <a:t>Bagi Penonton</a:t>
            </a:r>
          </a:p>
        </p:txBody>
      </p:sp>
      <p:sp>
        <p:nvSpPr>
          <p:cNvPr id="9" name="TextBox 9"/>
          <p:cNvSpPr txBox="1"/>
          <p:nvPr/>
        </p:nvSpPr>
        <p:spPr>
          <a:xfrm>
            <a:off x="2040184" y="6196617"/>
            <a:ext cx="3852439" cy="655957"/>
          </a:xfrm>
          <a:prstGeom prst="rect">
            <a:avLst/>
          </a:prstGeom>
        </p:spPr>
        <p:txBody>
          <a:bodyPr lIns="0" tIns="0" rIns="0" bIns="0" rtlCol="0" anchor="t">
            <a:spAutoFit/>
          </a:bodyPr>
          <a:lstStyle/>
          <a:p>
            <a:pPr algn="l">
              <a:lnSpc>
                <a:spcPts val="5439"/>
              </a:lnSpc>
            </a:pPr>
            <a:r>
              <a:rPr lang="en-US" sz="3399">
                <a:solidFill>
                  <a:srgbClr val="283728"/>
                </a:solidFill>
                <a:latin typeface="Roboto Bold"/>
                <a:ea typeface="Roboto Bold"/>
                <a:cs typeface="Roboto Bold"/>
                <a:sym typeface="Roboto Bold"/>
              </a:rPr>
              <a:t>Bagi Pembuat Film</a:t>
            </a:r>
          </a:p>
        </p:txBody>
      </p:sp>
      <p:sp>
        <p:nvSpPr>
          <p:cNvPr id="10" name="TextBox 10"/>
          <p:cNvSpPr txBox="1"/>
          <p:nvPr/>
        </p:nvSpPr>
        <p:spPr>
          <a:xfrm>
            <a:off x="2040184" y="5050898"/>
            <a:ext cx="12606665" cy="961898"/>
          </a:xfrm>
          <a:prstGeom prst="rect">
            <a:avLst/>
          </a:prstGeom>
        </p:spPr>
        <p:txBody>
          <a:bodyPr lIns="0" tIns="0" rIns="0" bIns="0" rtlCol="0" anchor="t">
            <a:spAutoFit/>
          </a:bodyPr>
          <a:lstStyle/>
          <a:p>
            <a:pPr algn="l">
              <a:lnSpc>
                <a:spcPts val="3705"/>
              </a:lnSpc>
            </a:pPr>
            <a:r>
              <a:rPr lang="en-US" sz="3399">
                <a:solidFill>
                  <a:srgbClr val="283728"/>
                </a:solidFill>
                <a:latin typeface="Roboto"/>
                <a:ea typeface="Roboto"/>
                <a:cs typeface="Roboto"/>
                <a:sym typeface="Roboto"/>
              </a:rPr>
              <a:t>Penonton dapat dengan mudah mendapatkan rekomendasi yang sesuai dengan preferensi mereka.</a:t>
            </a:r>
          </a:p>
        </p:txBody>
      </p:sp>
      <p:sp>
        <p:nvSpPr>
          <p:cNvPr id="11" name="TextBox 11"/>
          <p:cNvSpPr txBox="1"/>
          <p:nvPr/>
        </p:nvSpPr>
        <p:spPr>
          <a:xfrm>
            <a:off x="2040184" y="7024024"/>
            <a:ext cx="12606665" cy="961898"/>
          </a:xfrm>
          <a:prstGeom prst="rect">
            <a:avLst/>
          </a:prstGeom>
        </p:spPr>
        <p:txBody>
          <a:bodyPr lIns="0" tIns="0" rIns="0" bIns="0" rtlCol="0" anchor="t">
            <a:spAutoFit/>
          </a:bodyPr>
          <a:lstStyle/>
          <a:p>
            <a:pPr algn="l">
              <a:lnSpc>
                <a:spcPts val="3705"/>
              </a:lnSpc>
            </a:pPr>
            <a:r>
              <a:rPr lang="en-US" sz="3399">
                <a:solidFill>
                  <a:srgbClr val="283728"/>
                </a:solidFill>
                <a:latin typeface="Roboto"/>
                <a:ea typeface="Roboto"/>
                <a:cs typeface="Roboto"/>
                <a:sym typeface="Roboto"/>
              </a:rPr>
              <a:t>Film yang dibuat dapat direkomendasikan kepada pengguna sesuai dengan preferensi mereka.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2EA"/>
        </a:solidFill>
        <a:effectLst/>
      </p:bgPr>
    </p:bg>
    <p:spTree>
      <p:nvGrpSpPr>
        <p:cNvPr id="1" name=""/>
        <p:cNvGrpSpPr/>
        <p:nvPr/>
      </p:nvGrpSpPr>
      <p:grpSpPr>
        <a:xfrm>
          <a:off x="0" y="0"/>
          <a:ext cx="0" cy="0"/>
          <a:chOff x="0" y="0"/>
          <a:chExt cx="0" cy="0"/>
        </a:xfrm>
      </p:grpSpPr>
      <p:grpSp>
        <p:nvGrpSpPr>
          <p:cNvPr id="2" name="Group 2"/>
          <p:cNvGrpSpPr/>
          <p:nvPr/>
        </p:nvGrpSpPr>
        <p:grpSpPr>
          <a:xfrm>
            <a:off x="0" y="2740084"/>
            <a:ext cx="18288000" cy="7546916"/>
            <a:chOff x="0" y="0"/>
            <a:chExt cx="4816593" cy="1987665"/>
          </a:xfrm>
        </p:grpSpPr>
        <p:sp>
          <p:nvSpPr>
            <p:cNvPr id="3" name="Freeform 3"/>
            <p:cNvSpPr/>
            <p:nvPr/>
          </p:nvSpPr>
          <p:spPr>
            <a:xfrm>
              <a:off x="0" y="0"/>
              <a:ext cx="4816592" cy="1987665"/>
            </a:xfrm>
            <a:custGeom>
              <a:avLst/>
              <a:gdLst/>
              <a:ahLst/>
              <a:cxnLst/>
              <a:rect l="l" t="t" r="r" b="b"/>
              <a:pathLst>
                <a:path w="4816592" h="1987665">
                  <a:moveTo>
                    <a:pt x="0" y="0"/>
                  </a:moveTo>
                  <a:lnTo>
                    <a:pt x="4816592" y="0"/>
                  </a:lnTo>
                  <a:lnTo>
                    <a:pt x="4816592" y="1987665"/>
                  </a:lnTo>
                  <a:lnTo>
                    <a:pt x="0" y="1987665"/>
                  </a:lnTo>
                  <a:close/>
                </a:path>
              </a:pathLst>
            </a:custGeom>
            <a:solidFill>
              <a:srgbClr val="283728"/>
            </a:solidFill>
          </p:spPr>
        </p:sp>
        <p:sp>
          <p:nvSpPr>
            <p:cNvPr id="4" name="TextBox 4"/>
            <p:cNvSpPr txBox="1"/>
            <p:nvPr/>
          </p:nvSpPr>
          <p:spPr>
            <a:xfrm>
              <a:off x="0" y="-47625"/>
              <a:ext cx="4816593" cy="2035290"/>
            </a:xfrm>
            <a:prstGeom prst="rect">
              <a:avLst/>
            </a:prstGeom>
          </p:spPr>
          <p:txBody>
            <a:bodyPr lIns="50800" tIns="50800" rIns="50800" bIns="50800" rtlCol="0" anchor="ctr"/>
            <a:lstStyle/>
            <a:p>
              <a:pPr algn="ctr">
                <a:lnSpc>
                  <a:spcPts val="3079"/>
                </a:lnSpc>
              </a:pPr>
              <a:endParaRPr/>
            </a:p>
          </p:txBody>
        </p:sp>
      </p:grpSp>
      <p:sp>
        <p:nvSpPr>
          <p:cNvPr id="5" name="TextBox 5"/>
          <p:cNvSpPr txBox="1"/>
          <p:nvPr/>
        </p:nvSpPr>
        <p:spPr>
          <a:xfrm>
            <a:off x="16610134" y="9518480"/>
            <a:ext cx="598073" cy="311277"/>
          </a:xfrm>
          <a:prstGeom prst="rect">
            <a:avLst/>
          </a:prstGeom>
        </p:spPr>
        <p:txBody>
          <a:bodyPr lIns="0" tIns="0" rIns="0" bIns="0" rtlCol="0" anchor="t">
            <a:spAutoFit/>
          </a:bodyPr>
          <a:lstStyle/>
          <a:p>
            <a:pPr algn="ctr">
              <a:lnSpc>
                <a:spcPts val="2304"/>
              </a:lnSpc>
            </a:pPr>
            <a:r>
              <a:rPr lang="en-US" sz="2400">
                <a:solidFill>
                  <a:srgbClr val="283728"/>
                </a:solidFill>
                <a:latin typeface="Adirek Sans Bold"/>
                <a:ea typeface="Adirek Sans Bold"/>
                <a:cs typeface="Adirek Sans Bold"/>
                <a:sym typeface="Adirek Sans Bold"/>
              </a:rPr>
              <a:t>2024</a:t>
            </a:r>
          </a:p>
        </p:txBody>
      </p:sp>
      <p:sp>
        <p:nvSpPr>
          <p:cNvPr id="6" name="TextBox 6"/>
          <p:cNvSpPr txBox="1"/>
          <p:nvPr/>
        </p:nvSpPr>
        <p:spPr>
          <a:xfrm>
            <a:off x="201093" y="960220"/>
            <a:ext cx="9949740" cy="978577"/>
          </a:xfrm>
          <a:prstGeom prst="rect">
            <a:avLst/>
          </a:prstGeom>
        </p:spPr>
        <p:txBody>
          <a:bodyPr lIns="0" tIns="0" rIns="0" bIns="0" rtlCol="0" anchor="t">
            <a:spAutoFit/>
          </a:bodyPr>
          <a:lstStyle/>
          <a:p>
            <a:pPr algn="l">
              <a:lnSpc>
                <a:spcPts val="5771"/>
              </a:lnSpc>
            </a:pPr>
            <a:r>
              <a:rPr lang="en-US" sz="11543">
                <a:solidFill>
                  <a:srgbClr val="283728"/>
                </a:solidFill>
                <a:latin typeface="Adirek Sans Heavy"/>
                <a:ea typeface="Adirek Sans Heavy"/>
                <a:cs typeface="Adirek Sans Heavy"/>
                <a:sym typeface="Adirek Sans Heavy"/>
              </a:rPr>
              <a:t>TINJAUAN TEORI</a:t>
            </a:r>
          </a:p>
        </p:txBody>
      </p:sp>
      <p:grpSp>
        <p:nvGrpSpPr>
          <p:cNvPr id="7" name="Group 7"/>
          <p:cNvGrpSpPr/>
          <p:nvPr/>
        </p:nvGrpSpPr>
        <p:grpSpPr>
          <a:xfrm>
            <a:off x="16610134" y="0"/>
            <a:ext cx="1677866" cy="1679634"/>
            <a:chOff x="0" y="0"/>
            <a:chExt cx="568780" cy="569379"/>
          </a:xfrm>
        </p:grpSpPr>
        <p:sp>
          <p:nvSpPr>
            <p:cNvPr id="8" name="Freeform 8"/>
            <p:cNvSpPr/>
            <p:nvPr/>
          </p:nvSpPr>
          <p:spPr>
            <a:xfrm>
              <a:off x="0" y="0"/>
              <a:ext cx="568780" cy="569379"/>
            </a:xfrm>
            <a:custGeom>
              <a:avLst/>
              <a:gdLst/>
              <a:ahLst/>
              <a:cxnLst/>
              <a:rect l="l" t="t" r="r" b="b"/>
              <a:pathLst>
                <a:path w="568780" h="569379">
                  <a:moveTo>
                    <a:pt x="0" y="0"/>
                  </a:moveTo>
                  <a:lnTo>
                    <a:pt x="568780" y="0"/>
                  </a:lnTo>
                  <a:lnTo>
                    <a:pt x="568780" y="569379"/>
                  </a:lnTo>
                  <a:lnTo>
                    <a:pt x="0" y="569379"/>
                  </a:lnTo>
                  <a:close/>
                </a:path>
              </a:pathLst>
            </a:custGeom>
            <a:solidFill>
              <a:srgbClr val="283728"/>
            </a:solidFill>
          </p:spPr>
        </p:sp>
        <p:sp>
          <p:nvSpPr>
            <p:cNvPr id="9" name="TextBox 9"/>
            <p:cNvSpPr txBox="1"/>
            <p:nvPr/>
          </p:nvSpPr>
          <p:spPr>
            <a:xfrm>
              <a:off x="0" y="-47625"/>
              <a:ext cx="568780" cy="617004"/>
            </a:xfrm>
            <a:prstGeom prst="rect">
              <a:avLst/>
            </a:prstGeom>
          </p:spPr>
          <p:txBody>
            <a:bodyPr lIns="50800" tIns="50800" rIns="50800" bIns="50800" rtlCol="0" anchor="ctr"/>
            <a:lstStyle/>
            <a:p>
              <a:pPr algn="ctr">
                <a:lnSpc>
                  <a:spcPts val="3079"/>
                </a:lnSpc>
              </a:pPr>
              <a:endParaRPr/>
            </a:p>
          </p:txBody>
        </p:sp>
      </p:grpSp>
      <p:sp>
        <p:nvSpPr>
          <p:cNvPr id="10" name="Freeform 10"/>
          <p:cNvSpPr/>
          <p:nvPr/>
        </p:nvSpPr>
        <p:spPr>
          <a:xfrm>
            <a:off x="16872103" y="188695"/>
            <a:ext cx="1156433" cy="1302244"/>
          </a:xfrm>
          <a:custGeom>
            <a:avLst/>
            <a:gdLst/>
            <a:ahLst/>
            <a:cxnLst/>
            <a:rect l="l" t="t" r="r" b="b"/>
            <a:pathLst>
              <a:path w="1156433" h="1302244">
                <a:moveTo>
                  <a:pt x="0" y="0"/>
                </a:moveTo>
                <a:lnTo>
                  <a:pt x="1156433" y="0"/>
                </a:lnTo>
                <a:lnTo>
                  <a:pt x="1156433" y="1302244"/>
                </a:lnTo>
                <a:lnTo>
                  <a:pt x="0" y="1302244"/>
                </a:lnTo>
                <a:lnTo>
                  <a:pt x="0" y="0"/>
                </a:lnTo>
                <a:close/>
              </a:path>
            </a:pathLst>
          </a:custGeom>
          <a:blipFill>
            <a:blip r:embed="rId2"/>
            <a:stretch>
              <a:fillRect/>
            </a:stretch>
          </a:blipFill>
        </p:spPr>
      </p:sp>
      <p:sp>
        <p:nvSpPr>
          <p:cNvPr id="11" name="TextBox 11"/>
          <p:cNvSpPr txBox="1"/>
          <p:nvPr/>
        </p:nvSpPr>
        <p:spPr>
          <a:xfrm>
            <a:off x="201093" y="2941666"/>
            <a:ext cx="17827443" cy="3571876"/>
          </a:xfrm>
          <a:prstGeom prst="rect">
            <a:avLst/>
          </a:prstGeom>
        </p:spPr>
        <p:txBody>
          <a:bodyPr lIns="0" tIns="0" rIns="0" bIns="0" rtlCol="0" anchor="t">
            <a:spAutoFit/>
          </a:bodyPr>
          <a:lstStyle/>
          <a:p>
            <a:pPr algn="just">
              <a:lnSpc>
                <a:spcPts val="4799"/>
              </a:lnSpc>
            </a:pPr>
            <a:r>
              <a:rPr lang="en-US" sz="2999">
                <a:solidFill>
                  <a:srgbClr val="FAF2EA"/>
                </a:solidFill>
                <a:latin typeface="Roboto"/>
                <a:ea typeface="Roboto"/>
                <a:cs typeface="Roboto"/>
                <a:sym typeface="Roboto"/>
              </a:rPr>
              <a:t>Sistem rekomendasi merupakan sebuah sistem yang memperkirakan dan memberikan informasi yang sekiranya menarik bagi seorang pengguna. Sistem rekomendasi bekerja dengan menganalisis data yang berhubungan dengan pengguna seperti riwayat pembelian dan interaksi dengan platform digital. Data tersebut digunakan untuk memprediksi apa yang disukai atau diperlukan oleh pengguna dan memberikan rekomendasi. Pengguna dapat menggunakan rekomendasi yang diberikan sebagai alat pertimbangan dalam melakukan sesuatu seperti membeli barang atau menonton film.</a:t>
            </a:r>
          </a:p>
        </p:txBody>
      </p:sp>
      <p:sp>
        <p:nvSpPr>
          <p:cNvPr id="12" name="TextBox 12"/>
          <p:cNvSpPr txBox="1"/>
          <p:nvPr/>
        </p:nvSpPr>
        <p:spPr>
          <a:xfrm>
            <a:off x="201093" y="2146359"/>
            <a:ext cx="9949740" cy="593725"/>
          </a:xfrm>
          <a:prstGeom prst="rect">
            <a:avLst/>
          </a:prstGeom>
        </p:spPr>
        <p:txBody>
          <a:bodyPr lIns="0" tIns="0" rIns="0" bIns="0" rtlCol="0" anchor="t">
            <a:spAutoFit/>
          </a:bodyPr>
          <a:lstStyle/>
          <a:p>
            <a:pPr algn="l">
              <a:lnSpc>
                <a:spcPts val="3499"/>
              </a:lnSpc>
            </a:pPr>
            <a:r>
              <a:rPr lang="en-US" sz="6999">
                <a:solidFill>
                  <a:srgbClr val="283728"/>
                </a:solidFill>
                <a:latin typeface="Adirek Sans Heavy"/>
                <a:ea typeface="Adirek Sans Heavy"/>
                <a:cs typeface="Adirek Sans Heavy"/>
                <a:sym typeface="Adirek Sans Heavy"/>
              </a:rPr>
              <a:t>SISTEM REKOMENDASI</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2EA"/>
        </a:solidFill>
        <a:effectLst/>
      </p:bgPr>
    </p:bg>
    <p:spTree>
      <p:nvGrpSpPr>
        <p:cNvPr id="1" name=""/>
        <p:cNvGrpSpPr/>
        <p:nvPr/>
      </p:nvGrpSpPr>
      <p:grpSpPr>
        <a:xfrm>
          <a:off x="0" y="0"/>
          <a:ext cx="0" cy="0"/>
          <a:chOff x="0" y="0"/>
          <a:chExt cx="0" cy="0"/>
        </a:xfrm>
      </p:grpSpPr>
      <p:grpSp>
        <p:nvGrpSpPr>
          <p:cNvPr id="2" name="Group 2"/>
          <p:cNvGrpSpPr/>
          <p:nvPr/>
        </p:nvGrpSpPr>
        <p:grpSpPr>
          <a:xfrm>
            <a:off x="0" y="2740084"/>
            <a:ext cx="18288000" cy="7546916"/>
            <a:chOff x="0" y="0"/>
            <a:chExt cx="4816593" cy="1987665"/>
          </a:xfrm>
        </p:grpSpPr>
        <p:sp>
          <p:nvSpPr>
            <p:cNvPr id="3" name="Freeform 3"/>
            <p:cNvSpPr/>
            <p:nvPr/>
          </p:nvSpPr>
          <p:spPr>
            <a:xfrm>
              <a:off x="0" y="0"/>
              <a:ext cx="4816592" cy="1987665"/>
            </a:xfrm>
            <a:custGeom>
              <a:avLst/>
              <a:gdLst/>
              <a:ahLst/>
              <a:cxnLst/>
              <a:rect l="l" t="t" r="r" b="b"/>
              <a:pathLst>
                <a:path w="4816592" h="1987665">
                  <a:moveTo>
                    <a:pt x="0" y="0"/>
                  </a:moveTo>
                  <a:lnTo>
                    <a:pt x="4816592" y="0"/>
                  </a:lnTo>
                  <a:lnTo>
                    <a:pt x="4816592" y="1987665"/>
                  </a:lnTo>
                  <a:lnTo>
                    <a:pt x="0" y="1987665"/>
                  </a:lnTo>
                  <a:close/>
                </a:path>
              </a:pathLst>
            </a:custGeom>
            <a:solidFill>
              <a:srgbClr val="283728"/>
            </a:solidFill>
          </p:spPr>
        </p:sp>
        <p:sp>
          <p:nvSpPr>
            <p:cNvPr id="4" name="TextBox 4"/>
            <p:cNvSpPr txBox="1"/>
            <p:nvPr/>
          </p:nvSpPr>
          <p:spPr>
            <a:xfrm>
              <a:off x="0" y="-47625"/>
              <a:ext cx="4816593" cy="2035290"/>
            </a:xfrm>
            <a:prstGeom prst="rect">
              <a:avLst/>
            </a:prstGeom>
          </p:spPr>
          <p:txBody>
            <a:bodyPr lIns="50800" tIns="50800" rIns="50800" bIns="50800" rtlCol="0" anchor="ctr"/>
            <a:lstStyle/>
            <a:p>
              <a:pPr algn="ctr">
                <a:lnSpc>
                  <a:spcPts val="3079"/>
                </a:lnSpc>
              </a:pPr>
              <a:endParaRPr/>
            </a:p>
          </p:txBody>
        </p:sp>
      </p:grpSp>
      <p:sp>
        <p:nvSpPr>
          <p:cNvPr id="5" name="TextBox 5"/>
          <p:cNvSpPr txBox="1"/>
          <p:nvPr/>
        </p:nvSpPr>
        <p:spPr>
          <a:xfrm>
            <a:off x="16610134" y="9518480"/>
            <a:ext cx="598073" cy="311277"/>
          </a:xfrm>
          <a:prstGeom prst="rect">
            <a:avLst/>
          </a:prstGeom>
        </p:spPr>
        <p:txBody>
          <a:bodyPr lIns="0" tIns="0" rIns="0" bIns="0" rtlCol="0" anchor="t">
            <a:spAutoFit/>
          </a:bodyPr>
          <a:lstStyle/>
          <a:p>
            <a:pPr algn="ctr">
              <a:lnSpc>
                <a:spcPts val="2304"/>
              </a:lnSpc>
            </a:pPr>
            <a:r>
              <a:rPr lang="en-US" sz="2400">
                <a:solidFill>
                  <a:srgbClr val="283728"/>
                </a:solidFill>
                <a:latin typeface="Adirek Sans Bold"/>
                <a:ea typeface="Adirek Sans Bold"/>
                <a:cs typeface="Adirek Sans Bold"/>
                <a:sym typeface="Adirek Sans Bold"/>
              </a:rPr>
              <a:t>2024</a:t>
            </a:r>
          </a:p>
        </p:txBody>
      </p:sp>
      <p:sp>
        <p:nvSpPr>
          <p:cNvPr id="6" name="TextBox 6"/>
          <p:cNvSpPr txBox="1"/>
          <p:nvPr/>
        </p:nvSpPr>
        <p:spPr>
          <a:xfrm>
            <a:off x="201093" y="960220"/>
            <a:ext cx="9949740" cy="978577"/>
          </a:xfrm>
          <a:prstGeom prst="rect">
            <a:avLst/>
          </a:prstGeom>
        </p:spPr>
        <p:txBody>
          <a:bodyPr lIns="0" tIns="0" rIns="0" bIns="0" rtlCol="0" anchor="t">
            <a:spAutoFit/>
          </a:bodyPr>
          <a:lstStyle/>
          <a:p>
            <a:pPr algn="l">
              <a:lnSpc>
                <a:spcPts val="5771"/>
              </a:lnSpc>
            </a:pPr>
            <a:r>
              <a:rPr lang="en-US" sz="11543">
                <a:solidFill>
                  <a:srgbClr val="283728"/>
                </a:solidFill>
                <a:latin typeface="Adirek Sans Heavy"/>
                <a:ea typeface="Adirek Sans Heavy"/>
                <a:cs typeface="Adirek Sans Heavy"/>
                <a:sym typeface="Adirek Sans Heavy"/>
              </a:rPr>
              <a:t>TINJAUAN TEORI</a:t>
            </a:r>
          </a:p>
        </p:txBody>
      </p:sp>
      <p:grpSp>
        <p:nvGrpSpPr>
          <p:cNvPr id="7" name="Group 7"/>
          <p:cNvGrpSpPr/>
          <p:nvPr/>
        </p:nvGrpSpPr>
        <p:grpSpPr>
          <a:xfrm>
            <a:off x="16610134" y="0"/>
            <a:ext cx="1677866" cy="1679634"/>
            <a:chOff x="0" y="0"/>
            <a:chExt cx="568780" cy="569379"/>
          </a:xfrm>
        </p:grpSpPr>
        <p:sp>
          <p:nvSpPr>
            <p:cNvPr id="8" name="Freeform 8"/>
            <p:cNvSpPr/>
            <p:nvPr/>
          </p:nvSpPr>
          <p:spPr>
            <a:xfrm>
              <a:off x="0" y="0"/>
              <a:ext cx="568780" cy="569379"/>
            </a:xfrm>
            <a:custGeom>
              <a:avLst/>
              <a:gdLst/>
              <a:ahLst/>
              <a:cxnLst/>
              <a:rect l="l" t="t" r="r" b="b"/>
              <a:pathLst>
                <a:path w="568780" h="569379">
                  <a:moveTo>
                    <a:pt x="0" y="0"/>
                  </a:moveTo>
                  <a:lnTo>
                    <a:pt x="568780" y="0"/>
                  </a:lnTo>
                  <a:lnTo>
                    <a:pt x="568780" y="569379"/>
                  </a:lnTo>
                  <a:lnTo>
                    <a:pt x="0" y="569379"/>
                  </a:lnTo>
                  <a:close/>
                </a:path>
              </a:pathLst>
            </a:custGeom>
            <a:solidFill>
              <a:srgbClr val="283728"/>
            </a:solidFill>
          </p:spPr>
        </p:sp>
        <p:sp>
          <p:nvSpPr>
            <p:cNvPr id="9" name="TextBox 9"/>
            <p:cNvSpPr txBox="1"/>
            <p:nvPr/>
          </p:nvSpPr>
          <p:spPr>
            <a:xfrm>
              <a:off x="0" y="-47625"/>
              <a:ext cx="568780" cy="617004"/>
            </a:xfrm>
            <a:prstGeom prst="rect">
              <a:avLst/>
            </a:prstGeom>
          </p:spPr>
          <p:txBody>
            <a:bodyPr lIns="50800" tIns="50800" rIns="50800" bIns="50800" rtlCol="0" anchor="ctr"/>
            <a:lstStyle/>
            <a:p>
              <a:pPr algn="ctr">
                <a:lnSpc>
                  <a:spcPts val="3079"/>
                </a:lnSpc>
              </a:pPr>
              <a:endParaRPr/>
            </a:p>
          </p:txBody>
        </p:sp>
      </p:grpSp>
      <p:sp>
        <p:nvSpPr>
          <p:cNvPr id="10" name="Freeform 10"/>
          <p:cNvSpPr/>
          <p:nvPr/>
        </p:nvSpPr>
        <p:spPr>
          <a:xfrm>
            <a:off x="16872103" y="188695"/>
            <a:ext cx="1156433" cy="1302244"/>
          </a:xfrm>
          <a:custGeom>
            <a:avLst/>
            <a:gdLst/>
            <a:ahLst/>
            <a:cxnLst/>
            <a:rect l="l" t="t" r="r" b="b"/>
            <a:pathLst>
              <a:path w="1156433" h="1302244">
                <a:moveTo>
                  <a:pt x="0" y="0"/>
                </a:moveTo>
                <a:lnTo>
                  <a:pt x="1156433" y="0"/>
                </a:lnTo>
                <a:lnTo>
                  <a:pt x="1156433" y="1302244"/>
                </a:lnTo>
                <a:lnTo>
                  <a:pt x="0" y="1302244"/>
                </a:lnTo>
                <a:lnTo>
                  <a:pt x="0" y="0"/>
                </a:lnTo>
                <a:close/>
              </a:path>
            </a:pathLst>
          </a:custGeom>
          <a:blipFill>
            <a:blip r:embed="rId2"/>
            <a:stretch>
              <a:fillRect/>
            </a:stretch>
          </a:blipFill>
        </p:spPr>
      </p:sp>
      <p:sp>
        <p:nvSpPr>
          <p:cNvPr id="11" name="TextBox 11"/>
          <p:cNvSpPr txBox="1"/>
          <p:nvPr/>
        </p:nvSpPr>
        <p:spPr>
          <a:xfrm>
            <a:off x="201093" y="2867175"/>
            <a:ext cx="17827443" cy="2371726"/>
          </a:xfrm>
          <a:prstGeom prst="rect">
            <a:avLst/>
          </a:prstGeom>
        </p:spPr>
        <p:txBody>
          <a:bodyPr lIns="0" tIns="0" rIns="0" bIns="0" rtlCol="0" anchor="t">
            <a:spAutoFit/>
          </a:bodyPr>
          <a:lstStyle/>
          <a:p>
            <a:pPr algn="just">
              <a:lnSpc>
                <a:spcPts val="4799"/>
              </a:lnSpc>
            </a:pPr>
            <a:r>
              <a:rPr lang="en-US" sz="2999">
                <a:solidFill>
                  <a:srgbClr val="FAF2EA"/>
                </a:solidFill>
                <a:latin typeface="Roboto"/>
                <a:ea typeface="Roboto"/>
                <a:cs typeface="Roboto"/>
                <a:sym typeface="Roboto"/>
              </a:rPr>
              <a:t>Collaborative filtering adalah teknik yang digunakan dalam sistem rekomendasi untuk memberikan saran item kepada pengguna berdasarkan preferensi pengguna lain yang serupa. Sistem ini mencari pengguna yang memiliki selera yang sama dengan pengguna yang ingin mendapatkan rekomendasi, dan kemudian merekomendasikan item yang disukai oleh pengguna-pengguna tersebut.</a:t>
            </a:r>
          </a:p>
        </p:txBody>
      </p:sp>
      <p:sp>
        <p:nvSpPr>
          <p:cNvPr id="12" name="TextBox 12"/>
          <p:cNvSpPr txBox="1"/>
          <p:nvPr/>
        </p:nvSpPr>
        <p:spPr>
          <a:xfrm>
            <a:off x="201093" y="2146359"/>
            <a:ext cx="9949740" cy="593725"/>
          </a:xfrm>
          <a:prstGeom prst="rect">
            <a:avLst/>
          </a:prstGeom>
        </p:spPr>
        <p:txBody>
          <a:bodyPr lIns="0" tIns="0" rIns="0" bIns="0" rtlCol="0" anchor="t">
            <a:spAutoFit/>
          </a:bodyPr>
          <a:lstStyle/>
          <a:p>
            <a:pPr algn="l">
              <a:lnSpc>
                <a:spcPts val="3499"/>
              </a:lnSpc>
            </a:pPr>
            <a:r>
              <a:rPr lang="en-US" sz="6999">
                <a:solidFill>
                  <a:srgbClr val="283728"/>
                </a:solidFill>
                <a:latin typeface="Adirek Sans Heavy"/>
                <a:ea typeface="Adirek Sans Heavy"/>
                <a:cs typeface="Adirek Sans Heavy"/>
                <a:sym typeface="Adirek Sans Heavy"/>
              </a:rPr>
              <a:t>COLLABORATIVE FILTERING</a:t>
            </a:r>
          </a:p>
        </p:txBody>
      </p:sp>
      <p:sp>
        <p:nvSpPr>
          <p:cNvPr id="13" name="TextBox 13"/>
          <p:cNvSpPr txBox="1"/>
          <p:nvPr/>
        </p:nvSpPr>
        <p:spPr>
          <a:xfrm>
            <a:off x="201093" y="5681981"/>
            <a:ext cx="17827443" cy="2971801"/>
          </a:xfrm>
          <a:prstGeom prst="rect">
            <a:avLst/>
          </a:prstGeom>
        </p:spPr>
        <p:txBody>
          <a:bodyPr lIns="0" tIns="0" rIns="0" bIns="0" rtlCol="0" anchor="t">
            <a:spAutoFit/>
          </a:bodyPr>
          <a:lstStyle/>
          <a:p>
            <a:pPr algn="just">
              <a:lnSpc>
                <a:spcPts val="4799"/>
              </a:lnSpc>
            </a:pPr>
            <a:r>
              <a:rPr lang="en-US" sz="2999">
                <a:solidFill>
                  <a:srgbClr val="FAF2EA"/>
                </a:solidFill>
                <a:latin typeface="Roboto"/>
                <a:ea typeface="Roboto"/>
                <a:cs typeface="Roboto"/>
                <a:sym typeface="Roboto"/>
              </a:rPr>
              <a:t>Collaborative filtering dapat dibagi menjadi dua kategori yaitu memory-based dan model-based. </a:t>
            </a:r>
          </a:p>
          <a:p>
            <a:pPr marL="647695" lvl="1" indent="-323848" algn="just">
              <a:lnSpc>
                <a:spcPts val="4799"/>
              </a:lnSpc>
              <a:buFont typeface="Arial"/>
              <a:buChar char="•"/>
            </a:pPr>
            <a:r>
              <a:rPr lang="en-US" sz="2999">
                <a:solidFill>
                  <a:srgbClr val="FAF2EA"/>
                </a:solidFill>
                <a:latin typeface="Roboto"/>
                <a:ea typeface="Roboto"/>
                <a:cs typeface="Roboto"/>
                <a:sym typeface="Roboto"/>
              </a:rPr>
              <a:t>Kategori memory-based menggunakan tingkat similaritas untuk memberikan prediksi dengan mencari asosiasi antara pengguna dengan item.  </a:t>
            </a:r>
          </a:p>
          <a:p>
            <a:pPr marL="647695" lvl="1" indent="-323848" algn="just">
              <a:lnSpc>
                <a:spcPts val="4799"/>
              </a:lnSpc>
              <a:buFont typeface="Arial"/>
              <a:buChar char="•"/>
            </a:pPr>
            <a:r>
              <a:rPr lang="en-US" sz="2999">
                <a:solidFill>
                  <a:srgbClr val="FAF2EA"/>
                </a:solidFill>
                <a:latin typeface="Roboto"/>
                <a:ea typeface="Roboto"/>
                <a:cs typeface="Roboto"/>
                <a:sym typeface="Roboto"/>
              </a:rPr>
              <a:t>Model-based menggunakan matriks pengguna-item sebagai data untuk membangun dan melatih sebuah model yang dapat memprediksi penilaian pengguna terhadap suatu item.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2EA"/>
        </a:solidFill>
        <a:effectLst/>
      </p:bgPr>
    </p:bg>
    <p:spTree>
      <p:nvGrpSpPr>
        <p:cNvPr id="1" name=""/>
        <p:cNvGrpSpPr/>
        <p:nvPr/>
      </p:nvGrpSpPr>
      <p:grpSpPr>
        <a:xfrm>
          <a:off x="0" y="0"/>
          <a:ext cx="0" cy="0"/>
          <a:chOff x="0" y="0"/>
          <a:chExt cx="0" cy="0"/>
        </a:xfrm>
      </p:grpSpPr>
      <p:grpSp>
        <p:nvGrpSpPr>
          <p:cNvPr id="2" name="Group 2"/>
          <p:cNvGrpSpPr/>
          <p:nvPr/>
        </p:nvGrpSpPr>
        <p:grpSpPr>
          <a:xfrm>
            <a:off x="-29186" y="2740084"/>
            <a:ext cx="18288000" cy="7546916"/>
            <a:chOff x="0" y="0"/>
            <a:chExt cx="4816593" cy="1987665"/>
          </a:xfrm>
        </p:grpSpPr>
        <p:sp>
          <p:nvSpPr>
            <p:cNvPr id="3" name="Freeform 3"/>
            <p:cNvSpPr/>
            <p:nvPr/>
          </p:nvSpPr>
          <p:spPr>
            <a:xfrm>
              <a:off x="0" y="0"/>
              <a:ext cx="4816592" cy="1987665"/>
            </a:xfrm>
            <a:custGeom>
              <a:avLst/>
              <a:gdLst/>
              <a:ahLst/>
              <a:cxnLst/>
              <a:rect l="l" t="t" r="r" b="b"/>
              <a:pathLst>
                <a:path w="4816592" h="1987665">
                  <a:moveTo>
                    <a:pt x="0" y="0"/>
                  </a:moveTo>
                  <a:lnTo>
                    <a:pt x="4816592" y="0"/>
                  </a:lnTo>
                  <a:lnTo>
                    <a:pt x="4816592" y="1987665"/>
                  </a:lnTo>
                  <a:lnTo>
                    <a:pt x="0" y="1987665"/>
                  </a:lnTo>
                  <a:close/>
                </a:path>
              </a:pathLst>
            </a:custGeom>
            <a:solidFill>
              <a:srgbClr val="283728"/>
            </a:solidFill>
          </p:spPr>
        </p:sp>
        <p:sp>
          <p:nvSpPr>
            <p:cNvPr id="4" name="TextBox 4"/>
            <p:cNvSpPr txBox="1"/>
            <p:nvPr/>
          </p:nvSpPr>
          <p:spPr>
            <a:xfrm>
              <a:off x="0" y="-47625"/>
              <a:ext cx="4816593" cy="2035290"/>
            </a:xfrm>
            <a:prstGeom prst="rect">
              <a:avLst/>
            </a:prstGeom>
          </p:spPr>
          <p:txBody>
            <a:bodyPr lIns="50800" tIns="50800" rIns="50800" bIns="50800" rtlCol="0" anchor="ctr"/>
            <a:lstStyle/>
            <a:p>
              <a:pPr algn="ctr">
                <a:lnSpc>
                  <a:spcPts val="3079"/>
                </a:lnSpc>
              </a:pPr>
              <a:endParaRPr/>
            </a:p>
          </p:txBody>
        </p:sp>
      </p:grpSp>
      <p:grpSp>
        <p:nvGrpSpPr>
          <p:cNvPr id="5" name="Group 5"/>
          <p:cNvGrpSpPr/>
          <p:nvPr/>
        </p:nvGrpSpPr>
        <p:grpSpPr>
          <a:xfrm>
            <a:off x="16610134" y="0"/>
            <a:ext cx="1677866" cy="1679634"/>
            <a:chOff x="0" y="0"/>
            <a:chExt cx="568780" cy="569379"/>
          </a:xfrm>
        </p:grpSpPr>
        <p:sp>
          <p:nvSpPr>
            <p:cNvPr id="6" name="Freeform 6"/>
            <p:cNvSpPr/>
            <p:nvPr/>
          </p:nvSpPr>
          <p:spPr>
            <a:xfrm>
              <a:off x="0" y="0"/>
              <a:ext cx="568780" cy="569379"/>
            </a:xfrm>
            <a:custGeom>
              <a:avLst/>
              <a:gdLst/>
              <a:ahLst/>
              <a:cxnLst/>
              <a:rect l="l" t="t" r="r" b="b"/>
              <a:pathLst>
                <a:path w="568780" h="569379">
                  <a:moveTo>
                    <a:pt x="0" y="0"/>
                  </a:moveTo>
                  <a:lnTo>
                    <a:pt x="568780" y="0"/>
                  </a:lnTo>
                  <a:lnTo>
                    <a:pt x="568780" y="569379"/>
                  </a:lnTo>
                  <a:lnTo>
                    <a:pt x="0" y="569379"/>
                  </a:lnTo>
                  <a:close/>
                </a:path>
              </a:pathLst>
            </a:custGeom>
            <a:solidFill>
              <a:srgbClr val="283728"/>
            </a:solidFill>
          </p:spPr>
        </p:sp>
        <p:sp>
          <p:nvSpPr>
            <p:cNvPr id="7" name="TextBox 7"/>
            <p:cNvSpPr txBox="1"/>
            <p:nvPr/>
          </p:nvSpPr>
          <p:spPr>
            <a:xfrm>
              <a:off x="0" y="-47625"/>
              <a:ext cx="568780" cy="617004"/>
            </a:xfrm>
            <a:prstGeom prst="rect">
              <a:avLst/>
            </a:prstGeom>
          </p:spPr>
          <p:txBody>
            <a:bodyPr lIns="50800" tIns="50800" rIns="50800" bIns="50800" rtlCol="0" anchor="ctr"/>
            <a:lstStyle/>
            <a:p>
              <a:pPr algn="ctr">
                <a:lnSpc>
                  <a:spcPts val="3079"/>
                </a:lnSpc>
              </a:pPr>
              <a:endParaRPr/>
            </a:p>
          </p:txBody>
        </p:sp>
      </p:grpSp>
      <p:sp>
        <p:nvSpPr>
          <p:cNvPr id="8" name="Freeform 8"/>
          <p:cNvSpPr/>
          <p:nvPr/>
        </p:nvSpPr>
        <p:spPr>
          <a:xfrm>
            <a:off x="16872103" y="188695"/>
            <a:ext cx="1156433" cy="1302244"/>
          </a:xfrm>
          <a:custGeom>
            <a:avLst/>
            <a:gdLst/>
            <a:ahLst/>
            <a:cxnLst/>
            <a:rect l="l" t="t" r="r" b="b"/>
            <a:pathLst>
              <a:path w="1156433" h="1302244">
                <a:moveTo>
                  <a:pt x="0" y="0"/>
                </a:moveTo>
                <a:lnTo>
                  <a:pt x="1156433" y="0"/>
                </a:lnTo>
                <a:lnTo>
                  <a:pt x="1156433" y="1302244"/>
                </a:lnTo>
                <a:lnTo>
                  <a:pt x="0" y="1302244"/>
                </a:lnTo>
                <a:lnTo>
                  <a:pt x="0" y="0"/>
                </a:lnTo>
                <a:close/>
              </a:path>
            </a:pathLst>
          </a:custGeom>
          <a:blipFill>
            <a:blip r:embed="rId2"/>
            <a:stretch>
              <a:fillRect/>
            </a:stretch>
          </a:blipFill>
        </p:spPr>
      </p:sp>
      <p:sp>
        <p:nvSpPr>
          <p:cNvPr id="9" name="Freeform 9"/>
          <p:cNvSpPr/>
          <p:nvPr/>
        </p:nvSpPr>
        <p:spPr>
          <a:xfrm>
            <a:off x="5392391" y="5119576"/>
            <a:ext cx="4308776" cy="919851"/>
          </a:xfrm>
          <a:custGeom>
            <a:avLst/>
            <a:gdLst/>
            <a:ahLst/>
            <a:cxnLst/>
            <a:rect l="l" t="t" r="r" b="b"/>
            <a:pathLst>
              <a:path w="4308776" h="919851">
                <a:moveTo>
                  <a:pt x="0" y="0"/>
                </a:moveTo>
                <a:lnTo>
                  <a:pt x="4308776" y="0"/>
                </a:lnTo>
                <a:lnTo>
                  <a:pt x="4308776" y="919852"/>
                </a:lnTo>
                <a:lnTo>
                  <a:pt x="0" y="919852"/>
                </a:lnTo>
                <a:lnTo>
                  <a:pt x="0" y="0"/>
                </a:lnTo>
                <a:close/>
              </a:path>
            </a:pathLst>
          </a:custGeom>
          <a:blipFill>
            <a:blip r:embed="rId3"/>
            <a:stretch>
              <a:fillRect/>
            </a:stretch>
          </a:blipFill>
        </p:spPr>
      </p:sp>
      <p:sp>
        <p:nvSpPr>
          <p:cNvPr id="10" name="TextBox 10"/>
          <p:cNvSpPr txBox="1"/>
          <p:nvPr/>
        </p:nvSpPr>
        <p:spPr>
          <a:xfrm>
            <a:off x="16610134" y="9518480"/>
            <a:ext cx="598073" cy="311277"/>
          </a:xfrm>
          <a:prstGeom prst="rect">
            <a:avLst/>
          </a:prstGeom>
        </p:spPr>
        <p:txBody>
          <a:bodyPr lIns="0" tIns="0" rIns="0" bIns="0" rtlCol="0" anchor="t">
            <a:spAutoFit/>
          </a:bodyPr>
          <a:lstStyle/>
          <a:p>
            <a:pPr algn="ctr">
              <a:lnSpc>
                <a:spcPts val="2304"/>
              </a:lnSpc>
            </a:pPr>
            <a:r>
              <a:rPr lang="en-US" sz="2400">
                <a:solidFill>
                  <a:srgbClr val="283728"/>
                </a:solidFill>
                <a:latin typeface="Adirek Sans Bold"/>
                <a:ea typeface="Adirek Sans Bold"/>
                <a:cs typeface="Adirek Sans Bold"/>
                <a:sym typeface="Adirek Sans Bold"/>
              </a:rPr>
              <a:t>2024</a:t>
            </a:r>
          </a:p>
        </p:txBody>
      </p:sp>
      <p:sp>
        <p:nvSpPr>
          <p:cNvPr id="11" name="TextBox 11"/>
          <p:cNvSpPr txBox="1"/>
          <p:nvPr/>
        </p:nvSpPr>
        <p:spPr>
          <a:xfrm>
            <a:off x="201093" y="960220"/>
            <a:ext cx="9949740" cy="978577"/>
          </a:xfrm>
          <a:prstGeom prst="rect">
            <a:avLst/>
          </a:prstGeom>
        </p:spPr>
        <p:txBody>
          <a:bodyPr lIns="0" tIns="0" rIns="0" bIns="0" rtlCol="0" anchor="t">
            <a:spAutoFit/>
          </a:bodyPr>
          <a:lstStyle/>
          <a:p>
            <a:pPr algn="l">
              <a:lnSpc>
                <a:spcPts val="5771"/>
              </a:lnSpc>
            </a:pPr>
            <a:r>
              <a:rPr lang="en-US" sz="11543">
                <a:solidFill>
                  <a:srgbClr val="283728"/>
                </a:solidFill>
                <a:latin typeface="Adirek Sans Heavy"/>
                <a:ea typeface="Adirek Sans Heavy"/>
                <a:cs typeface="Adirek Sans Heavy"/>
                <a:sym typeface="Adirek Sans Heavy"/>
              </a:rPr>
              <a:t>TINJAUAN TEORI</a:t>
            </a:r>
          </a:p>
        </p:txBody>
      </p:sp>
      <p:sp>
        <p:nvSpPr>
          <p:cNvPr id="12" name="TextBox 12"/>
          <p:cNvSpPr txBox="1"/>
          <p:nvPr/>
        </p:nvSpPr>
        <p:spPr>
          <a:xfrm>
            <a:off x="201093" y="2867175"/>
            <a:ext cx="17827443" cy="1171576"/>
          </a:xfrm>
          <a:prstGeom prst="rect">
            <a:avLst/>
          </a:prstGeom>
        </p:spPr>
        <p:txBody>
          <a:bodyPr lIns="0" tIns="0" rIns="0" bIns="0" rtlCol="0" anchor="t">
            <a:spAutoFit/>
          </a:bodyPr>
          <a:lstStyle/>
          <a:p>
            <a:pPr algn="l">
              <a:lnSpc>
                <a:spcPts val="4799"/>
              </a:lnSpc>
            </a:pPr>
            <a:r>
              <a:rPr lang="en-US" sz="2999">
                <a:solidFill>
                  <a:srgbClr val="FAF2EA"/>
                </a:solidFill>
                <a:latin typeface="Roboto"/>
                <a:ea typeface="Roboto"/>
                <a:cs typeface="Roboto"/>
                <a:sym typeface="Roboto"/>
              </a:rPr>
              <a:t>Variational autoencoder (VAE) adalah model generatif yang mempelajari representasi laten dari data masukan sebagai variabel acak.</a:t>
            </a:r>
          </a:p>
        </p:txBody>
      </p:sp>
      <p:sp>
        <p:nvSpPr>
          <p:cNvPr id="13" name="TextBox 13"/>
          <p:cNvSpPr txBox="1"/>
          <p:nvPr/>
        </p:nvSpPr>
        <p:spPr>
          <a:xfrm>
            <a:off x="201093" y="2146359"/>
            <a:ext cx="11724549" cy="593725"/>
          </a:xfrm>
          <a:prstGeom prst="rect">
            <a:avLst/>
          </a:prstGeom>
        </p:spPr>
        <p:txBody>
          <a:bodyPr lIns="0" tIns="0" rIns="0" bIns="0" rtlCol="0" anchor="t">
            <a:spAutoFit/>
          </a:bodyPr>
          <a:lstStyle/>
          <a:p>
            <a:pPr algn="l">
              <a:lnSpc>
                <a:spcPts val="3499"/>
              </a:lnSpc>
            </a:pPr>
            <a:r>
              <a:rPr lang="en-US" sz="6999">
                <a:solidFill>
                  <a:srgbClr val="283728"/>
                </a:solidFill>
                <a:latin typeface="Adirek Sans Heavy"/>
                <a:ea typeface="Adirek Sans Heavy"/>
                <a:cs typeface="Adirek Sans Heavy"/>
                <a:sym typeface="Adirek Sans Heavy"/>
              </a:rPr>
              <a:t>VARIATIONAL AUTOENCODER (VAE)</a:t>
            </a:r>
          </a:p>
        </p:txBody>
      </p:sp>
      <p:sp>
        <p:nvSpPr>
          <p:cNvPr id="14" name="TextBox 14"/>
          <p:cNvSpPr txBox="1"/>
          <p:nvPr/>
        </p:nvSpPr>
        <p:spPr>
          <a:xfrm>
            <a:off x="201093" y="4300425"/>
            <a:ext cx="5524398" cy="571501"/>
          </a:xfrm>
          <a:prstGeom prst="rect">
            <a:avLst/>
          </a:prstGeom>
        </p:spPr>
        <p:txBody>
          <a:bodyPr lIns="0" tIns="0" rIns="0" bIns="0" rtlCol="0" anchor="t">
            <a:spAutoFit/>
          </a:bodyPr>
          <a:lstStyle/>
          <a:p>
            <a:pPr algn="l">
              <a:lnSpc>
                <a:spcPts val="4799"/>
              </a:lnSpc>
            </a:pPr>
            <a:r>
              <a:rPr lang="en-US" sz="2999">
                <a:solidFill>
                  <a:srgbClr val="FAF2EA"/>
                </a:solidFill>
                <a:latin typeface="Roboto"/>
                <a:ea typeface="Roboto"/>
                <a:cs typeface="Roboto"/>
                <a:sym typeface="Roboto"/>
              </a:rPr>
              <a:t>VAE mempelajari data sebagai </a:t>
            </a:r>
          </a:p>
        </p:txBody>
      </p:sp>
      <p:sp>
        <p:nvSpPr>
          <p:cNvPr id="15" name="TextBox 15"/>
          <p:cNvSpPr txBox="1"/>
          <p:nvPr/>
        </p:nvSpPr>
        <p:spPr>
          <a:xfrm>
            <a:off x="5392391" y="6306128"/>
            <a:ext cx="6041333" cy="2030730"/>
          </a:xfrm>
          <a:prstGeom prst="rect">
            <a:avLst/>
          </a:prstGeom>
        </p:spPr>
        <p:txBody>
          <a:bodyPr lIns="0" tIns="0" rIns="0" bIns="0" rtlCol="0" anchor="t">
            <a:spAutoFit/>
          </a:bodyPr>
          <a:lstStyle/>
          <a:p>
            <a:pPr algn="l">
              <a:lnSpc>
                <a:spcPts val="3209"/>
              </a:lnSpc>
            </a:pPr>
            <a:r>
              <a:rPr lang="en-US" sz="2999">
                <a:solidFill>
                  <a:srgbClr val="FAF2EA"/>
                </a:solidFill>
                <a:latin typeface="Roboto"/>
                <a:ea typeface="Roboto"/>
                <a:cs typeface="Roboto"/>
                <a:sym typeface="Roboto"/>
              </a:rPr>
              <a:t>x          = data masukan</a:t>
            </a:r>
          </a:p>
          <a:p>
            <a:pPr algn="l">
              <a:lnSpc>
                <a:spcPts val="3209"/>
              </a:lnSpc>
            </a:pPr>
            <a:r>
              <a:rPr lang="en-US" sz="2999">
                <a:solidFill>
                  <a:srgbClr val="FAF2EA"/>
                </a:solidFill>
                <a:latin typeface="Roboto"/>
                <a:ea typeface="Roboto"/>
                <a:cs typeface="Roboto"/>
                <a:sym typeface="Roboto"/>
              </a:rPr>
              <a:t>z          = representasi laten </a:t>
            </a:r>
          </a:p>
          <a:p>
            <a:pPr algn="l">
              <a:lnSpc>
                <a:spcPts val="3209"/>
              </a:lnSpc>
            </a:pPr>
            <a:r>
              <a:rPr lang="en-US" sz="2999">
                <a:solidFill>
                  <a:srgbClr val="FAF2EA"/>
                </a:solidFill>
                <a:latin typeface="Roboto"/>
                <a:ea typeface="Roboto"/>
                <a:cs typeface="Roboto"/>
                <a:sym typeface="Roboto"/>
              </a:rPr>
              <a:t>p(x, z) = distribusi bersama x dan z</a:t>
            </a:r>
          </a:p>
          <a:p>
            <a:pPr algn="l">
              <a:lnSpc>
                <a:spcPts val="3209"/>
              </a:lnSpc>
            </a:pPr>
            <a:r>
              <a:rPr lang="en-US" sz="2999">
                <a:solidFill>
                  <a:srgbClr val="FAF2EA"/>
                </a:solidFill>
                <a:latin typeface="Roboto"/>
                <a:ea typeface="Roboto"/>
                <a:cs typeface="Roboto"/>
                <a:sym typeface="Roboto"/>
              </a:rPr>
              <a:t>p(x|z)  = probabilitas x diberikan z</a:t>
            </a:r>
          </a:p>
          <a:p>
            <a:pPr algn="l">
              <a:lnSpc>
                <a:spcPts val="3209"/>
              </a:lnSpc>
            </a:pPr>
            <a:r>
              <a:rPr lang="en-US" sz="2999">
                <a:solidFill>
                  <a:srgbClr val="FAF2EA"/>
                </a:solidFill>
                <a:latin typeface="Roboto"/>
                <a:ea typeface="Roboto"/>
                <a:cs typeface="Roboto"/>
                <a:sym typeface="Roboto"/>
              </a:rPr>
              <a:t>p(z)     = prior z</a:t>
            </a:r>
          </a:p>
        </p:txBody>
      </p:sp>
      <p:sp>
        <p:nvSpPr>
          <p:cNvPr id="16" name="TextBox 16"/>
          <p:cNvSpPr txBox="1"/>
          <p:nvPr/>
        </p:nvSpPr>
        <p:spPr>
          <a:xfrm>
            <a:off x="201093" y="8460682"/>
            <a:ext cx="10845760" cy="571501"/>
          </a:xfrm>
          <a:prstGeom prst="rect">
            <a:avLst/>
          </a:prstGeom>
        </p:spPr>
        <p:txBody>
          <a:bodyPr lIns="0" tIns="0" rIns="0" bIns="0" rtlCol="0" anchor="t">
            <a:spAutoFit/>
          </a:bodyPr>
          <a:lstStyle/>
          <a:p>
            <a:pPr algn="l">
              <a:lnSpc>
                <a:spcPts val="4799"/>
              </a:lnSpc>
            </a:pPr>
            <a:r>
              <a:rPr lang="en-US" sz="2999">
                <a:solidFill>
                  <a:srgbClr val="FAF2EA"/>
                </a:solidFill>
                <a:latin typeface="Roboto"/>
                <a:ea typeface="Roboto"/>
                <a:cs typeface="Roboto"/>
                <a:sym typeface="Roboto"/>
              </a:rPr>
              <a:t>Prior dari z, p(z), biasanya merupakan distribusi Gaussian N(0, I)</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2EA"/>
        </a:solidFill>
        <a:effectLst/>
      </p:bgPr>
    </p:bg>
    <p:spTree>
      <p:nvGrpSpPr>
        <p:cNvPr id="1" name=""/>
        <p:cNvGrpSpPr/>
        <p:nvPr/>
      </p:nvGrpSpPr>
      <p:grpSpPr>
        <a:xfrm>
          <a:off x="0" y="0"/>
          <a:ext cx="0" cy="0"/>
          <a:chOff x="0" y="0"/>
          <a:chExt cx="0" cy="0"/>
        </a:xfrm>
      </p:grpSpPr>
      <p:grpSp>
        <p:nvGrpSpPr>
          <p:cNvPr id="2" name="Group 2"/>
          <p:cNvGrpSpPr/>
          <p:nvPr/>
        </p:nvGrpSpPr>
        <p:grpSpPr>
          <a:xfrm>
            <a:off x="0" y="2740084"/>
            <a:ext cx="18288000" cy="7546916"/>
            <a:chOff x="0" y="0"/>
            <a:chExt cx="4816593" cy="1987665"/>
          </a:xfrm>
        </p:grpSpPr>
        <p:sp>
          <p:nvSpPr>
            <p:cNvPr id="3" name="Freeform 3"/>
            <p:cNvSpPr/>
            <p:nvPr/>
          </p:nvSpPr>
          <p:spPr>
            <a:xfrm>
              <a:off x="0" y="0"/>
              <a:ext cx="4816592" cy="1987665"/>
            </a:xfrm>
            <a:custGeom>
              <a:avLst/>
              <a:gdLst/>
              <a:ahLst/>
              <a:cxnLst/>
              <a:rect l="l" t="t" r="r" b="b"/>
              <a:pathLst>
                <a:path w="4816592" h="1987665">
                  <a:moveTo>
                    <a:pt x="0" y="0"/>
                  </a:moveTo>
                  <a:lnTo>
                    <a:pt x="4816592" y="0"/>
                  </a:lnTo>
                  <a:lnTo>
                    <a:pt x="4816592" y="1987665"/>
                  </a:lnTo>
                  <a:lnTo>
                    <a:pt x="0" y="1987665"/>
                  </a:lnTo>
                  <a:close/>
                </a:path>
              </a:pathLst>
            </a:custGeom>
            <a:solidFill>
              <a:srgbClr val="283728"/>
            </a:solidFill>
          </p:spPr>
        </p:sp>
        <p:sp>
          <p:nvSpPr>
            <p:cNvPr id="4" name="TextBox 4"/>
            <p:cNvSpPr txBox="1"/>
            <p:nvPr/>
          </p:nvSpPr>
          <p:spPr>
            <a:xfrm>
              <a:off x="0" y="-47625"/>
              <a:ext cx="4816593" cy="2035290"/>
            </a:xfrm>
            <a:prstGeom prst="rect">
              <a:avLst/>
            </a:prstGeom>
          </p:spPr>
          <p:txBody>
            <a:bodyPr lIns="50800" tIns="50800" rIns="50800" bIns="50800" rtlCol="0" anchor="ctr"/>
            <a:lstStyle/>
            <a:p>
              <a:pPr algn="ctr">
                <a:lnSpc>
                  <a:spcPts val="3079"/>
                </a:lnSpc>
              </a:pPr>
              <a:endParaRPr/>
            </a:p>
          </p:txBody>
        </p:sp>
      </p:grpSp>
      <p:grpSp>
        <p:nvGrpSpPr>
          <p:cNvPr id="5" name="Group 5"/>
          <p:cNvGrpSpPr/>
          <p:nvPr/>
        </p:nvGrpSpPr>
        <p:grpSpPr>
          <a:xfrm>
            <a:off x="16610134" y="0"/>
            <a:ext cx="1677866" cy="1679634"/>
            <a:chOff x="0" y="0"/>
            <a:chExt cx="568780" cy="569379"/>
          </a:xfrm>
        </p:grpSpPr>
        <p:sp>
          <p:nvSpPr>
            <p:cNvPr id="6" name="Freeform 6"/>
            <p:cNvSpPr/>
            <p:nvPr/>
          </p:nvSpPr>
          <p:spPr>
            <a:xfrm>
              <a:off x="0" y="0"/>
              <a:ext cx="568780" cy="569379"/>
            </a:xfrm>
            <a:custGeom>
              <a:avLst/>
              <a:gdLst/>
              <a:ahLst/>
              <a:cxnLst/>
              <a:rect l="l" t="t" r="r" b="b"/>
              <a:pathLst>
                <a:path w="568780" h="569379">
                  <a:moveTo>
                    <a:pt x="0" y="0"/>
                  </a:moveTo>
                  <a:lnTo>
                    <a:pt x="568780" y="0"/>
                  </a:lnTo>
                  <a:lnTo>
                    <a:pt x="568780" y="569379"/>
                  </a:lnTo>
                  <a:lnTo>
                    <a:pt x="0" y="569379"/>
                  </a:lnTo>
                  <a:close/>
                </a:path>
              </a:pathLst>
            </a:custGeom>
            <a:solidFill>
              <a:srgbClr val="283728"/>
            </a:solidFill>
          </p:spPr>
        </p:sp>
        <p:sp>
          <p:nvSpPr>
            <p:cNvPr id="7" name="TextBox 7"/>
            <p:cNvSpPr txBox="1"/>
            <p:nvPr/>
          </p:nvSpPr>
          <p:spPr>
            <a:xfrm>
              <a:off x="0" y="-47625"/>
              <a:ext cx="568780" cy="617004"/>
            </a:xfrm>
            <a:prstGeom prst="rect">
              <a:avLst/>
            </a:prstGeom>
          </p:spPr>
          <p:txBody>
            <a:bodyPr lIns="50800" tIns="50800" rIns="50800" bIns="50800" rtlCol="0" anchor="ctr"/>
            <a:lstStyle/>
            <a:p>
              <a:pPr algn="ctr">
                <a:lnSpc>
                  <a:spcPts val="3079"/>
                </a:lnSpc>
              </a:pPr>
              <a:endParaRPr/>
            </a:p>
          </p:txBody>
        </p:sp>
      </p:grpSp>
      <p:sp>
        <p:nvSpPr>
          <p:cNvPr id="8" name="Freeform 8"/>
          <p:cNvSpPr/>
          <p:nvPr/>
        </p:nvSpPr>
        <p:spPr>
          <a:xfrm>
            <a:off x="16872103" y="188695"/>
            <a:ext cx="1156433" cy="1302244"/>
          </a:xfrm>
          <a:custGeom>
            <a:avLst/>
            <a:gdLst/>
            <a:ahLst/>
            <a:cxnLst/>
            <a:rect l="l" t="t" r="r" b="b"/>
            <a:pathLst>
              <a:path w="1156433" h="1302244">
                <a:moveTo>
                  <a:pt x="0" y="0"/>
                </a:moveTo>
                <a:lnTo>
                  <a:pt x="1156433" y="0"/>
                </a:lnTo>
                <a:lnTo>
                  <a:pt x="1156433" y="1302244"/>
                </a:lnTo>
                <a:lnTo>
                  <a:pt x="0" y="1302244"/>
                </a:lnTo>
                <a:lnTo>
                  <a:pt x="0" y="0"/>
                </a:lnTo>
                <a:close/>
              </a:path>
            </a:pathLst>
          </a:custGeom>
          <a:blipFill>
            <a:blip r:embed="rId2"/>
            <a:stretch>
              <a:fillRect/>
            </a:stretch>
          </a:blipFill>
        </p:spPr>
      </p:sp>
      <p:sp>
        <p:nvSpPr>
          <p:cNvPr id="9" name="Freeform 9"/>
          <p:cNvSpPr/>
          <p:nvPr/>
        </p:nvSpPr>
        <p:spPr>
          <a:xfrm>
            <a:off x="5392391" y="5119576"/>
            <a:ext cx="5186057" cy="919851"/>
          </a:xfrm>
          <a:custGeom>
            <a:avLst/>
            <a:gdLst/>
            <a:ahLst/>
            <a:cxnLst/>
            <a:rect l="l" t="t" r="r" b="b"/>
            <a:pathLst>
              <a:path w="5186057" h="919851">
                <a:moveTo>
                  <a:pt x="0" y="0"/>
                </a:moveTo>
                <a:lnTo>
                  <a:pt x="5186057" y="0"/>
                </a:lnTo>
                <a:lnTo>
                  <a:pt x="5186057" y="919852"/>
                </a:lnTo>
                <a:lnTo>
                  <a:pt x="0" y="919852"/>
                </a:lnTo>
                <a:lnTo>
                  <a:pt x="0" y="0"/>
                </a:lnTo>
                <a:close/>
              </a:path>
            </a:pathLst>
          </a:custGeom>
          <a:blipFill>
            <a:blip r:embed="rId3"/>
            <a:stretch>
              <a:fillRect/>
            </a:stretch>
          </a:blipFill>
        </p:spPr>
      </p:sp>
      <p:sp>
        <p:nvSpPr>
          <p:cNvPr id="10" name="TextBox 10"/>
          <p:cNvSpPr txBox="1"/>
          <p:nvPr/>
        </p:nvSpPr>
        <p:spPr>
          <a:xfrm>
            <a:off x="16610134" y="9518480"/>
            <a:ext cx="598073" cy="311277"/>
          </a:xfrm>
          <a:prstGeom prst="rect">
            <a:avLst/>
          </a:prstGeom>
        </p:spPr>
        <p:txBody>
          <a:bodyPr lIns="0" tIns="0" rIns="0" bIns="0" rtlCol="0" anchor="t">
            <a:spAutoFit/>
          </a:bodyPr>
          <a:lstStyle/>
          <a:p>
            <a:pPr algn="ctr">
              <a:lnSpc>
                <a:spcPts val="2304"/>
              </a:lnSpc>
            </a:pPr>
            <a:r>
              <a:rPr lang="en-US" sz="2400">
                <a:solidFill>
                  <a:srgbClr val="283728"/>
                </a:solidFill>
                <a:latin typeface="Adirek Sans Bold"/>
                <a:ea typeface="Adirek Sans Bold"/>
                <a:cs typeface="Adirek Sans Bold"/>
                <a:sym typeface="Adirek Sans Bold"/>
              </a:rPr>
              <a:t>2024</a:t>
            </a:r>
          </a:p>
        </p:txBody>
      </p:sp>
      <p:sp>
        <p:nvSpPr>
          <p:cNvPr id="11" name="TextBox 11"/>
          <p:cNvSpPr txBox="1"/>
          <p:nvPr/>
        </p:nvSpPr>
        <p:spPr>
          <a:xfrm>
            <a:off x="201093" y="960220"/>
            <a:ext cx="9949740" cy="978577"/>
          </a:xfrm>
          <a:prstGeom prst="rect">
            <a:avLst/>
          </a:prstGeom>
        </p:spPr>
        <p:txBody>
          <a:bodyPr lIns="0" tIns="0" rIns="0" bIns="0" rtlCol="0" anchor="t">
            <a:spAutoFit/>
          </a:bodyPr>
          <a:lstStyle/>
          <a:p>
            <a:pPr algn="l">
              <a:lnSpc>
                <a:spcPts val="5771"/>
              </a:lnSpc>
            </a:pPr>
            <a:r>
              <a:rPr lang="en-US" sz="11543">
                <a:solidFill>
                  <a:srgbClr val="283728"/>
                </a:solidFill>
                <a:latin typeface="Adirek Sans Heavy"/>
                <a:ea typeface="Adirek Sans Heavy"/>
                <a:cs typeface="Adirek Sans Heavy"/>
                <a:sym typeface="Adirek Sans Heavy"/>
              </a:rPr>
              <a:t>TINJAUAN TEORI</a:t>
            </a:r>
          </a:p>
        </p:txBody>
      </p:sp>
      <p:sp>
        <p:nvSpPr>
          <p:cNvPr id="12" name="TextBox 12"/>
          <p:cNvSpPr txBox="1"/>
          <p:nvPr/>
        </p:nvSpPr>
        <p:spPr>
          <a:xfrm>
            <a:off x="201093" y="2867175"/>
            <a:ext cx="17827443" cy="1171576"/>
          </a:xfrm>
          <a:prstGeom prst="rect">
            <a:avLst/>
          </a:prstGeom>
        </p:spPr>
        <p:txBody>
          <a:bodyPr lIns="0" tIns="0" rIns="0" bIns="0" rtlCol="0" anchor="t">
            <a:spAutoFit/>
          </a:bodyPr>
          <a:lstStyle/>
          <a:p>
            <a:pPr algn="l">
              <a:lnSpc>
                <a:spcPts val="4799"/>
              </a:lnSpc>
            </a:pPr>
            <a:r>
              <a:rPr lang="en-US" sz="2999">
                <a:solidFill>
                  <a:srgbClr val="FAF2EA"/>
                </a:solidFill>
                <a:latin typeface="Roboto"/>
                <a:ea typeface="Roboto"/>
                <a:cs typeface="Roboto"/>
                <a:sym typeface="Roboto"/>
              </a:rPr>
              <a:t>Posterior p(z|x) dapat berupa distribusi non-linear non-gaussian dengan demikian tidak dapat dihitung secara langsung karena kompleksitasnya (intractable).</a:t>
            </a:r>
          </a:p>
        </p:txBody>
      </p:sp>
      <p:sp>
        <p:nvSpPr>
          <p:cNvPr id="13" name="TextBox 13"/>
          <p:cNvSpPr txBox="1"/>
          <p:nvPr/>
        </p:nvSpPr>
        <p:spPr>
          <a:xfrm>
            <a:off x="201093" y="2146359"/>
            <a:ext cx="11724549" cy="593725"/>
          </a:xfrm>
          <a:prstGeom prst="rect">
            <a:avLst/>
          </a:prstGeom>
        </p:spPr>
        <p:txBody>
          <a:bodyPr lIns="0" tIns="0" rIns="0" bIns="0" rtlCol="0" anchor="t">
            <a:spAutoFit/>
          </a:bodyPr>
          <a:lstStyle/>
          <a:p>
            <a:pPr algn="l">
              <a:lnSpc>
                <a:spcPts val="3499"/>
              </a:lnSpc>
            </a:pPr>
            <a:r>
              <a:rPr lang="en-US" sz="6999">
                <a:solidFill>
                  <a:srgbClr val="283728"/>
                </a:solidFill>
                <a:latin typeface="Adirek Sans Heavy"/>
                <a:ea typeface="Adirek Sans Heavy"/>
                <a:cs typeface="Adirek Sans Heavy"/>
                <a:sym typeface="Adirek Sans Heavy"/>
              </a:rPr>
              <a:t>VARIATIONAL AUTOENCODER (VAE)</a:t>
            </a:r>
          </a:p>
        </p:txBody>
      </p:sp>
      <p:sp>
        <p:nvSpPr>
          <p:cNvPr id="14" name="TextBox 14"/>
          <p:cNvSpPr txBox="1"/>
          <p:nvPr/>
        </p:nvSpPr>
        <p:spPr>
          <a:xfrm>
            <a:off x="201093" y="4300425"/>
            <a:ext cx="7345686" cy="571501"/>
          </a:xfrm>
          <a:prstGeom prst="rect">
            <a:avLst/>
          </a:prstGeom>
        </p:spPr>
        <p:txBody>
          <a:bodyPr lIns="0" tIns="0" rIns="0" bIns="0" rtlCol="0" anchor="t">
            <a:spAutoFit/>
          </a:bodyPr>
          <a:lstStyle/>
          <a:p>
            <a:pPr algn="l">
              <a:lnSpc>
                <a:spcPts val="4799"/>
              </a:lnSpc>
            </a:pPr>
            <a:r>
              <a:rPr lang="en-US" sz="2999">
                <a:solidFill>
                  <a:srgbClr val="FAF2EA"/>
                </a:solidFill>
                <a:latin typeface="Roboto"/>
                <a:ea typeface="Roboto"/>
                <a:cs typeface="Roboto"/>
                <a:sym typeface="Roboto"/>
              </a:rPr>
              <a:t>VAE akan memperkirakan posterior dengan </a:t>
            </a:r>
          </a:p>
        </p:txBody>
      </p:sp>
      <p:sp>
        <p:nvSpPr>
          <p:cNvPr id="15" name="TextBox 15"/>
          <p:cNvSpPr txBox="1"/>
          <p:nvPr/>
        </p:nvSpPr>
        <p:spPr>
          <a:xfrm>
            <a:off x="5392391" y="6306128"/>
            <a:ext cx="6282569" cy="1630680"/>
          </a:xfrm>
          <a:prstGeom prst="rect">
            <a:avLst/>
          </a:prstGeom>
        </p:spPr>
        <p:txBody>
          <a:bodyPr lIns="0" tIns="0" rIns="0" bIns="0" rtlCol="0" anchor="t">
            <a:spAutoFit/>
          </a:bodyPr>
          <a:lstStyle/>
          <a:p>
            <a:pPr algn="l">
              <a:lnSpc>
                <a:spcPts val="3209"/>
              </a:lnSpc>
            </a:pPr>
            <a:r>
              <a:rPr lang="en-US" sz="2999">
                <a:solidFill>
                  <a:srgbClr val="FAF2EA"/>
                </a:solidFill>
                <a:latin typeface="Roboto"/>
                <a:ea typeface="Roboto"/>
                <a:cs typeface="Roboto"/>
                <a:sym typeface="Roboto"/>
              </a:rPr>
              <a:t>q(z|x) = distribusi aproksimasi p(z|x)</a:t>
            </a:r>
          </a:p>
          <a:p>
            <a:pPr algn="l">
              <a:lnSpc>
                <a:spcPts val="3209"/>
              </a:lnSpc>
            </a:pPr>
            <a:r>
              <a:rPr lang="en-US" sz="2999">
                <a:solidFill>
                  <a:srgbClr val="FAF2EA"/>
                </a:solidFill>
                <a:latin typeface="Roboto"/>
                <a:ea typeface="Roboto"/>
                <a:cs typeface="Roboto"/>
                <a:sym typeface="Roboto"/>
              </a:rPr>
              <a:t>μ(x)    = rata-rata yang ditentukan x</a:t>
            </a:r>
          </a:p>
          <a:p>
            <a:pPr algn="l">
              <a:lnSpc>
                <a:spcPts val="3209"/>
              </a:lnSpc>
            </a:pPr>
            <a:r>
              <a:rPr lang="en-US" sz="2999">
                <a:solidFill>
                  <a:srgbClr val="FAF2EA"/>
                </a:solidFill>
                <a:latin typeface="Roboto"/>
                <a:ea typeface="Roboto"/>
                <a:cs typeface="Roboto"/>
                <a:sym typeface="Roboto"/>
              </a:rPr>
              <a:t>σ(x)    = varians yang ditentukan x</a:t>
            </a:r>
          </a:p>
          <a:p>
            <a:pPr algn="l">
              <a:lnSpc>
                <a:spcPts val="3209"/>
              </a:lnSpc>
            </a:pPr>
            <a:r>
              <a:rPr lang="en-US" sz="2999">
                <a:solidFill>
                  <a:srgbClr val="FAF2EA"/>
                </a:solidFill>
                <a:latin typeface="Roboto"/>
                <a:ea typeface="Roboto"/>
                <a:cs typeface="Roboto"/>
                <a:sym typeface="Roboto"/>
              </a:rPr>
              <a:t>z         = variabel acak</a:t>
            </a:r>
          </a:p>
        </p:txBody>
      </p:sp>
      <p:sp>
        <p:nvSpPr>
          <p:cNvPr id="16" name="TextBox 16"/>
          <p:cNvSpPr txBox="1"/>
          <p:nvPr/>
        </p:nvSpPr>
        <p:spPr>
          <a:xfrm>
            <a:off x="201093" y="8060632"/>
            <a:ext cx="10845760" cy="571501"/>
          </a:xfrm>
          <a:prstGeom prst="rect">
            <a:avLst/>
          </a:prstGeom>
        </p:spPr>
        <p:txBody>
          <a:bodyPr lIns="0" tIns="0" rIns="0" bIns="0" rtlCol="0" anchor="t">
            <a:spAutoFit/>
          </a:bodyPr>
          <a:lstStyle/>
          <a:p>
            <a:pPr algn="l">
              <a:lnSpc>
                <a:spcPts val="4799"/>
              </a:lnSpc>
            </a:pPr>
            <a:r>
              <a:rPr lang="en-US" sz="2999">
                <a:solidFill>
                  <a:srgbClr val="FAF2EA"/>
                </a:solidFill>
                <a:latin typeface="Roboto"/>
                <a:ea typeface="Roboto"/>
                <a:cs typeface="Roboto"/>
                <a:sym typeface="Roboto"/>
              </a:rPr>
              <a:t>Rata-rata dan varians ditentukan oleh variabel x</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2EA"/>
        </a:solidFill>
        <a:effectLst/>
      </p:bgPr>
    </p:bg>
    <p:spTree>
      <p:nvGrpSpPr>
        <p:cNvPr id="1" name=""/>
        <p:cNvGrpSpPr/>
        <p:nvPr/>
      </p:nvGrpSpPr>
      <p:grpSpPr>
        <a:xfrm>
          <a:off x="0" y="0"/>
          <a:ext cx="0" cy="0"/>
          <a:chOff x="0" y="0"/>
          <a:chExt cx="0" cy="0"/>
        </a:xfrm>
      </p:grpSpPr>
      <p:grpSp>
        <p:nvGrpSpPr>
          <p:cNvPr id="2" name="Group 2"/>
          <p:cNvGrpSpPr/>
          <p:nvPr/>
        </p:nvGrpSpPr>
        <p:grpSpPr>
          <a:xfrm>
            <a:off x="0" y="2740084"/>
            <a:ext cx="18288000" cy="7546916"/>
            <a:chOff x="0" y="0"/>
            <a:chExt cx="4816593" cy="1987665"/>
          </a:xfrm>
        </p:grpSpPr>
        <p:sp>
          <p:nvSpPr>
            <p:cNvPr id="3" name="Freeform 3"/>
            <p:cNvSpPr/>
            <p:nvPr/>
          </p:nvSpPr>
          <p:spPr>
            <a:xfrm>
              <a:off x="0" y="0"/>
              <a:ext cx="4816592" cy="1987665"/>
            </a:xfrm>
            <a:custGeom>
              <a:avLst/>
              <a:gdLst/>
              <a:ahLst/>
              <a:cxnLst/>
              <a:rect l="l" t="t" r="r" b="b"/>
              <a:pathLst>
                <a:path w="4816592" h="1987665">
                  <a:moveTo>
                    <a:pt x="0" y="0"/>
                  </a:moveTo>
                  <a:lnTo>
                    <a:pt x="4816592" y="0"/>
                  </a:lnTo>
                  <a:lnTo>
                    <a:pt x="4816592" y="1987665"/>
                  </a:lnTo>
                  <a:lnTo>
                    <a:pt x="0" y="1987665"/>
                  </a:lnTo>
                  <a:close/>
                </a:path>
              </a:pathLst>
            </a:custGeom>
            <a:solidFill>
              <a:srgbClr val="283728"/>
            </a:solidFill>
          </p:spPr>
        </p:sp>
        <p:sp>
          <p:nvSpPr>
            <p:cNvPr id="4" name="TextBox 4"/>
            <p:cNvSpPr txBox="1"/>
            <p:nvPr/>
          </p:nvSpPr>
          <p:spPr>
            <a:xfrm>
              <a:off x="0" y="-47625"/>
              <a:ext cx="4816593" cy="2035290"/>
            </a:xfrm>
            <a:prstGeom prst="rect">
              <a:avLst/>
            </a:prstGeom>
          </p:spPr>
          <p:txBody>
            <a:bodyPr lIns="50800" tIns="50800" rIns="50800" bIns="50800" rtlCol="0" anchor="ctr"/>
            <a:lstStyle/>
            <a:p>
              <a:pPr algn="ctr">
                <a:lnSpc>
                  <a:spcPts val="3079"/>
                </a:lnSpc>
              </a:pPr>
              <a:endParaRPr/>
            </a:p>
          </p:txBody>
        </p:sp>
      </p:grpSp>
      <p:grpSp>
        <p:nvGrpSpPr>
          <p:cNvPr id="5" name="Group 5"/>
          <p:cNvGrpSpPr/>
          <p:nvPr/>
        </p:nvGrpSpPr>
        <p:grpSpPr>
          <a:xfrm>
            <a:off x="16610134" y="0"/>
            <a:ext cx="1677866" cy="1679634"/>
            <a:chOff x="0" y="0"/>
            <a:chExt cx="568780" cy="569379"/>
          </a:xfrm>
        </p:grpSpPr>
        <p:sp>
          <p:nvSpPr>
            <p:cNvPr id="6" name="Freeform 6"/>
            <p:cNvSpPr/>
            <p:nvPr/>
          </p:nvSpPr>
          <p:spPr>
            <a:xfrm>
              <a:off x="0" y="0"/>
              <a:ext cx="568780" cy="569379"/>
            </a:xfrm>
            <a:custGeom>
              <a:avLst/>
              <a:gdLst/>
              <a:ahLst/>
              <a:cxnLst/>
              <a:rect l="l" t="t" r="r" b="b"/>
              <a:pathLst>
                <a:path w="568780" h="569379">
                  <a:moveTo>
                    <a:pt x="0" y="0"/>
                  </a:moveTo>
                  <a:lnTo>
                    <a:pt x="568780" y="0"/>
                  </a:lnTo>
                  <a:lnTo>
                    <a:pt x="568780" y="569379"/>
                  </a:lnTo>
                  <a:lnTo>
                    <a:pt x="0" y="569379"/>
                  </a:lnTo>
                  <a:close/>
                </a:path>
              </a:pathLst>
            </a:custGeom>
            <a:solidFill>
              <a:srgbClr val="283728"/>
            </a:solidFill>
          </p:spPr>
        </p:sp>
        <p:sp>
          <p:nvSpPr>
            <p:cNvPr id="7" name="TextBox 7"/>
            <p:cNvSpPr txBox="1"/>
            <p:nvPr/>
          </p:nvSpPr>
          <p:spPr>
            <a:xfrm>
              <a:off x="0" y="-47625"/>
              <a:ext cx="568780" cy="617004"/>
            </a:xfrm>
            <a:prstGeom prst="rect">
              <a:avLst/>
            </a:prstGeom>
          </p:spPr>
          <p:txBody>
            <a:bodyPr lIns="50800" tIns="50800" rIns="50800" bIns="50800" rtlCol="0" anchor="ctr"/>
            <a:lstStyle/>
            <a:p>
              <a:pPr algn="ctr">
                <a:lnSpc>
                  <a:spcPts val="3079"/>
                </a:lnSpc>
              </a:pPr>
              <a:endParaRPr/>
            </a:p>
          </p:txBody>
        </p:sp>
      </p:grpSp>
      <p:sp>
        <p:nvSpPr>
          <p:cNvPr id="8" name="Freeform 8"/>
          <p:cNvSpPr/>
          <p:nvPr/>
        </p:nvSpPr>
        <p:spPr>
          <a:xfrm>
            <a:off x="16872103" y="188695"/>
            <a:ext cx="1156433" cy="1302244"/>
          </a:xfrm>
          <a:custGeom>
            <a:avLst/>
            <a:gdLst/>
            <a:ahLst/>
            <a:cxnLst/>
            <a:rect l="l" t="t" r="r" b="b"/>
            <a:pathLst>
              <a:path w="1156433" h="1302244">
                <a:moveTo>
                  <a:pt x="0" y="0"/>
                </a:moveTo>
                <a:lnTo>
                  <a:pt x="1156433" y="0"/>
                </a:lnTo>
                <a:lnTo>
                  <a:pt x="1156433" y="1302244"/>
                </a:lnTo>
                <a:lnTo>
                  <a:pt x="0" y="1302244"/>
                </a:lnTo>
                <a:lnTo>
                  <a:pt x="0" y="0"/>
                </a:lnTo>
                <a:close/>
              </a:path>
            </a:pathLst>
          </a:custGeom>
          <a:blipFill>
            <a:blip r:embed="rId2"/>
            <a:stretch>
              <a:fillRect/>
            </a:stretch>
          </a:blipFill>
        </p:spPr>
      </p:sp>
      <p:sp>
        <p:nvSpPr>
          <p:cNvPr id="9" name="Freeform 9"/>
          <p:cNvSpPr/>
          <p:nvPr/>
        </p:nvSpPr>
        <p:spPr>
          <a:xfrm>
            <a:off x="5392391" y="4242198"/>
            <a:ext cx="6667978" cy="939979"/>
          </a:xfrm>
          <a:custGeom>
            <a:avLst/>
            <a:gdLst/>
            <a:ahLst/>
            <a:cxnLst/>
            <a:rect l="l" t="t" r="r" b="b"/>
            <a:pathLst>
              <a:path w="6667978" h="939979">
                <a:moveTo>
                  <a:pt x="0" y="0"/>
                </a:moveTo>
                <a:lnTo>
                  <a:pt x="6667978" y="0"/>
                </a:lnTo>
                <a:lnTo>
                  <a:pt x="6667978" y="939980"/>
                </a:lnTo>
                <a:lnTo>
                  <a:pt x="0" y="939980"/>
                </a:lnTo>
                <a:lnTo>
                  <a:pt x="0" y="0"/>
                </a:lnTo>
                <a:close/>
              </a:path>
            </a:pathLst>
          </a:custGeom>
          <a:blipFill>
            <a:blip r:embed="rId3"/>
            <a:stretch>
              <a:fillRect/>
            </a:stretch>
          </a:blipFill>
        </p:spPr>
      </p:sp>
      <p:sp>
        <p:nvSpPr>
          <p:cNvPr id="10" name="Freeform 10"/>
          <p:cNvSpPr/>
          <p:nvPr/>
        </p:nvSpPr>
        <p:spPr>
          <a:xfrm>
            <a:off x="5392391" y="7934905"/>
            <a:ext cx="7313477" cy="953932"/>
          </a:xfrm>
          <a:custGeom>
            <a:avLst/>
            <a:gdLst/>
            <a:ahLst/>
            <a:cxnLst/>
            <a:rect l="l" t="t" r="r" b="b"/>
            <a:pathLst>
              <a:path w="7313477" h="953932">
                <a:moveTo>
                  <a:pt x="0" y="0"/>
                </a:moveTo>
                <a:lnTo>
                  <a:pt x="7313477" y="0"/>
                </a:lnTo>
                <a:lnTo>
                  <a:pt x="7313477" y="953932"/>
                </a:lnTo>
                <a:lnTo>
                  <a:pt x="0" y="953932"/>
                </a:lnTo>
                <a:lnTo>
                  <a:pt x="0" y="0"/>
                </a:lnTo>
                <a:close/>
              </a:path>
            </a:pathLst>
          </a:custGeom>
          <a:blipFill>
            <a:blip r:embed="rId4"/>
            <a:stretch>
              <a:fillRect/>
            </a:stretch>
          </a:blipFill>
        </p:spPr>
      </p:sp>
      <p:sp>
        <p:nvSpPr>
          <p:cNvPr id="11" name="TextBox 11"/>
          <p:cNvSpPr txBox="1"/>
          <p:nvPr/>
        </p:nvSpPr>
        <p:spPr>
          <a:xfrm>
            <a:off x="16610134" y="9518480"/>
            <a:ext cx="598073" cy="311277"/>
          </a:xfrm>
          <a:prstGeom prst="rect">
            <a:avLst/>
          </a:prstGeom>
        </p:spPr>
        <p:txBody>
          <a:bodyPr lIns="0" tIns="0" rIns="0" bIns="0" rtlCol="0" anchor="t">
            <a:spAutoFit/>
          </a:bodyPr>
          <a:lstStyle/>
          <a:p>
            <a:pPr algn="ctr">
              <a:lnSpc>
                <a:spcPts val="2304"/>
              </a:lnSpc>
            </a:pPr>
            <a:r>
              <a:rPr lang="en-US" sz="2400">
                <a:solidFill>
                  <a:srgbClr val="283728"/>
                </a:solidFill>
                <a:latin typeface="Adirek Sans Bold"/>
                <a:ea typeface="Adirek Sans Bold"/>
                <a:cs typeface="Adirek Sans Bold"/>
                <a:sym typeface="Adirek Sans Bold"/>
              </a:rPr>
              <a:t>2024</a:t>
            </a:r>
          </a:p>
        </p:txBody>
      </p:sp>
      <p:sp>
        <p:nvSpPr>
          <p:cNvPr id="12" name="TextBox 12"/>
          <p:cNvSpPr txBox="1"/>
          <p:nvPr/>
        </p:nvSpPr>
        <p:spPr>
          <a:xfrm>
            <a:off x="201093" y="960220"/>
            <a:ext cx="9949740" cy="978577"/>
          </a:xfrm>
          <a:prstGeom prst="rect">
            <a:avLst/>
          </a:prstGeom>
        </p:spPr>
        <p:txBody>
          <a:bodyPr lIns="0" tIns="0" rIns="0" bIns="0" rtlCol="0" anchor="t">
            <a:spAutoFit/>
          </a:bodyPr>
          <a:lstStyle/>
          <a:p>
            <a:pPr algn="l">
              <a:lnSpc>
                <a:spcPts val="5771"/>
              </a:lnSpc>
            </a:pPr>
            <a:r>
              <a:rPr lang="en-US" sz="11543">
                <a:solidFill>
                  <a:srgbClr val="283728"/>
                </a:solidFill>
                <a:latin typeface="Adirek Sans Heavy"/>
                <a:ea typeface="Adirek Sans Heavy"/>
                <a:cs typeface="Adirek Sans Heavy"/>
                <a:sym typeface="Adirek Sans Heavy"/>
              </a:rPr>
              <a:t>TINJAUAN TEORI</a:t>
            </a:r>
          </a:p>
        </p:txBody>
      </p:sp>
      <p:sp>
        <p:nvSpPr>
          <p:cNvPr id="13" name="TextBox 13"/>
          <p:cNvSpPr txBox="1"/>
          <p:nvPr/>
        </p:nvSpPr>
        <p:spPr>
          <a:xfrm>
            <a:off x="201093" y="2146359"/>
            <a:ext cx="11724549" cy="593725"/>
          </a:xfrm>
          <a:prstGeom prst="rect">
            <a:avLst/>
          </a:prstGeom>
        </p:spPr>
        <p:txBody>
          <a:bodyPr lIns="0" tIns="0" rIns="0" bIns="0" rtlCol="0" anchor="t">
            <a:spAutoFit/>
          </a:bodyPr>
          <a:lstStyle/>
          <a:p>
            <a:pPr algn="l">
              <a:lnSpc>
                <a:spcPts val="3499"/>
              </a:lnSpc>
            </a:pPr>
            <a:r>
              <a:rPr lang="en-US" sz="6999">
                <a:solidFill>
                  <a:srgbClr val="283728"/>
                </a:solidFill>
                <a:latin typeface="Adirek Sans Heavy"/>
                <a:ea typeface="Adirek Sans Heavy"/>
                <a:cs typeface="Adirek Sans Heavy"/>
                <a:sym typeface="Adirek Sans Heavy"/>
              </a:rPr>
              <a:t>VARIATIONAL AUTOENCODER (VAE)</a:t>
            </a:r>
          </a:p>
        </p:txBody>
      </p:sp>
      <p:sp>
        <p:nvSpPr>
          <p:cNvPr id="14" name="TextBox 14"/>
          <p:cNvSpPr txBox="1"/>
          <p:nvPr/>
        </p:nvSpPr>
        <p:spPr>
          <a:xfrm>
            <a:off x="201093" y="2871422"/>
            <a:ext cx="12670113" cy="1171576"/>
          </a:xfrm>
          <a:prstGeom prst="rect">
            <a:avLst/>
          </a:prstGeom>
        </p:spPr>
        <p:txBody>
          <a:bodyPr lIns="0" tIns="0" rIns="0" bIns="0" rtlCol="0" anchor="t">
            <a:spAutoFit/>
          </a:bodyPr>
          <a:lstStyle/>
          <a:p>
            <a:pPr algn="l">
              <a:lnSpc>
                <a:spcPts val="4799"/>
              </a:lnSpc>
            </a:pPr>
            <a:r>
              <a:rPr lang="en-US" sz="2999" dirty="0">
                <a:solidFill>
                  <a:srgbClr val="FAF2EA"/>
                </a:solidFill>
                <a:latin typeface="Roboto"/>
                <a:ea typeface="Roboto"/>
                <a:cs typeface="Roboto"/>
                <a:sym typeface="Roboto"/>
              </a:rPr>
              <a:t>VAE </a:t>
            </a:r>
            <a:r>
              <a:rPr lang="en-US" sz="2999" dirty="0" err="1">
                <a:solidFill>
                  <a:srgbClr val="FAF2EA"/>
                </a:solidFill>
                <a:latin typeface="Roboto"/>
                <a:ea typeface="Roboto"/>
                <a:cs typeface="Roboto"/>
                <a:sym typeface="Roboto"/>
              </a:rPr>
              <a:t>mendefinisikan</a:t>
            </a:r>
            <a:r>
              <a:rPr lang="en-US" sz="2999" dirty="0">
                <a:solidFill>
                  <a:srgbClr val="FAF2EA"/>
                </a:solidFill>
                <a:latin typeface="Roboto"/>
                <a:ea typeface="Roboto"/>
                <a:cs typeface="Roboto"/>
                <a:sym typeface="Roboto"/>
              </a:rPr>
              <a:t> fungsi loss sebagai </a:t>
            </a:r>
            <a:r>
              <a:rPr lang="en-US" sz="2999" dirty="0" err="1">
                <a:solidFill>
                  <a:srgbClr val="FAF2EA"/>
                </a:solidFill>
                <a:latin typeface="Roboto"/>
                <a:ea typeface="Roboto"/>
                <a:cs typeface="Roboto"/>
                <a:sym typeface="Roboto"/>
              </a:rPr>
              <a:t>probabilitas</a:t>
            </a:r>
            <a:r>
              <a:rPr lang="en-US" sz="2999" dirty="0">
                <a:solidFill>
                  <a:srgbClr val="FAF2EA"/>
                </a:solidFill>
                <a:latin typeface="Roboto"/>
                <a:ea typeface="Roboto"/>
                <a:cs typeface="Roboto"/>
                <a:sym typeface="Roboto"/>
              </a:rPr>
              <a:t> </a:t>
            </a:r>
            <a:r>
              <a:rPr lang="en-US" sz="2999" dirty="0" err="1">
                <a:solidFill>
                  <a:srgbClr val="FAF2EA"/>
                </a:solidFill>
                <a:latin typeface="Roboto"/>
                <a:ea typeface="Roboto"/>
                <a:cs typeface="Roboto"/>
                <a:sym typeface="Roboto"/>
              </a:rPr>
              <a:t>estimasi</a:t>
            </a:r>
            <a:r>
              <a:rPr lang="en-US" sz="2999" dirty="0">
                <a:solidFill>
                  <a:srgbClr val="FAF2EA"/>
                </a:solidFill>
                <a:latin typeface="Roboto"/>
                <a:ea typeface="Roboto"/>
                <a:cs typeface="Roboto"/>
                <a:sym typeface="Roboto"/>
              </a:rPr>
              <a:t> </a:t>
            </a:r>
            <a:r>
              <a:rPr lang="en-US" sz="2999" dirty="0" err="1">
                <a:solidFill>
                  <a:srgbClr val="FAF2EA"/>
                </a:solidFill>
                <a:latin typeface="Roboto"/>
                <a:ea typeface="Roboto"/>
                <a:cs typeface="Roboto"/>
                <a:sym typeface="Roboto"/>
              </a:rPr>
              <a:t>dari</a:t>
            </a:r>
            <a:r>
              <a:rPr lang="en-US" sz="2999" dirty="0">
                <a:solidFill>
                  <a:srgbClr val="FAF2EA"/>
                </a:solidFill>
                <a:latin typeface="Roboto"/>
                <a:ea typeface="Roboto"/>
                <a:cs typeface="Roboto"/>
                <a:sym typeface="Roboto"/>
              </a:rPr>
              <a:t> log p(x) yang </a:t>
            </a:r>
            <a:r>
              <a:rPr lang="en-US" sz="2999" dirty="0" err="1">
                <a:solidFill>
                  <a:srgbClr val="FAF2EA"/>
                </a:solidFill>
                <a:latin typeface="Roboto"/>
                <a:ea typeface="Roboto"/>
                <a:cs typeface="Roboto"/>
                <a:sym typeface="Roboto"/>
              </a:rPr>
              <a:t>diformulasikan</a:t>
            </a:r>
            <a:r>
              <a:rPr lang="en-US" sz="2999" dirty="0">
                <a:solidFill>
                  <a:srgbClr val="FAF2EA"/>
                </a:solidFill>
                <a:latin typeface="Roboto"/>
                <a:ea typeface="Roboto"/>
                <a:cs typeface="Roboto"/>
                <a:sym typeface="Roboto"/>
              </a:rPr>
              <a:t> dengan </a:t>
            </a:r>
            <a:r>
              <a:rPr lang="en-US" sz="2999" dirty="0" err="1">
                <a:solidFill>
                  <a:srgbClr val="FAF2EA"/>
                </a:solidFill>
                <a:latin typeface="Roboto"/>
                <a:ea typeface="Roboto"/>
                <a:cs typeface="Roboto"/>
                <a:sym typeface="Roboto"/>
              </a:rPr>
              <a:t>rumus</a:t>
            </a:r>
            <a:endParaRPr lang="en-US" sz="2999" dirty="0">
              <a:solidFill>
                <a:srgbClr val="FAF2EA"/>
              </a:solidFill>
              <a:latin typeface="Roboto"/>
              <a:ea typeface="Roboto"/>
              <a:cs typeface="Roboto"/>
              <a:sym typeface="Roboto"/>
            </a:endParaRPr>
          </a:p>
        </p:txBody>
      </p:sp>
      <p:sp>
        <p:nvSpPr>
          <p:cNvPr id="15" name="TextBox 15"/>
          <p:cNvSpPr txBox="1"/>
          <p:nvPr/>
        </p:nvSpPr>
        <p:spPr>
          <a:xfrm>
            <a:off x="201093" y="5258378"/>
            <a:ext cx="12670113" cy="1171576"/>
          </a:xfrm>
          <a:prstGeom prst="rect">
            <a:avLst/>
          </a:prstGeom>
        </p:spPr>
        <p:txBody>
          <a:bodyPr lIns="0" tIns="0" rIns="0" bIns="0" rtlCol="0" anchor="t">
            <a:spAutoFit/>
          </a:bodyPr>
          <a:lstStyle/>
          <a:p>
            <a:pPr algn="l">
              <a:lnSpc>
                <a:spcPts val="4799"/>
              </a:lnSpc>
            </a:pPr>
            <a:r>
              <a:rPr lang="en-US" sz="2999" dirty="0" err="1">
                <a:solidFill>
                  <a:srgbClr val="FAF2EA"/>
                </a:solidFill>
                <a:latin typeface="Roboto"/>
                <a:ea typeface="Roboto"/>
                <a:cs typeface="Roboto"/>
                <a:sym typeface="Roboto"/>
              </a:rPr>
              <a:t>dimana</a:t>
            </a:r>
            <a:r>
              <a:rPr lang="en-US" sz="2999" dirty="0">
                <a:solidFill>
                  <a:srgbClr val="FAF2EA"/>
                </a:solidFill>
                <a:latin typeface="Roboto"/>
                <a:ea typeface="Roboto"/>
                <a:cs typeface="Roboto"/>
                <a:sym typeface="Roboto"/>
              </a:rPr>
              <a:t> </a:t>
            </a:r>
            <a:r>
              <a:rPr lang="en-US" sz="2999" dirty="0" err="1">
                <a:solidFill>
                  <a:srgbClr val="FAF2EA"/>
                </a:solidFill>
                <a:latin typeface="Roboto"/>
                <a:ea typeface="Roboto"/>
                <a:cs typeface="Roboto"/>
                <a:sym typeface="Roboto"/>
              </a:rPr>
              <a:t>Kullback-Leibler</a:t>
            </a:r>
            <a:r>
              <a:rPr lang="en-US" sz="2999" dirty="0">
                <a:solidFill>
                  <a:srgbClr val="FAF2EA"/>
                </a:solidFill>
                <a:latin typeface="Roboto"/>
                <a:ea typeface="Roboto"/>
                <a:cs typeface="Roboto"/>
                <a:sym typeface="Roboto"/>
              </a:rPr>
              <a:t> (KL) </a:t>
            </a:r>
            <a:r>
              <a:rPr lang="en-US" sz="2999" dirty="0" err="1">
                <a:solidFill>
                  <a:srgbClr val="FAF2EA"/>
                </a:solidFill>
                <a:latin typeface="Roboto"/>
                <a:ea typeface="Roboto"/>
                <a:cs typeface="Roboto"/>
                <a:sym typeface="Roboto"/>
              </a:rPr>
              <a:t>merupakan</a:t>
            </a:r>
            <a:r>
              <a:rPr lang="en-US" sz="2999" dirty="0">
                <a:solidFill>
                  <a:srgbClr val="FAF2EA"/>
                </a:solidFill>
                <a:latin typeface="Roboto"/>
                <a:ea typeface="Roboto"/>
                <a:cs typeface="Roboto"/>
                <a:sym typeface="Roboto"/>
              </a:rPr>
              <a:t> </a:t>
            </a:r>
            <a:r>
              <a:rPr lang="en-US" sz="2999" dirty="0" err="1">
                <a:solidFill>
                  <a:srgbClr val="FAF2EA"/>
                </a:solidFill>
                <a:latin typeface="Roboto"/>
                <a:ea typeface="Roboto"/>
                <a:cs typeface="Roboto"/>
                <a:sym typeface="Roboto"/>
              </a:rPr>
              <a:t>divergensi</a:t>
            </a:r>
            <a:r>
              <a:rPr lang="en-US" sz="2999" dirty="0">
                <a:solidFill>
                  <a:srgbClr val="FAF2EA"/>
                </a:solidFill>
                <a:latin typeface="Roboto"/>
                <a:ea typeface="Roboto"/>
                <a:cs typeface="Roboto"/>
                <a:sym typeface="Roboto"/>
              </a:rPr>
              <a:t> </a:t>
            </a:r>
            <a:r>
              <a:rPr lang="en-US" sz="2999" dirty="0" err="1">
                <a:solidFill>
                  <a:srgbClr val="FAF2EA"/>
                </a:solidFill>
                <a:latin typeface="Roboto"/>
                <a:ea typeface="Roboto"/>
                <a:cs typeface="Roboto"/>
                <a:sym typeface="Roboto"/>
              </a:rPr>
              <a:t>antara</a:t>
            </a:r>
            <a:r>
              <a:rPr lang="en-US" sz="2999" dirty="0">
                <a:solidFill>
                  <a:srgbClr val="FAF2EA"/>
                </a:solidFill>
                <a:latin typeface="Roboto"/>
                <a:ea typeface="Roboto"/>
                <a:cs typeface="Roboto"/>
                <a:sym typeface="Roboto"/>
              </a:rPr>
              <a:t> dua </a:t>
            </a:r>
            <a:r>
              <a:rPr lang="en-US" sz="2999" dirty="0" err="1">
                <a:solidFill>
                  <a:srgbClr val="FAF2EA"/>
                </a:solidFill>
                <a:latin typeface="Roboto"/>
                <a:ea typeface="Roboto"/>
                <a:cs typeface="Roboto"/>
                <a:sym typeface="Roboto"/>
              </a:rPr>
              <a:t>distribusi</a:t>
            </a:r>
            <a:r>
              <a:rPr lang="en-US" sz="2999" dirty="0">
                <a:solidFill>
                  <a:srgbClr val="FAF2EA"/>
                </a:solidFill>
                <a:latin typeface="Roboto"/>
                <a:ea typeface="Roboto"/>
                <a:cs typeface="Roboto"/>
                <a:sym typeface="Roboto"/>
              </a:rPr>
              <a:t> </a:t>
            </a:r>
            <a:r>
              <a:rPr lang="en-US" sz="2999" dirty="0" err="1">
                <a:solidFill>
                  <a:srgbClr val="FAF2EA"/>
                </a:solidFill>
                <a:latin typeface="Roboto"/>
                <a:ea typeface="Roboto"/>
                <a:cs typeface="Roboto"/>
                <a:sym typeface="Roboto"/>
              </a:rPr>
              <a:t>yaitu</a:t>
            </a:r>
            <a:r>
              <a:rPr lang="en-US" sz="2999" dirty="0">
                <a:solidFill>
                  <a:srgbClr val="FAF2EA"/>
                </a:solidFill>
                <a:latin typeface="Roboto"/>
                <a:ea typeface="Roboto"/>
                <a:cs typeface="Roboto"/>
                <a:sym typeface="Roboto"/>
              </a:rPr>
              <a:t> posterior q(</a:t>
            </a:r>
            <a:r>
              <a:rPr lang="en-US" sz="2999" dirty="0" err="1">
                <a:solidFill>
                  <a:srgbClr val="FAF2EA"/>
                </a:solidFill>
                <a:latin typeface="Roboto"/>
                <a:ea typeface="Roboto"/>
                <a:cs typeface="Roboto"/>
                <a:sym typeface="Roboto"/>
              </a:rPr>
              <a:t>z|x</a:t>
            </a:r>
            <a:r>
              <a:rPr lang="en-US" sz="2999" dirty="0">
                <a:solidFill>
                  <a:srgbClr val="FAF2EA"/>
                </a:solidFill>
                <a:latin typeface="Roboto"/>
                <a:ea typeface="Roboto"/>
                <a:cs typeface="Roboto"/>
                <a:sym typeface="Roboto"/>
              </a:rPr>
              <a:t>) dengan posterior p(</a:t>
            </a:r>
            <a:r>
              <a:rPr lang="en-US" sz="2999" dirty="0" err="1">
                <a:solidFill>
                  <a:srgbClr val="FAF2EA"/>
                </a:solidFill>
                <a:latin typeface="Roboto"/>
                <a:ea typeface="Roboto"/>
                <a:cs typeface="Roboto"/>
                <a:sym typeface="Roboto"/>
              </a:rPr>
              <a:t>z|x</a:t>
            </a:r>
            <a:r>
              <a:rPr lang="en-US" sz="2999" dirty="0">
                <a:solidFill>
                  <a:srgbClr val="FAF2EA"/>
                </a:solidFill>
                <a:latin typeface="Roboto"/>
                <a:ea typeface="Roboto"/>
                <a:cs typeface="Roboto"/>
                <a:sym typeface="Roboto"/>
              </a:rPr>
              <a:t>). </a:t>
            </a:r>
          </a:p>
        </p:txBody>
      </p:sp>
      <p:sp>
        <p:nvSpPr>
          <p:cNvPr id="16" name="TextBox 16"/>
          <p:cNvSpPr txBox="1"/>
          <p:nvPr/>
        </p:nvSpPr>
        <p:spPr>
          <a:xfrm>
            <a:off x="201093" y="6563304"/>
            <a:ext cx="12670113" cy="1171576"/>
          </a:xfrm>
          <a:prstGeom prst="rect">
            <a:avLst/>
          </a:prstGeom>
        </p:spPr>
        <p:txBody>
          <a:bodyPr lIns="0" tIns="0" rIns="0" bIns="0" rtlCol="0" anchor="t">
            <a:spAutoFit/>
          </a:bodyPr>
          <a:lstStyle/>
          <a:p>
            <a:pPr algn="l">
              <a:lnSpc>
                <a:spcPts val="4799"/>
              </a:lnSpc>
            </a:pPr>
            <a:r>
              <a:rPr lang="en-US" sz="2999">
                <a:solidFill>
                  <a:srgbClr val="FAF2EA"/>
                </a:solidFill>
                <a:latin typeface="Roboto"/>
                <a:ea typeface="Roboto"/>
                <a:cs typeface="Roboto"/>
                <a:sym typeface="Roboto"/>
              </a:rPr>
              <a:t>Karena p(z|x) intractable dan KL bernilai positif, maka memaksimalkan log p(x) dapat dilakukan dengan memaksimalkan l dengan rumus</a:t>
            </a:r>
          </a:p>
        </p:txBody>
      </p:sp>
      <p:sp>
        <p:nvSpPr>
          <p:cNvPr id="17" name="TextBox 17"/>
          <p:cNvSpPr txBox="1"/>
          <p:nvPr/>
        </p:nvSpPr>
        <p:spPr>
          <a:xfrm>
            <a:off x="201093" y="8965037"/>
            <a:ext cx="13772907" cy="1171576"/>
          </a:xfrm>
          <a:prstGeom prst="rect">
            <a:avLst/>
          </a:prstGeom>
        </p:spPr>
        <p:txBody>
          <a:bodyPr lIns="0" tIns="0" rIns="0" bIns="0" rtlCol="0" anchor="t">
            <a:spAutoFit/>
          </a:bodyPr>
          <a:lstStyle/>
          <a:p>
            <a:pPr algn="l">
              <a:lnSpc>
                <a:spcPts val="4799"/>
              </a:lnSpc>
            </a:pPr>
            <a:r>
              <a:rPr lang="en-US" sz="2999">
                <a:solidFill>
                  <a:srgbClr val="FAF2EA"/>
                </a:solidFill>
                <a:latin typeface="Roboto"/>
                <a:ea typeface="Roboto"/>
                <a:cs typeface="Roboto"/>
                <a:sym typeface="Roboto"/>
              </a:rPr>
              <a:t>Bagian pertama pada rumus adalah loss rekonstruksi dan bagian kedua meminimalkan perbedaan antara prior dan posterior yang diperkirakan oleh VAE.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2EA"/>
        </a:solidFill>
        <a:effectLst/>
      </p:bgPr>
    </p:bg>
    <p:spTree>
      <p:nvGrpSpPr>
        <p:cNvPr id="1" name=""/>
        <p:cNvGrpSpPr/>
        <p:nvPr/>
      </p:nvGrpSpPr>
      <p:grpSpPr>
        <a:xfrm>
          <a:off x="0" y="0"/>
          <a:ext cx="0" cy="0"/>
          <a:chOff x="0" y="0"/>
          <a:chExt cx="0" cy="0"/>
        </a:xfrm>
      </p:grpSpPr>
      <p:grpSp>
        <p:nvGrpSpPr>
          <p:cNvPr id="2" name="Group 2"/>
          <p:cNvGrpSpPr/>
          <p:nvPr/>
        </p:nvGrpSpPr>
        <p:grpSpPr>
          <a:xfrm>
            <a:off x="0" y="2740084"/>
            <a:ext cx="18288000" cy="7546916"/>
            <a:chOff x="0" y="0"/>
            <a:chExt cx="4816593" cy="1987665"/>
          </a:xfrm>
        </p:grpSpPr>
        <p:sp>
          <p:nvSpPr>
            <p:cNvPr id="3" name="Freeform 3"/>
            <p:cNvSpPr/>
            <p:nvPr/>
          </p:nvSpPr>
          <p:spPr>
            <a:xfrm>
              <a:off x="0" y="0"/>
              <a:ext cx="4816592" cy="1987665"/>
            </a:xfrm>
            <a:custGeom>
              <a:avLst/>
              <a:gdLst/>
              <a:ahLst/>
              <a:cxnLst/>
              <a:rect l="l" t="t" r="r" b="b"/>
              <a:pathLst>
                <a:path w="4816592" h="1987665">
                  <a:moveTo>
                    <a:pt x="0" y="0"/>
                  </a:moveTo>
                  <a:lnTo>
                    <a:pt x="4816592" y="0"/>
                  </a:lnTo>
                  <a:lnTo>
                    <a:pt x="4816592" y="1987665"/>
                  </a:lnTo>
                  <a:lnTo>
                    <a:pt x="0" y="1987665"/>
                  </a:lnTo>
                  <a:close/>
                </a:path>
              </a:pathLst>
            </a:custGeom>
            <a:solidFill>
              <a:srgbClr val="283728"/>
            </a:solidFill>
          </p:spPr>
        </p:sp>
        <p:sp>
          <p:nvSpPr>
            <p:cNvPr id="4" name="TextBox 4"/>
            <p:cNvSpPr txBox="1"/>
            <p:nvPr/>
          </p:nvSpPr>
          <p:spPr>
            <a:xfrm>
              <a:off x="0" y="-47625"/>
              <a:ext cx="4816593" cy="2035290"/>
            </a:xfrm>
            <a:prstGeom prst="rect">
              <a:avLst/>
            </a:prstGeom>
          </p:spPr>
          <p:txBody>
            <a:bodyPr lIns="50800" tIns="50800" rIns="50800" bIns="50800" rtlCol="0" anchor="ctr"/>
            <a:lstStyle/>
            <a:p>
              <a:pPr algn="ctr">
                <a:lnSpc>
                  <a:spcPts val="3079"/>
                </a:lnSpc>
              </a:pPr>
              <a:endParaRPr/>
            </a:p>
          </p:txBody>
        </p:sp>
      </p:grpSp>
      <p:grpSp>
        <p:nvGrpSpPr>
          <p:cNvPr id="5" name="Group 5"/>
          <p:cNvGrpSpPr/>
          <p:nvPr/>
        </p:nvGrpSpPr>
        <p:grpSpPr>
          <a:xfrm>
            <a:off x="16610134" y="0"/>
            <a:ext cx="1677866" cy="1679634"/>
            <a:chOff x="0" y="0"/>
            <a:chExt cx="568780" cy="569379"/>
          </a:xfrm>
        </p:grpSpPr>
        <p:sp>
          <p:nvSpPr>
            <p:cNvPr id="6" name="Freeform 6"/>
            <p:cNvSpPr/>
            <p:nvPr/>
          </p:nvSpPr>
          <p:spPr>
            <a:xfrm>
              <a:off x="0" y="0"/>
              <a:ext cx="568780" cy="569379"/>
            </a:xfrm>
            <a:custGeom>
              <a:avLst/>
              <a:gdLst/>
              <a:ahLst/>
              <a:cxnLst/>
              <a:rect l="l" t="t" r="r" b="b"/>
              <a:pathLst>
                <a:path w="568780" h="569379">
                  <a:moveTo>
                    <a:pt x="0" y="0"/>
                  </a:moveTo>
                  <a:lnTo>
                    <a:pt x="568780" y="0"/>
                  </a:lnTo>
                  <a:lnTo>
                    <a:pt x="568780" y="569379"/>
                  </a:lnTo>
                  <a:lnTo>
                    <a:pt x="0" y="569379"/>
                  </a:lnTo>
                  <a:close/>
                </a:path>
              </a:pathLst>
            </a:custGeom>
            <a:solidFill>
              <a:srgbClr val="283728"/>
            </a:solidFill>
          </p:spPr>
        </p:sp>
        <p:sp>
          <p:nvSpPr>
            <p:cNvPr id="7" name="TextBox 7"/>
            <p:cNvSpPr txBox="1"/>
            <p:nvPr/>
          </p:nvSpPr>
          <p:spPr>
            <a:xfrm>
              <a:off x="0" y="-47625"/>
              <a:ext cx="568780" cy="617004"/>
            </a:xfrm>
            <a:prstGeom prst="rect">
              <a:avLst/>
            </a:prstGeom>
          </p:spPr>
          <p:txBody>
            <a:bodyPr lIns="50800" tIns="50800" rIns="50800" bIns="50800" rtlCol="0" anchor="ctr"/>
            <a:lstStyle/>
            <a:p>
              <a:pPr algn="ctr">
                <a:lnSpc>
                  <a:spcPts val="3079"/>
                </a:lnSpc>
              </a:pPr>
              <a:endParaRPr/>
            </a:p>
          </p:txBody>
        </p:sp>
      </p:grpSp>
      <p:sp>
        <p:nvSpPr>
          <p:cNvPr id="8" name="Freeform 8"/>
          <p:cNvSpPr/>
          <p:nvPr/>
        </p:nvSpPr>
        <p:spPr>
          <a:xfrm>
            <a:off x="16872103" y="188695"/>
            <a:ext cx="1156433" cy="1302244"/>
          </a:xfrm>
          <a:custGeom>
            <a:avLst/>
            <a:gdLst/>
            <a:ahLst/>
            <a:cxnLst/>
            <a:rect l="l" t="t" r="r" b="b"/>
            <a:pathLst>
              <a:path w="1156433" h="1302244">
                <a:moveTo>
                  <a:pt x="0" y="0"/>
                </a:moveTo>
                <a:lnTo>
                  <a:pt x="1156433" y="0"/>
                </a:lnTo>
                <a:lnTo>
                  <a:pt x="1156433" y="1302244"/>
                </a:lnTo>
                <a:lnTo>
                  <a:pt x="0" y="1302244"/>
                </a:lnTo>
                <a:lnTo>
                  <a:pt x="0" y="0"/>
                </a:lnTo>
                <a:close/>
              </a:path>
            </a:pathLst>
          </a:custGeom>
          <a:blipFill>
            <a:blip r:embed="rId2"/>
            <a:stretch>
              <a:fillRect/>
            </a:stretch>
          </a:blipFill>
        </p:spPr>
      </p:sp>
      <p:sp>
        <p:nvSpPr>
          <p:cNvPr id="9" name="Freeform 9"/>
          <p:cNvSpPr/>
          <p:nvPr/>
        </p:nvSpPr>
        <p:spPr>
          <a:xfrm>
            <a:off x="7709270" y="7294592"/>
            <a:ext cx="2869460" cy="611870"/>
          </a:xfrm>
          <a:custGeom>
            <a:avLst/>
            <a:gdLst/>
            <a:ahLst/>
            <a:cxnLst/>
            <a:rect l="l" t="t" r="r" b="b"/>
            <a:pathLst>
              <a:path w="2869460" h="611870">
                <a:moveTo>
                  <a:pt x="0" y="0"/>
                </a:moveTo>
                <a:lnTo>
                  <a:pt x="2869460" y="0"/>
                </a:lnTo>
                <a:lnTo>
                  <a:pt x="2869460" y="611871"/>
                </a:lnTo>
                <a:lnTo>
                  <a:pt x="0" y="611871"/>
                </a:lnTo>
                <a:lnTo>
                  <a:pt x="0" y="0"/>
                </a:lnTo>
                <a:close/>
              </a:path>
            </a:pathLst>
          </a:custGeom>
          <a:blipFill>
            <a:blip r:embed="rId3"/>
            <a:stretch>
              <a:fillRect/>
            </a:stretch>
          </a:blipFill>
        </p:spPr>
      </p:sp>
      <p:sp>
        <p:nvSpPr>
          <p:cNvPr id="10" name="TextBox 10"/>
          <p:cNvSpPr txBox="1"/>
          <p:nvPr/>
        </p:nvSpPr>
        <p:spPr>
          <a:xfrm>
            <a:off x="16610134" y="9518480"/>
            <a:ext cx="598073" cy="311277"/>
          </a:xfrm>
          <a:prstGeom prst="rect">
            <a:avLst/>
          </a:prstGeom>
        </p:spPr>
        <p:txBody>
          <a:bodyPr lIns="0" tIns="0" rIns="0" bIns="0" rtlCol="0" anchor="t">
            <a:spAutoFit/>
          </a:bodyPr>
          <a:lstStyle/>
          <a:p>
            <a:pPr algn="ctr">
              <a:lnSpc>
                <a:spcPts val="2304"/>
              </a:lnSpc>
            </a:pPr>
            <a:r>
              <a:rPr lang="en-US" sz="2400">
                <a:solidFill>
                  <a:srgbClr val="283728"/>
                </a:solidFill>
                <a:latin typeface="Adirek Sans Bold"/>
                <a:ea typeface="Adirek Sans Bold"/>
                <a:cs typeface="Adirek Sans Bold"/>
                <a:sym typeface="Adirek Sans Bold"/>
              </a:rPr>
              <a:t>2024</a:t>
            </a:r>
          </a:p>
        </p:txBody>
      </p:sp>
      <p:sp>
        <p:nvSpPr>
          <p:cNvPr id="11" name="TextBox 11"/>
          <p:cNvSpPr txBox="1"/>
          <p:nvPr/>
        </p:nvSpPr>
        <p:spPr>
          <a:xfrm>
            <a:off x="201093" y="960220"/>
            <a:ext cx="9949740" cy="978577"/>
          </a:xfrm>
          <a:prstGeom prst="rect">
            <a:avLst/>
          </a:prstGeom>
        </p:spPr>
        <p:txBody>
          <a:bodyPr lIns="0" tIns="0" rIns="0" bIns="0" rtlCol="0" anchor="t">
            <a:spAutoFit/>
          </a:bodyPr>
          <a:lstStyle/>
          <a:p>
            <a:pPr algn="l">
              <a:lnSpc>
                <a:spcPts val="5771"/>
              </a:lnSpc>
            </a:pPr>
            <a:r>
              <a:rPr lang="en-US" sz="11543">
                <a:solidFill>
                  <a:srgbClr val="283728"/>
                </a:solidFill>
                <a:latin typeface="Adirek Sans Heavy"/>
                <a:ea typeface="Adirek Sans Heavy"/>
                <a:cs typeface="Adirek Sans Heavy"/>
                <a:sym typeface="Adirek Sans Heavy"/>
              </a:rPr>
              <a:t>TINJAUAN TEORI</a:t>
            </a:r>
          </a:p>
        </p:txBody>
      </p:sp>
      <p:sp>
        <p:nvSpPr>
          <p:cNvPr id="12" name="TextBox 12"/>
          <p:cNvSpPr txBox="1"/>
          <p:nvPr/>
        </p:nvSpPr>
        <p:spPr>
          <a:xfrm>
            <a:off x="201093" y="2146359"/>
            <a:ext cx="11724549" cy="593725"/>
          </a:xfrm>
          <a:prstGeom prst="rect">
            <a:avLst/>
          </a:prstGeom>
        </p:spPr>
        <p:txBody>
          <a:bodyPr lIns="0" tIns="0" rIns="0" bIns="0" rtlCol="0" anchor="t">
            <a:spAutoFit/>
          </a:bodyPr>
          <a:lstStyle/>
          <a:p>
            <a:pPr algn="l">
              <a:lnSpc>
                <a:spcPts val="3499"/>
              </a:lnSpc>
            </a:pPr>
            <a:r>
              <a:rPr lang="en-US" sz="6999">
                <a:solidFill>
                  <a:srgbClr val="283728"/>
                </a:solidFill>
                <a:latin typeface="Adirek Sans Heavy"/>
                <a:ea typeface="Adirek Sans Heavy"/>
                <a:cs typeface="Adirek Sans Heavy"/>
                <a:sym typeface="Adirek Sans Heavy"/>
              </a:rPr>
              <a:t>VARIATIONAL AUTOENCODER (VAE)</a:t>
            </a:r>
          </a:p>
        </p:txBody>
      </p:sp>
      <p:sp>
        <p:nvSpPr>
          <p:cNvPr id="13" name="TextBox 13"/>
          <p:cNvSpPr txBox="1"/>
          <p:nvPr/>
        </p:nvSpPr>
        <p:spPr>
          <a:xfrm>
            <a:off x="201093" y="2871422"/>
            <a:ext cx="12670113" cy="571501"/>
          </a:xfrm>
          <a:prstGeom prst="rect">
            <a:avLst/>
          </a:prstGeom>
        </p:spPr>
        <p:txBody>
          <a:bodyPr lIns="0" tIns="0" rIns="0" bIns="0" rtlCol="0" anchor="t">
            <a:spAutoFit/>
          </a:bodyPr>
          <a:lstStyle/>
          <a:p>
            <a:pPr algn="l">
              <a:lnSpc>
                <a:spcPts val="4799"/>
              </a:lnSpc>
            </a:pPr>
            <a:r>
              <a:rPr lang="en-US" sz="2999">
                <a:solidFill>
                  <a:srgbClr val="FAF2EA"/>
                </a:solidFill>
                <a:latin typeface="Roboto"/>
                <a:ea typeface="Roboto"/>
                <a:cs typeface="Roboto"/>
                <a:sym typeface="Roboto"/>
              </a:rPr>
              <a:t>VAE terdiri dari beberapa lapisan</a:t>
            </a:r>
          </a:p>
        </p:txBody>
      </p:sp>
      <p:sp>
        <p:nvSpPr>
          <p:cNvPr id="14" name="TextBox 14"/>
          <p:cNvSpPr txBox="1"/>
          <p:nvPr/>
        </p:nvSpPr>
        <p:spPr>
          <a:xfrm>
            <a:off x="201093" y="3576273"/>
            <a:ext cx="3365290" cy="571501"/>
          </a:xfrm>
          <a:prstGeom prst="rect">
            <a:avLst/>
          </a:prstGeom>
        </p:spPr>
        <p:txBody>
          <a:bodyPr lIns="0" tIns="0" rIns="0" bIns="0" rtlCol="0" anchor="t">
            <a:spAutoFit/>
          </a:bodyPr>
          <a:lstStyle/>
          <a:p>
            <a:pPr algn="l">
              <a:lnSpc>
                <a:spcPts val="4799"/>
              </a:lnSpc>
            </a:pPr>
            <a:r>
              <a:rPr lang="en-US" sz="2999">
                <a:solidFill>
                  <a:srgbClr val="FAF2EA"/>
                </a:solidFill>
                <a:latin typeface="Roboto"/>
                <a:ea typeface="Roboto"/>
                <a:cs typeface="Roboto"/>
                <a:sym typeface="Roboto"/>
              </a:rPr>
              <a:t>Lapisan Encoder</a:t>
            </a:r>
          </a:p>
        </p:txBody>
      </p:sp>
      <p:sp>
        <p:nvSpPr>
          <p:cNvPr id="15" name="TextBox 15"/>
          <p:cNvSpPr txBox="1"/>
          <p:nvPr/>
        </p:nvSpPr>
        <p:spPr>
          <a:xfrm>
            <a:off x="201093" y="5328875"/>
            <a:ext cx="3365290" cy="571501"/>
          </a:xfrm>
          <a:prstGeom prst="rect">
            <a:avLst/>
          </a:prstGeom>
        </p:spPr>
        <p:txBody>
          <a:bodyPr lIns="0" tIns="0" rIns="0" bIns="0" rtlCol="0" anchor="t">
            <a:spAutoFit/>
          </a:bodyPr>
          <a:lstStyle/>
          <a:p>
            <a:pPr algn="l">
              <a:lnSpc>
                <a:spcPts val="4799"/>
              </a:lnSpc>
            </a:pPr>
            <a:r>
              <a:rPr lang="en-US" sz="2999">
                <a:solidFill>
                  <a:srgbClr val="FAF2EA"/>
                </a:solidFill>
                <a:latin typeface="Roboto"/>
                <a:ea typeface="Roboto"/>
                <a:cs typeface="Roboto"/>
                <a:sym typeface="Roboto"/>
              </a:rPr>
              <a:t>Lapisan Sampling</a:t>
            </a:r>
          </a:p>
        </p:txBody>
      </p:sp>
      <p:sp>
        <p:nvSpPr>
          <p:cNvPr id="16" name="TextBox 16"/>
          <p:cNvSpPr txBox="1"/>
          <p:nvPr/>
        </p:nvSpPr>
        <p:spPr>
          <a:xfrm>
            <a:off x="201093" y="4023949"/>
            <a:ext cx="17827443" cy="1171576"/>
          </a:xfrm>
          <a:prstGeom prst="rect">
            <a:avLst/>
          </a:prstGeom>
        </p:spPr>
        <p:txBody>
          <a:bodyPr lIns="0" tIns="0" rIns="0" bIns="0" rtlCol="0" anchor="t">
            <a:spAutoFit/>
          </a:bodyPr>
          <a:lstStyle/>
          <a:p>
            <a:pPr algn="just">
              <a:lnSpc>
                <a:spcPts val="4799"/>
              </a:lnSpc>
            </a:pPr>
            <a:r>
              <a:rPr lang="en-US" sz="2999">
                <a:solidFill>
                  <a:srgbClr val="FAF2EA"/>
                </a:solidFill>
                <a:latin typeface="Roboto"/>
                <a:ea typeface="Roboto"/>
                <a:cs typeface="Roboto"/>
                <a:sym typeface="Roboto"/>
              </a:rPr>
              <a:t>Lapisan encoder berfungsi untuk mengubah data masukan menjadi representasi laten. Lapisan ini akan menghasilkan luaran berupa rata-rata (µ) dan log dari variasi (log(σ2)) dari distribusi Gaussian laten</a:t>
            </a:r>
          </a:p>
        </p:txBody>
      </p:sp>
      <p:sp>
        <p:nvSpPr>
          <p:cNvPr id="17" name="TextBox 17"/>
          <p:cNvSpPr txBox="1"/>
          <p:nvPr/>
        </p:nvSpPr>
        <p:spPr>
          <a:xfrm>
            <a:off x="201093" y="5776550"/>
            <a:ext cx="17827443" cy="1171576"/>
          </a:xfrm>
          <a:prstGeom prst="rect">
            <a:avLst/>
          </a:prstGeom>
        </p:spPr>
        <p:txBody>
          <a:bodyPr lIns="0" tIns="0" rIns="0" bIns="0" rtlCol="0" anchor="t">
            <a:spAutoFit/>
          </a:bodyPr>
          <a:lstStyle/>
          <a:p>
            <a:pPr algn="just">
              <a:lnSpc>
                <a:spcPts val="4799"/>
              </a:lnSpc>
            </a:pPr>
            <a:r>
              <a:rPr lang="en-US" sz="2999">
                <a:solidFill>
                  <a:srgbClr val="FAF2EA"/>
                </a:solidFill>
                <a:latin typeface="Roboto"/>
                <a:ea typeface="Roboto"/>
                <a:cs typeface="Roboto"/>
                <a:sym typeface="Roboto"/>
              </a:rPr>
              <a:t>Lapisan sampling adalah bagian yang memungkinkan backpropagation melalui proses sampling dengan menggunakan trik reparameterisasi. Sampel z akan diambil dari distribusi Gaussian menggunakan rumus</a:t>
            </a:r>
          </a:p>
        </p:txBody>
      </p:sp>
      <p:sp>
        <p:nvSpPr>
          <p:cNvPr id="18" name="TextBox 18"/>
          <p:cNvSpPr txBox="1"/>
          <p:nvPr/>
        </p:nvSpPr>
        <p:spPr>
          <a:xfrm>
            <a:off x="7709270" y="8082869"/>
            <a:ext cx="5161936" cy="1630680"/>
          </a:xfrm>
          <a:prstGeom prst="rect">
            <a:avLst/>
          </a:prstGeom>
        </p:spPr>
        <p:txBody>
          <a:bodyPr lIns="0" tIns="0" rIns="0" bIns="0" rtlCol="0" anchor="t">
            <a:spAutoFit/>
          </a:bodyPr>
          <a:lstStyle/>
          <a:p>
            <a:pPr algn="l">
              <a:lnSpc>
                <a:spcPts val="3209"/>
              </a:lnSpc>
            </a:pPr>
            <a:r>
              <a:rPr lang="en-US" sz="2999">
                <a:solidFill>
                  <a:srgbClr val="FAF2EA"/>
                </a:solidFill>
                <a:latin typeface="Roboto"/>
                <a:ea typeface="Roboto"/>
                <a:cs typeface="Roboto"/>
                <a:sym typeface="Roboto"/>
              </a:rPr>
              <a:t>μ = rata-rata distribusi</a:t>
            </a:r>
          </a:p>
          <a:p>
            <a:pPr algn="l">
              <a:lnSpc>
                <a:spcPts val="3209"/>
              </a:lnSpc>
            </a:pPr>
            <a:r>
              <a:rPr lang="en-US" sz="2999">
                <a:solidFill>
                  <a:srgbClr val="FAF2EA"/>
                </a:solidFill>
                <a:latin typeface="Roboto"/>
                <a:ea typeface="Roboto"/>
                <a:cs typeface="Roboto"/>
                <a:sym typeface="Roboto"/>
              </a:rPr>
              <a:t>σ = varians distribusi</a:t>
            </a:r>
          </a:p>
          <a:p>
            <a:pPr algn="l">
              <a:lnSpc>
                <a:spcPts val="3209"/>
              </a:lnSpc>
            </a:pPr>
            <a:r>
              <a:rPr lang="en-US" sz="2999">
                <a:solidFill>
                  <a:srgbClr val="FAF2EA"/>
                </a:solidFill>
                <a:latin typeface="Roboto"/>
                <a:ea typeface="Roboto"/>
                <a:cs typeface="Roboto"/>
                <a:sym typeface="Roboto"/>
              </a:rPr>
              <a:t>ϵ = sampel acak dari distribusi normal standar N(0, I)</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2EA"/>
        </a:solidFill>
        <a:effectLst/>
      </p:bgPr>
    </p:bg>
    <p:spTree>
      <p:nvGrpSpPr>
        <p:cNvPr id="1" name=""/>
        <p:cNvGrpSpPr/>
        <p:nvPr/>
      </p:nvGrpSpPr>
      <p:grpSpPr>
        <a:xfrm>
          <a:off x="0" y="0"/>
          <a:ext cx="0" cy="0"/>
          <a:chOff x="0" y="0"/>
          <a:chExt cx="0" cy="0"/>
        </a:xfrm>
      </p:grpSpPr>
      <p:grpSp>
        <p:nvGrpSpPr>
          <p:cNvPr id="2" name="Group 2"/>
          <p:cNvGrpSpPr/>
          <p:nvPr/>
        </p:nvGrpSpPr>
        <p:grpSpPr>
          <a:xfrm>
            <a:off x="0" y="2740084"/>
            <a:ext cx="18288000" cy="7546916"/>
            <a:chOff x="0" y="0"/>
            <a:chExt cx="4816593" cy="1987665"/>
          </a:xfrm>
        </p:grpSpPr>
        <p:sp>
          <p:nvSpPr>
            <p:cNvPr id="3" name="Freeform 3"/>
            <p:cNvSpPr/>
            <p:nvPr/>
          </p:nvSpPr>
          <p:spPr>
            <a:xfrm>
              <a:off x="0" y="0"/>
              <a:ext cx="4816592" cy="1987665"/>
            </a:xfrm>
            <a:custGeom>
              <a:avLst/>
              <a:gdLst/>
              <a:ahLst/>
              <a:cxnLst/>
              <a:rect l="l" t="t" r="r" b="b"/>
              <a:pathLst>
                <a:path w="4816592" h="1987665">
                  <a:moveTo>
                    <a:pt x="0" y="0"/>
                  </a:moveTo>
                  <a:lnTo>
                    <a:pt x="4816592" y="0"/>
                  </a:lnTo>
                  <a:lnTo>
                    <a:pt x="4816592" y="1987665"/>
                  </a:lnTo>
                  <a:lnTo>
                    <a:pt x="0" y="1987665"/>
                  </a:lnTo>
                  <a:close/>
                </a:path>
              </a:pathLst>
            </a:custGeom>
            <a:solidFill>
              <a:srgbClr val="283728"/>
            </a:solidFill>
          </p:spPr>
        </p:sp>
        <p:sp>
          <p:nvSpPr>
            <p:cNvPr id="4" name="TextBox 4"/>
            <p:cNvSpPr txBox="1"/>
            <p:nvPr/>
          </p:nvSpPr>
          <p:spPr>
            <a:xfrm>
              <a:off x="0" y="-47625"/>
              <a:ext cx="4816593" cy="2035290"/>
            </a:xfrm>
            <a:prstGeom prst="rect">
              <a:avLst/>
            </a:prstGeom>
          </p:spPr>
          <p:txBody>
            <a:bodyPr lIns="50800" tIns="50800" rIns="50800" bIns="50800" rtlCol="0" anchor="ctr"/>
            <a:lstStyle/>
            <a:p>
              <a:pPr algn="ctr">
                <a:lnSpc>
                  <a:spcPts val="3079"/>
                </a:lnSpc>
              </a:pPr>
              <a:endParaRPr/>
            </a:p>
          </p:txBody>
        </p:sp>
      </p:grpSp>
      <p:grpSp>
        <p:nvGrpSpPr>
          <p:cNvPr id="5" name="Group 5"/>
          <p:cNvGrpSpPr/>
          <p:nvPr/>
        </p:nvGrpSpPr>
        <p:grpSpPr>
          <a:xfrm>
            <a:off x="16610134" y="0"/>
            <a:ext cx="1677866" cy="1679634"/>
            <a:chOff x="0" y="0"/>
            <a:chExt cx="568780" cy="569379"/>
          </a:xfrm>
        </p:grpSpPr>
        <p:sp>
          <p:nvSpPr>
            <p:cNvPr id="6" name="Freeform 6"/>
            <p:cNvSpPr/>
            <p:nvPr/>
          </p:nvSpPr>
          <p:spPr>
            <a:xfrm>
              <a:off x="0" y="0"/>
              <a:ext cx="568780" cy="569379"/>
            </a:xfrm>
            <a:custGeom>
              <a:avLst/>
              <a:gdLst/>
              <a:ahLst/>
              <a:cxnLst/>
              <a:rect l="l" t="t" r="r" b="b"/>
              <a:pathLst>
                <a:path w="568780" h="569379">
                  <a:moveTo>
                    <a:pt x="0" y="0"/>
                  </a:moveTo>
                  <a:lnTo>
                    <a:pt x="568780" y="0"/>
                  </a:lnTo>
                  <a:lnTo>
                    <a:pt x="568780" y="569379"/>
                  </a:lnTo>
                  <a:lnTo>
                    <a:pt x="0" y="569379"/>
                  </a:lnTo>
                  <a:close/>
                </a:path>
              </a:pathLst>
            </a:custGeom>
            <a:solidFill>
              <a:srgbClr val="283728"/>
            </a:solidFill>
          </p:spPr>
        </p:sp>
        <p:sp>
          <p:nvSpPr>
            <p:cNvPr id="7" name="TextBox 7"/>
            <p:cNvSpPr txBox="1"/>
            <p:nvPr/>
          </p:nvSpPr>
          <p:spPr>
            <a:xfrm>
              <a:off x="0" y="-47625"/>
              <a:ext cx="568780" cy="617004"/>
            </a:xfrm>
            <a:prstGeom prst="rect">
              <a:avLst/>
            </a:prstGeom>
          </p:spPr>
          <p:txBody>
            <a:bodyPr lIns="50800" tIns="50800" rIns="50800" bIns="50800" rtlCol="0" anchor="ctr"/>
            <a:lstStyle/>
            <a:p>
              <a:pPr algn="ctr">
                <a:lnSpc>
                  <a:spcPts val="3079"/>
                </a:lnSpc>
              </a:pPr>
              <a:endParaRPr/>
            </a:p>
          </p:txBody>
        </p:sp>
      </p:grpSp>
      <p:sp>
        <p:nvSpPr>
          <p:cNvPr id="8" name="Freeform 8"/>
          <p:cNvSpPr/>
          <p:nvPr/>
        </p:nvSpPr>
        <p:spPr>
          <a:xfrm>
            <a:off x="16872103" y="188695"/>
            <a:ext cx="1156433" cy="1302244"/>
          </a:xfrm>
          <a:custGeom>
            <a:avLst/>
            <a:gdLst/>
            <a:ahLst/>
            <a:cxnLst/>
            <a:rect l="l" t="t" r="r" b="b"/>
            <a:pathLst>
              <a:path w="1156433" h="1302244">
                <a:moveTo>
                  <a:pt x="0" y="0"/>
                </a:moveTo>
                <a:lnTo>
                  <a:pt x="1156433" y="0"/>
                </a:lnTo>
                <a:lnTo>
                  <a:pt x="1156433" y="1302244"/>
                </a:lnTo>
                <a:lnTo>
                  <a:pt x="0" y="1302244"/>
                </a:lnTo>
                <a:lnTo>
                  <a:pt x="0" y="0"/>
                </a:lnTo>
                <a:close/>
              </a:path>
            </a:pathLst>
          </a:custGeom>
          <a:blipFill>
            <a:blip r:embed="rId2"/>
            <a:stretch>
              <a:fillRect/>
            </a:stretch>
          </a:blipFill>
        </p:spPr>
      </p:sp>
      <p:sp>
        <p:nvSpPr>
          <p:cNvPr id="9" name="TextBox 9"/>
          <p:cNvSpPr txBox="1"/>
          <p:nvPr/>
        </p:nvSpPr>
        <p:spPr>
          <a:xfrm>
            <a:off x="201093" y="3576273"/>
            <a:ext cx="3365290" cy="571501"/>
          </a:xfrm>
          <a:prstGeom prst="rect">
            <a:avLst/>
          </a:prstGeom>
        </p:spPr>
        <p:txBody>
          <a:bodyPr lIns="0" tIns="0" rIns="0" bIns="0" rtlCol="0" anchor="t">
            <a:spAutoFit/>
          </a:bodyPr>
          <a:lstStyle/>
          <a:p>
            <a:pPr algn="l">
              <a:lnSpc>
                <a:spcPts val="4799"/>
              </a:lnSpc>
            </a:pPr>
            <a:r>
              <a:rPr lang="en-US" sz="2999" dirty="0" err="1">
                <a:solidFill>
                  <a:srgbClr val="FAF2EA"/>
                </a:solidFill>
                <a:latin typeface="Roboto"/>
                <a:ea typeface="Roboto"/>
                <a:cs typeface="Roboto"/>
                <a:sym typeface="Roboto"/>
              </a:rPr>
              <a:t>Lapisan</a:t>
            </a:r>
            <a:r>
              <a:rPr lang="en-US" sz="2999" dirty="0">
                <a:solidFill>
                  <a:srgbClr val="FAF2EA"/>
                </a:solidFill>
                <a:latin typeface="Roboto"/>
                <a:ea typeface="Roboto"/>
                <a:cs typeface="Roboto"/>
                <a:sym typeface="Roboto"/>
              </a:rPr>
              <a:t> Decoder</a:t>
            </a:r>
          </a:p>
        </p:txBody>
      </p:sp>
      <p:sp>
        <p:nvSpPr>
          <p:cNvPr id="10" name="TextBox 10"/>
          <p:cNvSpPr txBox="1"/>
          <p:nvPr/>
        </p:nvSpPr>
        <p:spPr>
          <a:xfrm>
            <a:off x="201093" y="4023949"/>
            <a:ext cx="17827443" cy="1771651"/>
          </a:xfrm>
          <a:prstGeom prst="rect">
            <a:avLst/>
          </a:prstGeom>
        </p:spPr>
        <p:txBody>
          <a:bodyPr lIns="0" tIns="0" rIns="0" bIns="0" rtlCol="0" anchor="t">
            <a:spAutoFit/>
          </a:bodyPr>
          <a:lstStyle/>
          <a:p>
            <a:pPr algn="l">
              <a:lnSpc>
                <a:spcPts val="4799"/>
              </a:lnSpc>
            </a:pPr>
            <a:r>
              <a:rPr lang="en-US" sz="2999" dirty="0" err="1">
                <a:solidFill>
                  <a:srgbClr val="FAF2EA"/>
                </a:solidFill>
                <a:latin typeface="Roboto"/>
                <a:ea typeface="Roboto"/>
                <a:cs typeface="Roboto"/>
                <a:sym typeface="Roboto"/>
              </a:rPr>
              <a:t>Lapisan</a:t>
            </a:r>
            <a:r>
              <a:rPr lang="en-US" sz="2999" dirty="0">
                <a:solidFill>
                  <a:srgbClr val="FAF2EA"/>
                </a:solidFill>
                <a:latin typeface="Roboto"/>
                <a:ea typeface="Roboto"/>
                <a:cs typeface="Roboto"/>
                <a:sym typeface="Roboto"/>
              </a:rPr>
              <a:t> decoder </a:t>
            </a:r>
            <a:r>
              <a:rPr lang="en-US" sz="2999" dirty="0" err="1">
                <a:solidFill>
                  <a:srgbClr val="FAF2EA"/>
                </a:solidFill>
                <a:latin typeface="Roboto"/>
                <a:ea typeface="Roboto"/>
                <a:cs typeface="Roboto"/>
                <a:sym typeface="Roboto"/>
              </a:rPr>
              <a:t>berfungsi</a:t>
            </a:r>
            <a:r>
              <a:rPr lang="en-US" sz="2999" dirty="0">
                <a:solidFill>
                  <a:srgbClr val="FAF2EA"/>
                </a:solidFill>
                <a:latin typeface="Roboto"/>
                <a:ea typeface="Roboto"/>
                <a:cs typeface="Roboto"/>
                <a:sym typeface="Roboto"/>
              </a:rPr>
              <a:t> untuk </a:t>
            </a:r>
            <a:r>
              <a:rPr lang="en-US" sz="2999" dirty="0" err="1">
                <a:solidFill>
                  <a:srgbClr val="FAF2EA"/>
                </a:solidFill>
                <a:latin typeface="Roboto"/>
                <a:ea typeface="Roboto"/>
                <a:cs typeface="Roboto"/>
                <a:sym typeface="Roboto"/>
              </a:rPr>
              <a:t>merekonstruksi</a:t>
            </a:r>
            <a:r>
              <a:rPr lang="en-US" sz="2999" dirty="0">
                <a:solidFill>
                  <a:srgbClr val="FAF2EA"/>
                </a:solidFill>
                <a:latin typeface="Roboto"/>
                <a:ea typeface="Roboto"/>
                <a:cs typeface="Roboto"/>
                <a:sym typeface="Roboto"/>
              </a:rPr>
              <a:t> data </a:t>
            </a:r>
            <a:r>
              <a:rPr lang="en-US" sz="2999" dirty="0" err="1">
                <a:solidFill>
                  <a:srgbClr val="FAF2EA"/>
                </a:solidFill>
                <a:latin typeface="Roboto"/>
                <a:ea typeface="Roboto"/>
                <a:cs typeface="Roboto"/>
                <a:sym typeface="Roboto"/>
              </a:rPr>
              <a:t>dari</a:t>
            </a:r>
            <a:r>
              <a:rPr lang="en-US" sz="2999" dirty="0">
                <a:solidFill>
                  <a:srgbClr val="FAF2EA"/>
                </a:solidFill>
                <a:latin typeface="Roboto"/>
                <a:ea typeface="Roboto"/>
                <a:cs typeface="Roboto"/>
                <a:sym typeface="Roboto"/>
              </a:rPr>
              <a:t> </a:t>
            </a:r>
            <a:r>
              <a:rPr lang="en-US" sz="2999" dirty="0" err="1">
                <a:solidFill>
                  <a:srgbClr val="FAF2EA"/>
                </a:solidFill>
                <a:latin typeface="Roboto"/>
                <a:ea typeface="Roboto"/>
                <a:cs typeface="Roboto"/>
                <a:sym typeface="Roboto"/>
              </a:rPr>
              <a:t>representasi</a:t>
            </a:r>
            <a:r>
              <a:rPr lang="en-US" sz="2999" dirty="0">
                <a:solidFill>
                  <a:srgbClr val="FAF2EA"/>
                </a:solidFill>
                <a:latin typeface="Roboto"/>
                <a:ea typeface="Roboto"/>
                <a:cs typeface="Roboto"/>
                <a:sym typeface="Roboto"/>
              </a:rPr>
              <a:t> laten. </a:t>
            </a:r>
            <a:r>
              <a:rPr lang="en-US" sz="2999" dirty="0" err="1">
                <a:solidFill>
                  <a:srgbClr val="FAF2EA"/>
                </a:solidFill>
                <a:latin typeface="Roboto"/>
                <a:ea typeface="Roboto"/>
                <a:cs typeface="Roboto"/>
                <a:sym typeface="Roboto"/>
              </a:rPr>
              <a:t>Lapisan</a:t>
            </a:r>
            <a:r>
              <a:rPr lang="en-US" sz="2999" dirty="0">
                <a:solidFill>
                  <a:srgbClr val="FAF2EA"/>
                </a:solidFill>
                <a:latin typeface="Roboto"/>
                <a:ea typeface="Roboto"/>
                <a:cs typeface="Roboto"/>
                <a:sym typeface="Roboto"/>
              </a:rPr>
              <a:t> ini </a:t>
            </a:r>
            <a:r>
              <a:rPr lang="en-US" sz="2999" dirty="0" err="1">
                <a:solidFill>
                  <a:srgbClr val="FAF2EA"/>
                </a:solidFill>
                <a:latin typeface="Roboto"/>
                <a:ea typeface="Roboto"/>
                <a:cs typeface="Roboto"/>
                <a:sym typeface="Roboto"/>
              </a:rPr>
              <a:t>akan</a:t>
            </a:r>
            <a:r>
              <a:rPr lang="en-US" sz="2999" dirty="0">
                <a:solidFill>
                  <a:srgbClr val="FAF2EA"/>
                </a:solidFill>
                <a:latin typeface="Roboto"/>
                <a:ea typeface="Roboto"/>
                <a:cs typeface="Roboto"/>
                <a:sym typeface="Roboto"/>
              </a:rPr>
              <a:t> </a:t>
            </a:r>
            <a:r>
              <a:rPr lang="en-US" sz="2999" dirty="0" err="1">
                <a:solidFill>
                  <a:srgbClr val="FAF2EA"/>
                </a:solidFill>
                <a:latin typeface="Roboto"/>
                <a:ea typeface="Roboto"/>
                <a:cs typeface="Roboto"/>
                <a:sym typeface="Roboto"/>
              </a:rPr>
              <a:t>menerima</a:t>
            </a:r>
            <a:r>
              <a:rPr lang="en-US" sz="2999" dirty="0">
                <a:solidFill>
                  <a:srgbClr val="FAF2EA"/>
                </a:solidFill>
                <a:latin typeface="Roboto"/>
                <a:ea typeface="Roboto"/>
                <a:cs typeface="Roboto"/>
                <a:sym typeface="Roboto"/>
              </a:rPr>
              <a:t> </a:t>
            </a:r>
            <a:r>
              <a:rPr lang="en-US" sz="2999" dirty="0" err="1">
                <a:solidFill>
                  <a:srgbClr val="FAF2EA"/>
                </a:solidFill>
                <a:latin typeface="Roboto"/>
                <a:ea typeface="Roboto"/>
                <a:cs typeface="Roboto"/>
                <a:sym typeface="Roboto"/>
              </a:rPr>
              <a:t>masukan</a:t>
            </a:r>
            <a:r>
              <a:rPr lang="en-US" sz="2999" dirty="0">
                <a:solidFill>
                  <a:srgbClr val="FAF2EA"/>
                </a:solidFill>
                <a:latin typeface="Roboto"/>
                <a:ea typeface="Roboto"/>
                <a:cs typeface="Roboto"/>
                <a:sym typeface="Roboto"/>
              </a:rPr>
              <a:t> </a:t>
            </a:r>
            <a:r>
              <a:rPr lang="en-US" sz="2999" dirty="0" err="1">
                <a:solidFill>
                  <a:srgbClr val="FAF2EA"/>
                </a:solidFill>
                <a:latin typeface="Roboto"/>
                <a:ea typeface="Roboto"/>
                <a:cs typeface="Roboto"/>
                <a:sym typeface="Roboto"/>
              </a:rPr>
              <a:t>berupa</a:t>
            </a:r>
            <a:r>
              <a:rPr lang="en-US" sz="2999" dirty="0">
                <a:solidFill>
                  <a:srgbClr val="FAF2EA"/>
                </a:solidFill>
                <a:latin typeface="Roboto"/>
                <a:ea typeface="Roboto"/>
                <a:cs typeface="Roboto"/>
                <a:sym typeface="Roboto"/>
              </a:rPr>
              <a:t> </a:t>
            </a:r>
            <a:r>
              <a:rPr lang="en-US" sz="2999" dirty="0" err="1">
                <a:solidFill>
                  <a:srgbClr val="FAF2EA"/>
                </a:solidFill>
                <a:latin typeface="Roboto"/>
                <a:ea typeface="Roboto"/>
                <a:cs typeface="Roboto"/>
                <a:sym typeface="Roboto"/>
              </a:rPr>
              <a:t>sampel</a:t>
            </a:r>
            <a:r>
              <a:rPr lang="en-US" sz="2999" dirty="0">
                <a:solidFill>
                  <a:srgbClr val="FAF2EA"/>
                </a:solidFill>
                <a:latin typeface="Roboto"/>
                <a:ea typeface="Roboto"/>
                <a:cs typeface="Roboto"/>
                <a:sym typeface="Roboto"/>
              </a:rPr>
              <a:t> z </a:t>
            </a:r>
            <a:r>
              <a:rPr lang="en-US" sz="2999" dirty="0" err="1">
                <a:solidFill>
                  <a:srgbClr val="FAF2EA"/>
                </a:solidFill>
                <a:latin typeface="Roboto"/>
                <a:ea typeface="Roboto"/>
                <a:cs typeface="Roboto"/>
                <a:sym typeface="Roboto"/>
              </a:rPr>
              <a:t>dari</a:t>
            </a:r>
            <a:r>
              <a:rPr lang="en-US" sz="2999" dirty="0">
                <a:solidFill>
                  <a:srgbClr val="FAF2EA"/>
                </a:solidFill>
                <a:latin typeface="Roboto"/>
                <a:ea typeface="Roboto"/>
                <a:cs typeface="Roboto"/>
                <a:sym typeface="Roboto"/>
              </a:rPr>
              <a:t> </a:t>
            </a:r>
            <a:r>
              <a:rPr lang="en-US" sz="2999" dirty="0" err="1">
                <a:solidFill>
                  <a:srgbClr val="FAF2EA"/>
                </a:solidFill>
                <a:latin typeface="Roboto"/>
                <a:ea typeface="Roboto"/>
                <a:cs typeface="Roboto"/>
                <a:sym typeface="Roboto"/>
              </a:rPr>
              <a:t>distribusi</a:t>
            </a:r>
            <a:r>
              <a:rPr lang="en-US" sz="2999" dirty="0">
                <a:solidFill>
                  <a:srgbClr val="FAF2EA"/>
                </a:solidFill>
                <a:latin typeface="Roboto"/>
                <a:ea typeface="Roboto"/>
                <a:cs typeface="Roboto"/>
                <a:sym typeface="Roboto"/>
              </a:rPr>
              <a:t> laten dan </a:t>
            </a:r>
            <a:r>
              <a:rPr lang="en-US" sz="2999" dirty="0" err="1">
                <a:solidFill>
                  <a:srgbClr val="FAF2EA"/>
                </a:solidFill>
                <a:latin typeface="Roboto"/>
                <a:ea typeface="Roboto"/>
                <a:cs typeface="Roboto"/>
                <a:sym typeface="Roboto"/>
              </a:rPr>
              <a:t>menghasilkan</a:t>
            </a:r>
            <a:r>
              <a:rPr lang="en-US" sz="2999" dirty="0">
                <a:solidFill>
                  <a:srgbClr val="FAF2EA"/>
                </a:solidFill>
                <a:latin typeface="Roboto"/>
                <a:ea typeface="Roboto"/>
                <a:cs typeface="Roboto"/>
                <a:sym typeface="Roboto"/>
              </a:rPr>
              <a:t> </a:t>
            </a:r>
            <a:r>
              <a:rPr lang="en-US" sz="2999" dirty="0" err="1">
                <a:solidFill>
                  <a:srgbClr val="FAF2EA"/>
                </a:solidFill>
                <a:latin typeface="Roboto"/>
                <a:ea typeface="Roboto"/>
                <a:cs typeface="Roboto"/>
                <a:sym typeface="Roboto"/>
              </a:rPr>
              <a:t>luaran</a:t>
            </a:r>
            <a:r>
              <a:rPr lang="en-US" sz="2999" dirty="0">
                <a:solidFill>
                  <a:srgbClr val="FAF2EA"/>
                </a:solidFill>
                <a:latin typeface="Roboto"/>
                <a:ea typeface="Roboto"/>
                <a:cs typeface="Roboto"/>
                <a:sym typeface="Roboto"/>
              </a:rPr>
              <a:t> </a:t>
            </a:r>
            <a:r>
              <a:rPr lang="en-US" sz="2999" dirty="0" err="1">
                <a:solidFill>
                  <a:srgbClr val="FAF2EA"/>
                </a:solidFill>
                <a:latin typeface="Roboto"/>
                <a:ea typeface="Roboto"/>
                <a:cs typeface="Roboto"/>
                <a:sym typeface="Roboto"/>
              </a:rPr>
              <a:t>berupa</a:t>
            </a:r>
            <a:r>
              <a:rPr lang="en-US" sz="2999" dirty="0">
                <a:solidFill>
                  <a:srgbClr val="FAF2EA"/>
                </a:solidFill>
                <a:latin typeface="Roboto"/>
                <a:ea typeface="Roboto"/>
                <a:cs typeface="Roboto"/>
                <a:sym typeface="Roboto"/>
              </a:rPr>
              <a:t> </a:t>
            </a:r>
            <a:r>
              <a:rPr lang="en-US" sz="2999" dirty="0" err="1">
                <a:solidFill>
                  <a:srgbClr val="FAF2EA"/>
                </a:solidFill>
                <a:latin typeface="Roboto"/>
                <a:ea typeface="Roboto"/>
                <a:cs typeface="Roboto"/>
                <a:sym typeface="Roboto"/>
              </a:rPr>
              <a:t>rekonstruksi</a:t>
            </a:r>
            <a:r>
              <a:rPr lang="en-US" sz="2999" dirty="0">
                <a:solidFill>
                  <a:srgbClr val="FAF2EA"/>
                </a:solidFill>
                <a:latin typeface="Roboto"/>
                <a:ea typeface="Roboto"/>
                <a:cs typeface="Roboto"/>
                <a:sym typeface="Roboto"/>
              </a:rPr>
              <a:t> </a:t>
            </a:r>
            <a:r>
              <a:rPr lang="en-US" sz="2999" dirty="0" err="1">
                <a:solidFill>
                  <a:srgbClr val="FAF2EA"/>
                </a:solidFill>
                <a:latin typeface="Roboto"/>
                <a:ea typeface="Roboto"/>
                <a:cs typeface="Roboto"/>
                <a:sym typeface="Roboto"/>
              </a:rPr>
              <a:t>dari</a:t>
            </a:r>
            <a:r>
              <a:rPr lang="en-US" sz="2999" dirty="0">
                <a:solidFill>
                  <a:srgbClr val="FAF2EA"/>
                </a:solidFill>
                <a:latin typeface="Roboto"/>
                <a:ea typeface="Roboto"/>
                <a:cs typeface="Roboto"/>
                <a:sym typeface="Roboto"/>
              </a:rPr>
              <a:t> data </a:t>
            </a:r>
            <a:r>
              <a:rPr lang="en-US" sz="2999" dirty="0" err="1">
                <a:solidFill>
                  <a:srgbClr val="FAF2EA"/>
                </a:solidFill>
                <a:latin typeface="Roboto"/>
                <a:ea typeface="Roboto"/>
                <a:cs typeface="Roboto"/>
                <a:sym typeface="Roboto"/>
              </a:rPr>
              <a:t>masukkan</a:t>
            </a:r>
            <a:r>
              <a:rPr lang="en-US" sz="2999" dirty="0">
                <a:solidFill>
                  <a:srgbClr val="FAF2EA"/>
                </a:solidFill>
                <a:latin typeface="Roboto"/>
                <a:ea typeface="Roboto"/>
                <a:cs typeface="Roboto"/>
                <a:sym typeface="Roboto"/>
              </a:rPr>
              <a:t>.</a:t>
            </a:r>
          </a:p>
        </p:txBody>
      </p:sp>
      <p:sp>
        <p:nvSpPr>
          <p:cNvPr id="11" name="Freeform 11"/>
          <p:cNvSpPr/>
          <p:nvPr/>
        </p:nvSpPr>
        <p:spPr>
          <a:xfrm>
            <a:off x="3487093" y="6275167"/>
            <a:ext cx="11313815" cy="1561982"/>
          </a:xfrm>
          <a:custGeom>
            <a:avLst/>
            <a:gdLst/>
            <a:ahLst/>
            <a:cxnLst/>
            <a:rect l="l" t="t" r="r" b="b"/>
            <a:pathLst>
              <a:path w="11313815" h="1561982">
                <a:moveTo>
                  <a:pt x="0" y="0"/>
                </a:moveTo>
                <a:lnTo>
                  <a:pt x="11313814" y="0"/>
                </a:lnTo>
                <a:lnTo>
                  <a:pt x="11313814" y="1561982"/>
                </a:lnTo>
                <a:lnTo>
                  <a:pt x="0" y="1561982"/>
                </a:lnTo>
                <a:lnTo>
                  <a:pt x="0" y="0"/>
                </a:lnTo>
                <a:close/>
              </a:path>
            </a:pathLst>
          </a:custGeom>
          <a:blipFill>
            <a:blip r:embed="rId3"/>
            <a:stretch>
              <a:fillRect/>
            </a:stretch>
          </a:blipFill>
        </p:spPr>
      </p:sp>
      <p:sp>
        <p:nvSpPr>
          <p:cNvPr id="12" name="TextBox 12"/>
          <p:cNvSpPr txBox="1"/>
          <p:nvPr/>
        </p:nvSpPr>
        <p:spPr>
          <a:xfrm>
            <a:off x="16610134" y="9518480"/>
            <a:ext cx="598073" cy="311277"/>
          </a:xfrm>
          <a:prstGeom prst="rect">
            <a:avLst/>
          </a:prstGeom>
        </p:spPr>
        <p:txBody>
          <a:bodyPr lIns="0" tIns="0" rIns="0" bIns="0" rtlCol="0" anchor="t">
            <a:spAutoFit/>
          </a:bodyPr>
          <a:lstStyle/>
          <a:p>
            <a:pPr algn="ctr">
              <a:lnSpc>
                <a:spcPts val="2304"/>
              </a:lnSpc>
            </a:pPr>
            <a:r>
              <a:rPr lang="en-US" sz="2400">
                <a:solidFill>
                  <a:srgbClr val="283728"/>
                </a:solidFill>
                <a:latin typeface="Adirek Sans Bold"/>
                <a:ea typeface="Adirek Sans Bold"/>
                <a:cs typeface="Adirek Sans Bold"/>
                <a:sym typeface="Adirek Sans Bold"/>
              </a:rPr>
              <a:t>2024</a:t>
            </a:r>
          </a:p>
        </p:txBody>
      </p:sp>
      <p:sp>
        <p:nvSpPr>
          <p:cNvPr id="13" name="TextBox 13"/>
          <p:cNvSpPr txBox="1"/>
          <p:nvPr/>
        </p:nvSpPr>
        <p:spPr>
          <a:xfrm>
            <a:off x="201093" y="960220"/>
            <a:ext cx="9949740" cy="978577"/>
          </a:xfrm>
          <a:prstGeom prst="rect">
            <a:avLst/>
          </a:prstGeom>
        </p:spPr>
        <p:txBody>
          <a:bodyPr lIns="0" tIns="0" rIns="0" bIns="0" rtlCol="0" anchor="t">
            <a:spAutoFit/>
          </a:bodyPr>
          <a:lstStyle/>
          <a:p>
            <a:pPr algn="l">
              <a:lnSpc>
                <a:spcPts val="5771"/>
              </a:lnSpc>
            </a:pPr>
            <a:r>
              <a:rPr lang="en-US" sz="11543">
                <a:solidFill>
                  <a:srgbClr val="283728"/>
                </a:solidFill>
                <a:latin typeface="Adirek Sans Heavy"/>
                <a:ea typeface="Adirek Sans Heavy"/>
                <a:cs typeface="Adirek Sans Heavy"/>
                <a:sym typeface="Adirek Sans Heavy"/>
              </a:rPr>
              <a:t>TINJAUAN TEORI</a:t>
            </a:r>
          </a:p>
        </p:txBody>
      </p:sp>
      <p:sp>
        <p:nvSpPr>
          <p:cNvPr id="14" name="TextBox 14"/>
          <p:cNvSpPr txBox="1"/>
          <p:nvPr/>
        </p:nvSpPr>
        <p:spPr>
          <a:xfrm>
            <a:off x="201093" y="2146359"/>
            <a:ext cx="11724549" cy="593725"/>
          </a:xfrm>
          <a:prstGeom prst="rect">
            <a:avLst/>
          </a:prstGeom>
        </p:spPr>
        <p:txBody>
          <a:bodyPr lIns="0" tIns="0" rIns="0" bIns="0" rtlCol="0" anchor="t">
            <a:spAutoFit/>
          </a:bodyPr>
          <a:lstStyle/>
          <a:p>
            <a:pPr algn="l">
              <a:lnSpc>
                <a:spcPts val="3499"/>
              </a:lnSpc>
            </a:pPr>
            <a:r>
              <a:rPr lang="en-US" sz="6999">
                <a:solidFill>
                  <a:srgbClr val="283728"/>
                </a:solidFill>
                <a:latin typeface="Adirek Sans Heavy"/>
                <a:ea typeface="Adirek Sans Heavy"/>
                <a:cs typeface="Adirek Sans Heavy"/>
                <a:sym typeface="Adirek Sans Heavy"/>
              </a:rPr>
              <a:t>VARIATIONAL AUTOENCODER (VAE)</a:t>
            </a:r>
          </a:p>
        </p:txBody>
      </p:sp>
      <p:sp>
        <p:nvSpPr>
          <p:cNvPr id="15" name="TextBox 15"/>
          <p:cNvSpPr txBox="1"/>
          <p:nvPr/>
        </p:nvSpPr>
        <p:spPr>
          <a:xfrm>
            <a:off x="201093" y="2871422"/>
            <a:ext cx="12670113" cy="571501"/>
          </a:xfrm>
          <a:prstGeom prst="rect">
            <a:avLst/>
          </a:prstGeom>
        </p:spPr>
        <p:txBody>
          <a:bodyPr lIns="0" tIns="0" rIns="0" bIns="0" rtlCol="0" anchor="t">
            <a:spAutoFit/>
          </a:bodyPr>
          <a:lstStyle/>
          <a:p>
            <a:pPr algn="l">
              <a:lnSpc>
                <a:spcPts val="4799"/>
              </a:lnSpc>
            </a:pPr>
            <a:r>
              <a:rPr lang="en-US" sz="2999" dirty="0">
                <a:solidFill>
                  <a:srgbClr val="FAF2EA"/>
                </a:solidFill>
                <a:latin typeface="Roboto"/>
                <a:ea typeface="Roboto"/>
                <a:cs typeface="Roboto"/>
                <a:sym typeface="Roboto"/>
              </a:rPr>
              <a:t>VAE </a:t>
            </a:r>
            <a:r>
              <a:rPr lang="en-US" sz="2999" dirty="0" err="1">
                <a:solidFill>
                  <a:srgbClr val="FAF2EA"/>
                </a:solidFill>
                <a:latin typeface="Roboto"/>
                <a:ea typeface="Roboto"/>
                <a:cs typeface="Roboto"/>
                <a:sym typeface="Roboto"/>
              </a:rPr>
              <a:t>terdiri</a:t>
            </a:r>
            <a:r>
              <a:rPr lang="en-US" sz="2999" dirty="0">
                <a:solidFill>
                  <a:srgbClr val="FAF2EA"/>
                </a:solidFill>
                <a:latin typeface="Roboto"/>
                <a:ea typeface="Roboto"/>
                <a:cs typeface="Roboto"/>
                <a:sym typeface="Roboto"/>
              </a:rPr>
              <a:t> </a:t>
            </a:r>
            <a:r>
              <a:rPr lang="en-US" sz="2999" dirty="0" err="1">
                <a:solidFill>
                  <a:srgbClr val="FAF2EA"/>
                </a:solidFill>
                <a:latin typeface="Roboto"/>
                <a:ea typeface="Roboto"/>
                <a:cs typeface="Roboto"/>
                <a:sym typeface="Roboto"/>
              </a:rPr>
              <a:t>dari</a:t>
            </a:r>
            <a:r>
              <a:rPr lang="en-US" sz="2999" dirty="0">
                <a:solidFill>
                  <a:srgbClr val="FAF2EA"/>
                </a:solidFill>
                <a:latin typeface="Roboto"/>
                <a:ea typeface="Roboto"/>
                <a:cs typeface="Roboto"/>
                <a:sym typeface="Roboto"/>
              </a:rPr>
              <a:t> </a:t>
            </a:r>
            <a:r>
              <a:rPr lang="en-US" sz="2999" dirty="0" err="1">
                <a:solidFill>
                  <a:srgbClr val="FAF2EA"/>
                </a:solidFill>
                <a:latin typeface="Roboto"/>
                <a:ea typeface="Roboto"/>
                <a:cs typeface="Roboto"/>
                <a:sym typeface="Roboto"/>
              </a:rPr>
              <a:t>beberapa</a:t>
            </a:r>
            <a:r>
              <a:rPr lang="en-US" sz="2999" dirty="0">
                <a:solidFill>
                  <a:srgbClr val="FAF2EA"/>
                </a:solidFill>
                <a:latin typeface="Roboto"/>
                <a:ea typeface="Roboto"/>
                <a:cs typeface="Roboto"/>
                <a:sym typeface="Roboto"/>
              </a:rPr>
              <a:t> </a:t>
            </a:r>
            <a:r>
              <a:rPr lang="en-US" sz="2999" dirty="0" err="1">
                <a:solidFill>
                  <a:srgbClr val="FAF2EA"/>
                </a:solidFill>
                <a:latin typeface="Roboto"/>
                <a:ea typeface="Roboto"/>
                <a:cs typeface="Roboto"/>
                <a:sym typeface="Roboto"/>
              </a:rPr>
              <a:t>lpisan</a:t>
            </a:r>
            <a:endParaRPr lang="en-US" sz="2999" dirty="0">
              <a:solidFill>
                <a:srgbClr val="FAF2EA"/>
              </a:solidFill>
              <a:latin typeface="Roboto"/>
              <a:ea typeface="Roboto"/>
              <a:cs typeface="Roboto"/>
              <a:sym typeface="Roboto"/>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AF2EA"/>
        </a:solidFill>
        <a:effectLst/>
      </p:bgPr>
    </p:bg>
    <p:spTree>
      <p:nvGrpSpPr>
        <p:cNvPr id="1" name=""/>
        <p:cNvGrpSpPr/>
        <p:nvPr/>
      </p:nvGrpSpPr>
      <p:grpSpPr>
        <a:xfrm>
          <a:off x="0" y="0"/>
          <a:ext cx="0" cy="0"/>
          <a:chOff x="0" y="0"/>
          <a:chExt cx="0" cy="0"/>
        </a:xfrm>
      </p:grpSpPr>
      <p:grpSp>
        <p:nvGrpSpPr>
          <p:cNvPr id="2" name="Group 2"/>
          <p:cNvGrpSpPr/>
          <p:nvPr/>
        </p:nvGrpSpPr>
        <p:grpSpPr>
          <a:xfrm>
            <a:off x="0" y="2740084"/>
            <a:ext cx="18288000" cy="7546916"/>
            <a:chOff x="0" y="0"/>
            <a:chExt cx="4816593" cy="1987665"/>
          </a:xfrm>
        </p:grpSpPr>
        <p:sp>
          <p:nvSpPr>
            <p:cNvPr id="3" name="Freeform 3"/>
            <p:cNvSpPr/>
            <p:nvPr/>
          </p:nvSpPr>
          <p:spPr>
            <a:xfrm>
              <a:off x="0" y="0"/>
              <a:ext cx="4816592" cy="1987665"/>
            </a:xfrm>
            <a:custGeom>
              <a:avLst/>
              <a:gdLst/>
              <a:ahLst/>
              <a:cxnLst/>
              <a:rect l="l" t="t" r="r" b="b"/>
              <a:pathLst>
                <a:path w="4816592" h="1987665">
                  <a:moveTo>
                    <a:pt x="0" y="0"/>
                  </a:moveTo>
                  <a:lnTo>
                    <a:pt x="4816592" y="0"/>
                  </a:lnTo>
                  <a:lnTo>
                    <a:pt x="4816592" y="1987665"/>
                  </a:lnTo>
                  <a:lnTo>
                    <a:pt x="0" y="1987665"/>
                  </a:lnTo>
                  <a:close/>
                </a:path>
              </a:pathLst>
            </a:custGeom>
            <a:solidFill>
              <a:srgbClr val="283728"/>
            </a:solidFill>
          </p:spPr>
        </p:sp>
        <p:sp>
          <p:nvSpPr>
            <p:cNvPr id="4" name="TextBox 4"/>
            <p:cNvSpPr txBox="1"/>
            <p:nvPr/>
          </p:nvSpPr>
          <p:spPr>
            <a:xfrm>
              <a:off x="0" y="-47625"/>
              <a:ext cx="4816593" cy="2035290"/>
            </a:xfrm>
            <a:prstGeom prst="rect">
              <a:avLst/>
            </a:prstGeom>
          </p:spPr>
          <p:txBody>
            <a:bodyPr lIns="50800" tIns="50800" rIns="50800" bIns="50800" rtlCol="0" anchor="ctr"/>
            <a:lstStyle/>
            <a:p>
              <a:pPr algn="ctr">
                <a:lnSpc>
                  <a:spcPts val="3079"/>
                </a:lnSpc>
              </a:pPr>
              <a:endParaRPr/>
            </a:p>
          </p:txBody>
        </p:sp>
      </p:grpSp>
      <p:grpSp>
        <p:nvGrpSpPr>
          <p:cNvPr id="5" name="Group 5"/>
          <p:cNvGrpSpPr/>
          <p:nvPr/>
        </p:nvGrpSpPr>
        <p:grpSpPr>
          <a:xfrm>
            <a:off x="16610134" y="0"/>
            <a:ext cx="1677866" cy="1679634"/>
            <a:chOff x="0" y="0"/>
            <a:chExt cx="568780" cy="569379"/>
          </a:xfrm>
        </p:grpSpPr>
        <p:sp>
          <p:nvSpPr>
            <p:cNvPr id="6" name="Freeform 6"/>
            <p:cNvSpPr/>
            <p:nvPr/>
          </p:nvSpPr>
          <p:spPr>
            <a:xfrm>
              <a:off x="0" y="0"/>
              <a:ext cx="568780" cy="569379"/>
            </a:xfrm>
            <a:custGeom>
              <a:avLst/>
              <a:gdLst/>
              <a:ahLst/>
              <a:cxnLst/>
              <a:rect l="l" t="t" r="r" b="b"/>
              <a:pathLst>
                <a:path w="568780" h="569379">
                  <a:moveTo>
                    <a:pt x="0" y="0"/>
                  </a:moveTo>
                  <a:lnTo>
                    <a:pt x="568780" y="0"/>
                  </a:lnTo>
                  <a:lnTo>
                    <a:pt x="568780" y="569379"/>
                  </a:lnTo>
                  <a:lnTo>
                    <a:pt x="0" y="569379"/>
                  </a:lnTo>
                  <a:close/>
                </a:path>
              </a:pathLst>
            </a:custGeom>
            <a:solidFill>
              <a:srgbClr val="283728"/>
            </a:solidFill>
          </p:spPr>
        </p:sp>
        <p:sp>
          <p:nvSpPr>
            <p:cNvPr id="7" name="TextBox 7"/>
            <p:cNvSpPr txBox="1"/>
            <p:nvPr/>
          </p:nvSpPr>
          <p:spPr>
            <a:xfrm>
              <a:off x="0" y="-47625"/>
              <a:ext cx="568780" cy="617004"/>
            </a:xfrm>
            <a:prstGeom prst="rect">
              <a:avLst/>
            </a:prstGeom>
          </p:spPr>
          <p:txBody>
            <a:bodyPr lIns="50800" tIns="50800" rIns="50800" bIns="50800" rtlCol="0" anchor="ctr"/>
            <a:lstStyle/>
            <a:p>
              <a:pPr algn="ctr">
                <a:lnSpc>
                  <a:spcPts val="3079"/>
                </a:lnSpc>
              </a:pPr>
              <a:endParaRPr/>
            </a:p>
          </p:txBody>
        </p:sp>
      </p:grpSp>
      <p:sp>
        <p:nvSpPr>
          <p:cNvPr id="8" name="Freeform 8"/>
          <p:cNvSpPr/>
          <p:nvPr/>
        </p:nvSpPr>
        <p:spPr>
          <a:xfrm>
            <a:off x="16872103" y="188695"/>
            <a:ext cx="1156433" cy="1302244"/>
          </a:xfrm>
          <a:custGeom>
            <a:avLst/>
            <a:gdLst/>
            <a:ahLst/>
            <a:cxnLst/>
            <a:rect l="l" t="t" r="r" b="b"/>
            <a:pathLst>
              <a:path w="1156433" h="1302244">
                <a:moveTo>
                  <a:pt x="0" y="0"/>
                </a:moveTo>
                <a:lnTo>
                  <a:pt x="1156433" y="0"/>
                </a:lnTo>
                <a:lnTo>
                  <a:pt x="1156433" y="1302244"/>
                </a:lnTo>
                <a:lnTo>
                  <a:pt x="0" y="1302244"/>
                </a:lnTo>
                <a:lnTo>
                  <a:pt x="0" y="0"/>
                </a:lnTo>
                <a:close/>
              </a:path>
            </a:pathLst>
          </a:custGeom>
          <a:blipFill>
            <a:blip r:embed="rId2"/>
            <a:stretch>
              <a:fillRect/>
            </a:stretch>
          </a:blipFill>
        </p:spPr>
      </p:sp>
      <p:sp>
        <p:nvSpPr>
          <p:cNvPr id="9" name="Freeform 9"/>
          <p:cNvSpPr/>
          <p:nvPr/>
        </p:nvSpPr>
        <p:spPr>
          <a:xfrm>
            <a:off x="230278" y="6605417"/>
            <a:ext cx="11777839" cy="905988"/>
          </a:xfrm>
          <a:custGeom>
            <a:avLst/>
            <a:gdLst/>
            <a:ahLst/>
            <a:cxnLst/>
            <a:rect l="l" t="t" r="r" b="b"/>
            <a:pathLst>
              <a:path w="11777839" h="905988">
                <a:moveTo>
                  <a:pt x="0" y="0"/>
                </a:moveTo>
                <a:lnTo>
                  <a:pt x="11777839" y="0"/>
                </a:lnTo>
                <a:lnTo>
                  <a:pt x="11777839" y="905987"/>
                </a:lnTo>
                <a:lnTo>
                  <a:pt x="0" y="905987"/>
                </a:lnTo>
                <a:lnTo>
                  <a:pt x="0" y="0"/>
                </a:lnTo>
                <a:close/>
              </a:path>
            </a:pathLst>
          </a:custGeom>
          <a:blipFill>
            <a:blip r:embed="rId3"/>
            <a:stretch>
              <a:fillRect/>
            </a:stretch>
          </a:blipFill>
        </p:spPr>
      </p:sp>
      <p:sp>
        <p:nvSpPr>
          <p:cNvPr id="10" name="TextBox 10"/>
          <p:cNvSpPr txBox="1"/>
          <p:nvPr/>
        </p:nvSpPr>
        <p:spPr>
          <a:xfrm>
            <a:off x="201093" y="2852565"/>
            <a:ext cx="17827443" cy="1771651"/>
          </a:xfrm>
          <a:prstGeom prst="rect">
            <a:avLst/>
          </a:prstGeom>
        </p:spPr>
        <p:txBody>
          <a:bodyPr lIns="0" tIns="0" rIns="0" bIns="0" rtlCol="0" anchor="t">
            <a:spAutoFit/>
          </a:bodyPr>
          <a:lstStyle/>
          <a:p>
            <a:pPr algn="just">
              <a:lnSpc>
                <a:spcPts val="4799"/>
              </a:lnSpc>
            </a:pPr>
            <a:r>
              <a:rPr lang="en-US" sz="2999">
                <a:solidFill>
                  <a:srgbClr val="FAF2EA"/>
                </a:solidFill>
                <a:latin typeface="Roboto"/>
                <a:ea typeface="Roboto"/>
                <a:cs typeface="Roboto"/>
                <a:sym typeface="Roboto"/>
              </a:rPr>
              <a:t>Singular Value Decomposition merupakan salah satu teknik faktorisasi matriks yang memecah sebuah matriks menjadi matriks-matriks yang lebih sederhana. Teknik regularisasi ditambahkan untuk mencegah overfitting dan meningkatkan kemampuan generalisasi model. </a:t>
            </a:r>
          </a:p>
        </p:txBody>
      </p:sp>
      <p:sp>
        <p:nvSpPr>
          <p:cNvPr id="11" name="TextBox 11"/>
          <p:cNvSpPr txBox="1"/>
          <p:nvPr/>
        </p:nvSpPr>
        <p:spPr>
          <a:xfrm>
            <a:off x="16610134" y="9518480"/>
            <a:ext cx="598073" cy="311277"/>
          </a:xfrm>
          <a:prstGeom prst="rect">
            <a:avLst/>
          </a:prstGeom>
        </p:spPr>
        <p:txBody>
          <a:bodyPr lIns="0" tIns="0" rIns="0" bIns="0" rtlCol="0" anchor="t">
            <a:spAutoFit/>
          </a:bodyPr>
          <a:lstStyle/>
          <a:p>
            <a:pPr algn="ctr">
              <a:lnSpc>
                <a:spcPts val="2304"/>
              </a:lnSpc>
            </a:pPr>
            <a:r>
              <a:rPr lang="en-US" sz="2400">
                <a:solidFill>
                  <a:srgbClr val="283728"/>
                </a:solidFill>
                <a:latin typeface="Adirek Sans Bold"/>
                <a:ea typeface="Adirek Sans Bold"/>
                <a:cs typeface="Adirek Sans Bold"/>
                <a:sym typeface="Adirek Sans Bold"/>
              </a:rPr>
              <a:t>2024</a:t>
            </a:r>
          </a:p>
        </p:txBody>
      </p:sp>
      <p:sp>
        <p:nvSpPr>
          <p:cNvPr id="12" name="TextBox 12"/>
          <p:cNvSpPr txBox="1"/>
          <p:nvPr/>
        </p:nvSpPr>
        <p:spPr>
          <a:xfrm>
            <a:off x="201093" y="960220"/>
            <a:ext cx="9949740" cy="978577"/>
          </a:xfrm>
          <a:prstGeom prst="rect">
            <a:avLst/>
          </a:prstGeom>
        </p:spPr>
        <p:txBody>
          <a:bodyPr lIns="0" tIns="0" rIns="0" bIns="0" rtlCol="0" anchor="t">
            <a:spAutoFit/>
          </a:bodyPr>
          <a:lstStyle/>
          <a:p>
            <a:pPr algn="l">
              <a:lnSpc>
                <a:spcPts val="5771"/>
              </a:lnSpc>
            </a:pPr>
            <a:r>
              <a:rPr lang="en-US" sz="11543">
                <a:solidFill>
                  <a:srgbClr val="283728"/>
                </a:solidFill>
                <a:latin typeface="Adirek Sans Heavy"/>
                <a:ea typeface="Adirek Sans Heavy"/>
                <a:cs typeface="Adirek Sans Heavy"/>
                <a:sym typeface="Adirek Sans Heavy"/>
              </a:rPr>
              <a:t>TINJAUAN TEORI</a:t>
            </a:r>
          </a:p>
        </p:txBody>
      </p:sp>
      <p:sp>
        <p:nvSpPr>
          <p:cNvPr id="13" name="TextBox 13"/>
          <p:cNvSpPr txBox="1"/>
          <p:nvPr/>
        </p:nvSpPr>
        <p:spPr>
          <a:xfrm>
            <a:off x="201093" y="2146359"/>
            <a:ext cx="16049569" cy="593725"/>
          </a:xfrm>
          <a:prstGeom prst="rect">
            <a:avLst/>
          </a:prstGeom>
        </p:spPr>
        <p:txBody>
          <a:bodyPr lIns="0" tIns="0" rIns="0" bIns="0" rtlCol="0" anchor="t">
            <a:spAutoFit/>
          </a:bodyPr>
          <a:lstStyle/>
          <a:p>
            <a:pPr algn="l">
              <a:lnSpc>
                <a:spcPts val="3499"/>
              </a:lnSpc>
            </a:pPr>
            <a:r>
              <a:rPr lang="en-US" sz="6999">
                <a:solidFill>
                  <a:srgbClr val="283728"/>
                </a:solidFill>
                <a:latin typeface="Adirek Sans Heavy"/>
                <a:ea typeface="Adirek Sans Heavy"/>
                <a:cs typeface="Adirek Sans Heavy"/>
                <a:sym typeface="Adirek Sans Heavy"/>
              </a:rPr>
              <a:t>REGULARIZED SINGULAR VALUE DECOMPOSITION </a:t>
            </a:r>
          </a:p>
        </p:txBody>
      </p:sp>
      <p:sp>
        <p:nvSpPr>
          <p:cNvPr id="14" name="TextBox 14"/>
          <p:cNvSpPr txBox="1"/>
          <p:nvPr/>
        </p:nvSpPr>
        <p:spPr>
          <a:xfrm>
            <a:off x="201093" y="4643266"/>
            <a:ext cx="17827443" cy="1771651"/>
          </a:xfrm>
          <a:prstGeom prst="rect">
            <a:avLst/>
          </a:prstGeom>
        </p:spPr>
        <p:txBody>
          <a:bodyPr lIns="0" tIns="0" rIns="0" bIns="0" rtlCol="0" anchor="t">
            <a:spAutoFit/>
          </a:bodyPr>
          <a:lstStyle/>
          <a:p>
            <a:pPr algn="just">
              <a:lnSpc>
                <a:spcPts val="4799"/>
              </a:lnSpc>
            </a:pPr>
            <a:r>
              <a:rPr lang="en-US" sz="2999">
                <a:solidFill>
                  <a:srgbClr val="FAF2EA"/>
                </a:solidFill>
                <a:latin typeface="Roboto"/>
                <a:ea typeface="Roboto"/>
                <a:cs typeface="Roboto"/>
                <a:sym typeface="Roboto"/>
              </a:rPr>
              <a:t>RSVD dimulai dengan adanya matriks yang ingin difaktorisasi misalnya matriks Z, dilanjutkan dengan membuat matriks faktor yaitu U, V dan Σ dengan nilai acak.  Salah satu teknik regularisasi yang dapat digunakan adalah regularisasi L2 atau Ridge Regularization yang memiliki fungsi loss</a:t>
            </a:r>
          </a:p>
        </p:txBody>
      </p:sp>
      <p:sp>
        <p:nvSpPr>
          <p:cNvPr id="15" name="TextBox 15"/>
          <p:cNvSpPr txBox="1"/>
          <p:nvPr/>
        </p:nvSpPr>
        <p:spPr>
          <a:xfrm>
            <a:off x="12116815" y="6624467"/>
            <a:ext cx="6171185" cy="1230630"/>
          </a:xfrm>
          <a:prstGeom prst="rect">
            <a:avLst/>
          </a:prstGeom>
        </p:spPr>
        <p:txBody>
          <a:bodyPr lIns="0" tIns="0" rIns="0" bIns="0" rtlCol="0" anchor="t">
            <a:spAutoFit/>
          </a:bodyPr>
          <a:lstStyle/>
          <a:p>
            <a:pPr algn="l">
              <a:lnSpc>
                <a:spcPts val="3209"/>
              </a:lnSpc>
            </a:pPr>
            <a:r>
              <a:rPr lang="en-US" sz="2999" dirty="0">
                <a:solidFill>
                  <a:srgbClr val="FAF2EA"/>
                </a:solidFill>
                <a:latin typeface="Roboto"/>
                <a:ea typeface="Roboto"/>
                <a:cs typeface="Roboto"/>
                <a:sym typeface="Roboto"/>
              </a:rPr>
              <a:t>Z 	= </a:t>
            </a:r>
            <a:r>
              <a:rPr lang="en-US" sz="2999" dirty="0" err="1">
                <a:solidFill>
                  <a:srgbClr val="FAF2EA"/>
                </a:solidFill>
                <a:latin typeface="Roboto"/>
                <a:ea typeface="Roboto"/>
                <a:cs typeface="Roboto"/>
                <a:sym typeface="Roboto"/>
              </a:rPr>
              <a:t>matriks</a:t>
            </a:r>
            <a:r>
              <a:rPr lang="en-US" sz="2999" dirty="0">
                <a:solidFill>
                  <a:srgbClr val="FAF2EA"/>
                </a:solidFill>
                <a:latin typeface="Roboto"/>
                <a:ea typeface="Roboto"/>
                <a:cs typeface="Roboto"/>
                <a:sym typeface="Roboto"/>
              </a:rPr>
              <a:t> yang </a:t>
            </a:r>
            <a:r>
              <a:rPr lang="en-US" sz="2999" dirty="0" err="1">
                <a:solidFill>
                  <a:srgbClr val="FAF2EA"/>
                </a:solidFill>
                <a:latin typeface="Roboto"/>
                <a:ea typeface="Roboto"/>
                <a:cs typeface="Roboto"/>
                <a:sym typeface="Roboto"/>
              </a:rPr>
              <a:t>didekomposisi</a:t>
            </a:r>
            <a:endParaRPr lang="en-US" sz="2999" dirty="0">
              <a:solidFill>
                <a:srgbClr val="FAF2EA"/>
              </a:solidFill>
              <a:latin typeface="Roboto"/>
              <a:ea typeface="Roboto"/>
              <a:cs typeface="Roboto"/>
              <a:sym typeface="Roboto"/>
            </a:endParaRPr>
          </a:p>
          <a:p>
            <a:pPr algn="l">
              <a:lnSpc>
                <a:spcPts val="3209"/>
              </a:lnSpc>
            </a:pPr>
            <a:r>
              <a:rPr lang="en-US" sz="2999" dirty="0">
                <a:solidFill>
                  <a:srgbClr val="FAF2EA"/>
                </a:solidFill>
                <a:latin typeface="Roboto"/>
                <a:ea typeface="Roboto"/>
                <a:cs typeface="Roboto"/>
                <a:sym typeface="Roboto"/>
              </a:rPr>
              <a:t>λ 	= </a:t>
            </a:r>
            <a:r>
              <a:rPr lang="en-US" sz="2999" dirty="0" err="1">
                <a:solidFill>
                  <a:srgbClr val="FAF2EA"/>
                </a:solidFill>
                <a:latin typeface="Roboto"/>
                <a:ea typeface="Roboto"/>
                <a:cs typeface="Roboto"/>
                <a:sym typeface="Roboto"/>
              </a:rPr>
              <a:t>bobot</a:t>
            </a:r>
            <a:r>
              <a:rPr lang="en-US" sz="2999" dirty="0">
                <a:solidFill>
                  <a:srgbClr val="FAF2EA"/>
                </a:solidFill>
                <a:latin typeface="Roboto"/>
                <a:ea typeface="Roboto"/>
                <a:cs typeface="Roboto"/>
                <a:sym typeface="Roboto"/>
              </a:rPr>
              <a:t> </a:t>
            </a:r>
            <a:r>
              <a:rPr lang="en-US" sz="2999" dirty="0" err="1">
                <a:solidFill>
                  <a:srgbClr val="FAF2EA"/>
                </a:solidFill>
                <a:latin typeface="Roboto"/>
                <a:ea typeface="Roboto"/>
                <a:cs typeface="Roboto"/>
                <a:sym typeface="Roboto"/>
              </a:rPr>
              <a:t>regularisasi</a:t>
            </a:r>
            <a:endParaRPr lang="en-US" sz="2999" dirty="0">
              <a:solidFill>
                <a:srgbClr val="FAF2EA"/>
              </a:solidFill>
              <a:latin typeface="Roboto"/>
              <a:ea typeface="Roboto"/>
              <a:cs typeface="Roboto"/>
              <a:sym typeface="Roboto"/>
            </a:endParaRPr>
          </a:p>
          <a:p>
            <a:pPr algn="l">
              <a:lnSpc>
                <a:spcPts val="3209"/>
              </a:lnSpc>
            </a:pPr>
            <a:r>
              <a:rPr lang="en-US" sz="2999" dirty="0">
                <a:solidFill>
                  <a:srgbClr val="FAF2EA"/>
                </a:solidFill>
                <a:latin typeface="Roboto"/>
                <a:ea typeface="Roboto"/>
                <a:cs typeface="Roboto"/>
                <a:sym typeface="Roboto"/>
              </a:rPr>
              <a:t>||x||</a:t>
            </a:r>
            <a:r>
              <a:rPr lang="en-US" sz="2999" baseline="30000" dirty="0">
                <a:solidFill>
                  <a:srgbClr val="FAF2EA"/>
                </a:solidFill>
                <a:latin typeface="Roboto"/>
                <a:ea typeface="Roboto"/>
                <a:cs typeface="Roboto"/>
                <a:sym typeface="Roboto"/>
              </a:rPr>
              <a:t>2</a:t>
            </a:r>
            <a:r>
              <a:rPr lang="en-US" sz="2999" baseline="-25000" dirty="0">
                <a:solidFill>
                  <a:srgbClr val="FAF2EA"/>
                </a:solidFill>
                <a:latin typeface="Roboto"/>
                <a:ea typeface="Roboto"/>
                <a:cs typeface="Roboto"/>
                <a:sym typeface="Roboto"/>
              </a:rPr>
              <a:t>F	</a:t>
            </a:r>
            <a:r>
              <a:rPr lang="en-US" sz="2999" dirty="0">
                <a:solidFill>
                  <a:srgbClr val="FAF2EA"/>
                </a:solidFill>
                <a:latin typeface="Roboto"/>
                <a:ea typeface="Roboto"/>
                <a:cs typeface="Roboto"/>
                <a:sym typeface="Roboto"/>
              </a:rPr>
              <a:t>= norma </a:t>
            </a:r>
            <a:r>
              <a:rPr lang="en-US" sz="2999" dirty="0" err="1">
                <a:solidFill>
                  <a:srgbClr val="FAF2EA"/>
                </a:solidFill>
                <a:latin typeface="Roboto"/>
                <a:ea typeface="Roboto"/>
                <a:cs typeface="Roboto"/>
                <a:sym typeface="Roboto"/>
              </a:rPr>
              <a:t>frobenius</a:t>
            </a:r>
            <a:r>
              <a:rPr lang="en-US" sz="2999" dirty="0">
                <a:solidFill>
                  <a:srgbClr val="FAF2EA"/>
                </a:solidFill>
                <a:latin typeface="Roboto"/>
                <a:ea typeface="Roboto"/>
                <a:cs typeface="Roboto"/>
                <a:sym typeface="Roboto"/>
              </a:rPr>
              <a:t> x</a:t>
            </a:r>
          </a:p>
        </p:txBody>
      </p:sp>
      <p:sp>
        <p:nvSpPr>
          <p:cNvPr id="16" name="TextBox 16"/>
          <p:cNvSpPr txBox="1"/>
          <p:nvPr/>
        </p:nvSpPr>
        <p:spPr>
          <a:xfrm>
            <a:off x="230278" y="7926132"/>
            <a:ext cx="11777839" cy="1171576"/>
          </a:xfrm>
          <a:prstGeom prst="rect">
            <a:avLst/>
          </a:prstGeom>
        </p:spPr>
        <p:txBody>
          <a:bodyPr lIns="0" tIns="0" rIns="0" bIns="0" rtlCol="0" anchor="t">
            <a:spAutoFit/>
          </a:bodyPr>
          <a:lstStyle/>
          <a:p>
            <a:pPr algn="l">
              <a:lnSpc>
                <a:spcPts val="4799"/>
              </a:lnSpc>
            </a:pPr>
            <a:r>
              <a:rPr lang="en-US" sz="2999">
                <a:solidFill>
                  <a:srgbClr val="FAF2EA"/>
                </a:solidFill>
                <a:latin typeface="Roboto"/>
                <a:ea typeface="Roboto"/>
                <a:cs typeface="Roboto"/>
                <a:sym typeface="Roboto"/>
              </a:rPr>
              <a:t>Bagian pertama menghitung loss rekonstruksi dan bagian kedua adalah penalti regularisasi L2</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AF2EA"/>
        </a:solidFill>
        <a:effectLst/>
      </p:bgPr>
    </p:bg>
    <p:spTree>
      <p:nvGrpSpPr>
        <p:cNvPr id="1" name=""/>
        <p:cNvGrpSpPr/>
        <p:nvPr/>
      </p:nvGrpSpPr>
      <p:grpSpPr>
        <a:xfrm>
          <a:off x="0" y="0"/>
          <a:ext cx="0" cy="0"/>
          <a:chOff x="0" y="0"/>
          <a:chExt cx="0" cy="0"/>
        </a:xfrm>
      </p:grpSpPr>
      <p:grpSp>
        <p:nvGrpSpPr>
          <p:cNvPr id="2" name="Group 2"/>
          <p:cNvGrpSpPr/>
          <p:nvPr/>
        </p:nvGrpSpPr>
        <p:grpSpPr>
          <a:xfrm>
            <a:off x="0" y="2740084"/>
            <a:ext cx="18288000" cy="7546916"/>
            <a:chOff x="0" y="0"/>
            <a:chExt cx="4816593" cy="1987665"/>
          </a:xfrm>
        </p:grpSpPr>
        <p:sp>
          <p:nvSpPr>
            <p:cNvPr id="3" name="Freeform 3"/>
            <p:cNvSpPr/>
            <p:nvPr/>
          </p:nvSpPr>
          <p:spPr>
            <a:xfrm>
              <a:off x="0" y="0"/>
              <a:ext cx="4816592" cy="1987665"/>
            </a:xfrm>
            <a:custGeom>
              <a:avLst/>
              <a:gdLst/>
              <a:ahLst/>
              <a:cxnLst/>
              <a:rect l="l" t="t" r="r" b="b"/>
              <a:pathLst>
                <a:path w="4816592" h="1987665">
                  <a:moveTo>
                    <a:pt x="0" y="0"/>
                  </a:moveTo>
                  <a:lnTo>
                    <a:pt x="4816592" y="0"/>
                  </a:lnTo>
                  <a:lnTo>
                    <a:pt x="4816592" y="1987665"/>
                  </a:lnTo>
                  <a:lnTo>
                    <a:pt x="0" y="1987665"/>
                  </a:lnTo>
                  <a:close/>
                </a:path>
              </a:pathLst>
            </a:custGeom>
            <a:solidFill>
              <a:srgbClr val="283728"/>
            </a:solidFill>
          </p:spPr>
        </p:sp>
        <p:sp>
          <p:nvSpPr>
            <p:cNvPr id="4" name="TextBox 4"/>
            <p:cNvSpPr txBox="1"/>
            <p:nvPr/>
          </p:nvSpPr>
          <p:spPr>
            <a:xfrm>
              <a:off x="0" y="-47625"/>
              <a:ext cx="4816593" cy="2035290"/>
            </a:xfrm>
            <a:prstGeom prst="rect">
              <a:avLst/>
            </a:prstGeom>
          </p:spPr>
          <p:txBody>
            <a:bodyPr lIns="50800" tIns="50800" rIns="50800" bIns="50800" rtlCol="0" anchor="ctr"/>
            <a:lstStyle/>
            <a:p>
              <a:pPr algn="ctr">
                <a:lnSpc>
                  <a:spcPts val="3079"/>
                </a:lnSpc>
              </a:pPr>
              <a:endParaRPr/>
            </a:p>
          </p:txBody>
        </p:sp>
      </p:grpSp>
      <p:grpSp>
        <p:nvGrpSpPr>
          <p:cNvPr id="5" name="Group 5"/>
          <p:cNvGrpSpPr/>
          <p:nvPr/>
        </p:nvGrpSpPr>
        <p:grpSpPr>
          <a:xfrm>
            <a:off x="16610134" y="0"/>
            <a:ext cx="1677866" cy="1679634"/>
            <a:chOff x="0" y="0"/>
            <a:chExt cx="568780" cy="569379"/>
          </a:xfrm>
        </p:grpSpPr>
        <p:sp>
          <p:nvSpPr>
            <p:cNvPr id="6" name="Freeform 6"/>
            <p:cNvSpPr/>
            <p:nvPr/>
          </p:nvSpPr>
          <p:spPr>
            <a:xfrm>
              <a:off x="0" y="0"/>
              <a:ext cx="568780" cy="569379"/>
            </a:xfrm>
            <a:custGeom>
              <a:avLst/>
              <a:gdLst/>
              <a:ahLst/>
              <a:cxnLst/>
              <a:rect l="l" t="t" r="r" b="b"/>
              <a:pathLst>
                <a:path w="568780" h="569379">
                  <a:moveTo>
                    <a:pt x="0" y="0"/>
                  </a:moveTo>
                  <a:lnTo>
                    <a:pt x="568780" y="0"/>
                  </a:lnTo>
                  <a:lnTo>
                    <a:pt x="568780" y="569379"/>
                  </a:lnTo>
                  <a:lnTo>
                    <a:pt x="0" y="569379"/>
                  </a:lnTo>
                  <a:close/>
                </a:path>
              </a:pathLst>
            </a:custGeom>
            <a:solidFill>
              <a:srgbClr val="283728"/>
            </a:solidFill>
          </p:spPr>
        </p:sp>
        <p:sp>
          <p:nvSpPr>
            <p:cNvPr id="7" name="TextBox 7"/>
            <p:cNvSpPr txBox="1"/>
            <p:nvPr/>
          </p:nvSpPr>
          <p:spPr>
            <a:xfrm>
              <a:off x="0" y="-47625"/>
              <a:ext cx="568780" cy="617004"/>
            </a:xfrm>
            <a:prstGeom prst="rect">
              <a:avLst/>
            </a:prstGeom>
          </p:spPr>
          <p:txBody>
            <a:bodyPr lIns="50800" tIns="50800" rIns="50800" bIns="50800" rtlCol="0" anchor="ctr"/>
            <a:lstStyle/>
            <a:p>
              <a:pPr algn="ctr">
                <a:lnSpc>
                  <a:spcPts val="3079"/>
                </a:lnSpc>
              </a:pPr>
              <a:endParaRPr/>
            </a:p>
          </p:txBody>
        </p:sp>
      </p:grpSp>
      <p:sp>
        <p:nvSpPr>
          <p:cNvPr id="8" name="Freeform 8"/>
          <p:cNvSpPr/>
          <p:nvPr/>
        </p:nvSpPr>
        <p:spPr>
          <a:xfrm>
            <a:off x="16872103" y="188695"/>
            <a:ext cx="1156433" cy="1302244"/>
          </a:xfrm>
          <a:custGeom>
            <a:avLst/>
            <a:gdLst/>
            <a:ahLst/>
            <a:cxnLst/>
            <a:rect l="l" t="t" r="r" b="b"/>
            <a:pathLst>
              <a:path w="1156433" h="1302244">
                <a:moveTo>
                  <a:pt x="0" y="0"/>
                </a:moveTo>
                <a:lnTo>
                  <a:pt x="1156433" y="0"/>
                </a:lnTo>
                <a:lnTo>
                  <a:pt x="1156433" y="1302244"/>
                </a:lnTo>
                <a:lnTo>
                  <a:pt x="0" y="1302244"/>
                </a:lnTo>
                <a:lnTo>
                  <a:pt x="0" y="0"/>
                </a:lnTo>
                <a:close/>
              </a:path>
            </a:pathLst>
          </a:custGeom>
          <a:blipFill>
            <a:blip r:embed="rId2"/>
            <a:stretch>
              <a:fillRect/>
            </a:stretch>
          </a:blipFill>
        </p:spPr>
      </p:sp>
      <p:sp>
        <p:nvSpPr>
          <p:cNvPr id="9" name="Freeform 9"/>
          <p:cNvSpPr/>
          <p:nvPr/>
        </p:nvSpPr>
        <p:spPr>
          <a:xfrm>
            <a:off x="6146633" y="4830925"/>
            <a:ext cx="5994733" cy="1475907"/>
          </a:xfrm>
          <a:custGeom>
            <a:avLst/>
            <a:gdLst/>
            <a:ahLst/>
            <a:cxnLst/>
            <a:rect l="l" t="t" r="r" b="b"/>
            <a:pathLst>
              <a:path w="5994733" h="1475907">
                <a:moveTo>
                  <a:pt x="0" y="0"/>
                </a:moveTo>
                <a:lnTo>
                  <a:pt x="5994734" y="0"/>
                </a:lnTo>
                <a:lnTo>
                  <a:pt x="5994734" y="1475907"/>
                </a:lnTo>
                <a:lnTo>
                  <a:pt x="0" y="1475907"/>
                </a:lnTo>
                <a:lnTo>
                  <a:pt x="0" y="0"/>
                </a:lnTo>
                <a:close/>
              </a:path>
            </a:pathLst>
          </a:custGeom>
          <a:blipFill>
            <a:blip r:embed="rId3"/>
            <a:stretch>
              <a:fillRect/>
            </a:stretch>
          </a:blipFill>
        </p:spPr>
      </p:sp>
      <p:sp>
        <p:nvSpPr>
          <p:cNvPr id="10" name="TextBox 10"/>
          <p:cNvSpPr txBox="1"/>
          <p:nvPr/>
        </p:nvSpPr>
        <p:spPr>
          <a:xfrm>
            <a:off x="201093" y="2852565"/>
            <a:ext cx="17827443" cy="1771651"/>
          </a:xfrm>
          <a:prstGeom prst="rect">
            <a:avLst/>
          </a:prstGeom>
        </p:spPr>
        <p:txBody>
          <a:bodyPr lIns="0" tIns="0" rIns="0" bIns="0" rtlCol="0" anchor="t">
            <a:spAutoFit/>
          </a:bodyPr>
          <a:lstStyle/>
          <a:p>
            <a:pPr algn="just">
              <a:lnSpc>
                <a:spcPts val="4799"/>
              </a:lnSpc>
            </a:pPr>
            <a:r>
              <a:rPr lang="en-US" sz="2999" dirty="0">
                <a:solidFill>
                  <a:srgbClr val="FAF2EA"/>
                </a:solidFill>
                <a:latin typeface="Roboto"/>
                <a:ea typeface="Roboto"/>
                <a:cs typeface="Roboto"/>
                <a:sym typeface="Roboto"/>
              </a:rPr>
              <a:t>Norma </a:t>
            </a:r>
            <a:r>
              <a:rPr lang="en-US" sz="2999" dirty="0" err="1">
                <a:solidFill>
                  <a:srgbClr val="FAF2EA"/>
                </a:solidFill>
                <a:latin typeface="Roboto"/>
                <a:ea typeface="Roboto"/>
                <a:cs typeface="Roboto"/>
                <a:sym typeface="Roboto"/>
              </a:rPr>
              <a:t>Frobenius</a:t>
            </a:r>
            <a:r>
              <a:rPr lang="en-US" sz="2999" dirty="0">
                <a:solidFill>
                  <a:srgbClr val="FAF2EA"/>
                </a:solidFill>
                <a:latin typeface="Roboto"/>
                <a:ea typeface="Roboto"/>
                <a:cs typeface="Roboto"/>
                <a:sym typeface="Roboto"/>
              </a:rPr>
              <a:t> </a:t>
            </a:r>
            <a:r>
              <a:rPr lang="en-US" sz="2999" dirty="0" err="1">
                <a:solidFill>
                  <a:srgbClr val="FAF2EA"/>
                </a:solidFill>
                <a:latin typeface="Roboto"/>
                <a:ea typeface="Roboto"/>
                <a:cs typeface="Roboto"/>
                <a:sym typeface="Roboto"/>
              </a:rPr>
              <a:t>merupakan</a:t>
            </a:r>
            <a:r>
              <a:rPr lang="en-US" sz="2999" dirty="0">
                <a:solidFill>
                  <a:srgbClr val="FAF2EA"/>
                </a:solidFill>
                <a:latin typeface="Roboto"/>
                <a:ea typeface="Roboto"/>
                <a:cs typeface="Roboto"/>
                <a:sym typeface="Roboto"/>
              </a:rPr>
              <a:t> analog </a:t>
            </a:r>
            <a:r>
              <a:rPr lang="en-US" sz="2999" dirty="0" err="1">
                <a:solidFill>
                  <a:srgbClr val="FAF2EA"/>
                </a:solidFill>
                <a:latin typeface="Roboto"/>
                <a:ea typeface="Roboto"/>
                <a:cs typeface="Roboto"/>
                <a:sym typeface="Roboto"/>
              </a:rPr>
              <a:t>dari</a:t>
            </a:r>
            <a:r>
              <a:rPr lang="en-US" sz="2999" dirty="0">
                <a:solidFill>
                  <a:srgbClr val="FAF2EA"/>
                </a:solidFill>
                <a:latin typeface="Roboto"/>
                <a:ea typeface="Roboto"/>
                <a:cs typeface="Roboto"/>
                <a:sym typeface="Roboto"/>
              </a:rPr>
              <a:t> norma Euclidean untuk </a:t>
            </a:r>
            <a:r>
              <a:rPr lang="en-US" sz="2999" dirty="0" err="1">
                <a:solidFill>
                  <a:srgbClr val="FAF2EA"/>
                </a:solidFill>
                <a:latin typeface="Roboto"/>
                <a:ea typeface="Roboto"/>
                <a:cs typeface="Roboto"/>
                <a:sym typeface="Roboto"/>
              </a:rPr>
              <a:t>matriks</a:t>
            </a:r>
            <a:r>
              <a:rPr lang="en-US" sz="2999" dirty="0">
                <a:solidFill>
                  <a:srgbClr val="FAF2EA"/>
                </a:solidFill>
                <a:latin typeface="Roboto"/>
                <a:ea typeface="Roboto"/>
                <a:cs typeface="Roboto"/>
                <a:sym typeface="Roboto"/>
              </a:rPr>
              <a:t>. Jika </a:t>
            </a:r>
            <a:r>
              <a:rPr lang="en-US" sz="2999" dirty="0" err="1">
                <a:solidFill>
                  <a:srgbClr val="FAF2EA"/>
                </a:solidFill>
                <a:latin typeface="Roboto"/>
                <a:ea typeface="Roboto"/>
                <a:cs typeface="Roboto"/>
                <a:sym typeface="Roboto"/>
              </a:rPr>
              <a:t>matriks</a:t>
            </a:r>
            <a:r>
              <a:rPr lang="en-US" sz="2999" dirty="0">
                <a:solidFill>
                  <a:srgbClr val="FAF2EA"/>
                </a:solidFill>
                <a:latin typeface="Roboto"/>
                <a:ea typeface="Roboto"/>
                <a:cs typeface="Roboto"/>
                <a:sym typeface="Roboto"/>
              </a:rPr>
              <a:t> </a:t>
            </a:r>
            <a:r>
              <a:rPr lang="en-US" sz="2999" dirty="0" err="1">
                <a:solidFill>
                  <a:srgbClr val="FAF2EA"/>
                </a:solidFill>
                <a:latin typeface="Roboto"/>
                <a:ea typeface="Roboto"/>
                <a:cs typeface="Roboto"/>
                <a:sym typeface="Roboto"/>
              </a:rPr>
              <a:t>merupakan</a:t>
            </a:r>
            <a:r>
              <a:rPr lang="en-US" sz="2999" dirty="0">
                <a:solidFill>
                  <a:srgbClr val="FAF2EA"/>
                </a:solidFill>
                <a:latin typeface="Roboto"/>
                <a:ea typeface="Roboto"/>
                <a:cs typeface="Roboto"/>
                <a:sym typeface="Roboto"/>
              </a:rPr>
              <a:t> </a:t>
            </a:r>
            <a:r>
              <a:rPr lang="en-US" sz="2999" dirty="0" err="1">
                <a:solidFill>
                  <a:srgbClr val="FAF2EA"/>
                </a:solidFill>
                <a:latin typeface="Roboto"/>
                <a:ea typeface="Roboto"/>
                <a:cs typeface="Roboto"/>
                <a:sym typeface="Roboto"/>
              </a:rPr>
              <a:t>vektor</a:t>
            </a:r>
            <a:r>
              <a:rPr lang="en-US" sz="2999" dirty="0">
                <a:solidFill>
                  <a:srgbClr val="FAF2EA"/>
                </a:solidFill>
                <a:latin typeface="Roboto"/>
                <a:ea typeface="Roboto"/>
                <a:cs typeface="Roboto"/>
                <a:sym typeface="Roboto"/>
              </a:rPr>
              <a:t> </a:t>
            </a:r>
            <a:r>
              <a:rPr lang="en-US" sz="2999" dirty="0" err="1">
                <a:solidFill>
                  <a:srgbClr val="FAF2EA"/>
                </a:solidFill>
                <a:latin typeface="Roboto"/>
                <a:ea typeface="Roboto"/>
                <a:cs typeface="Roboto"/>
                <a:sym typeface="Roboto"/>
              </a:rPr>
              <a:t>panjang</a:t>
            </a:r>
            <a:r>
              <a:rPr lang="en-US" sz="2999" dirty="0">
                <a:solidFill>
                  <a:srgbClr val="FAF2EA"/>
                </a:solidFill>
                <a:latin typeface="Roboto"/>
                <a:ea typeface="Roboto"/>
                <a:cs typeface="Roboto"/>
                <a:sym typeface="Roboto"/>
              </a:rPr>
              <a:t>, </a:t>
            </a:r>
            <a:r>
              <a:rPr lang="en-US" sz="2999" dirty="0" err="1">
                <a:solidFill>
                  <a:srgbClr val="FAF2EA"/>
                </a:solidFill>
                <a:latin typeface="Roboto"/>
                <a:ea typeface="Roboto"/>
                <a:cs typeface="Roboto"/>
                <a:sym typeface="Roboto"/>
              </a:rPr>
              <a:t>maka</a:t>
            </a:r>
            <a:r>
              <a:rPr lang="en-US" sz="2999" dirty="0">
                <a:solidFill>
                  <a:srgbClr val="FAF2EA"/>
                </a:solidFill>
                <a:latin typeface="Roboto"/>
                <a:ea typeface="Roboto"/>
                <a:cs typeface="Roboto"/>
                <a:sym typeface="Roboto"/>
              </a:rPr>
              <a:t> norma </a:t>
            </a:r>
            <a:r>
              <a:rPr lang="en-US" sz="2999" dirty="0" err="1">
                <a:solidFill>
                  <a:srgbClr val="FAF2EA"/>
                </a:solidFill>
                <a:latin typeface="Roboto"/>
                <a:ea typeface="Roboto"/>
                <a:cs typeface="Roboto"/>
                <a:sym typeface="Roboto"/>
              </a:rPr>
              <a:t>Frobenius</a:t>
            </a:r>
            <a:r>
              <a:rPr lang="en-US" sz="2999" dirty="0">
                <a:solidFill>
                  <a:srgbClr val="FAF2EA"/>
                </a:solidFill>
                <a:latin typeface="Roboto"/>
                <a:ea typeface="Roboto"/>
                <a:cs typeface="Roboto"/>
                <a:sym typeface="Roboto"/>
              </a:rPr>
              <a:t> </a:t>
            </a:r>
            <a:r>
              <a:rPr lang="en-US" sz="2999" dirty="0" err="1">
                <a:solidFill>
                  <a:srgbClr val="FAF2EA"/>
                </a:solidFill>
                <a:latin typeface="Roboto"/>
                <a:ea typeface="Roboto"/>
                <a:cs typeface="Roboto"/>
                <a:sym typeface="Roboto"/>
              </a:rPr>
              <a:t>adalah</a:t>
            </a:r>
            <a:r>
              <a:rPr lang="en-US" sz="2999" dirty="0">
                <a:solidFill>
                  <a:srgbClr val="FAF2EA"/>
                </a:solidFill>
                <a:latin typeface="Roboto"/>
                <a:ea typeface="Roboto"/>
                <a:cs typeface="Roboto"/>
                <a:sym typeface="Roboto"/>
              </a:rPr>
              <a:t> </a:t>
            </a:r>
            <a:r>
              <a:rPr lang="en-US" sz="2999" dirty="0" err="1">
                <a:solidFill>
                  <a:srgbClr val="FAF2EA"/>
                </a:solidFill>
                <a:latin typeface="Roboto"/>
                <a:ea typeface="Roboto"/>
                <a:cs typeface="Roboto"/>
                <a:sym typeface="Roboto"/>
              </a:rPr>
              <a:t>panjang</a:t>
            </a:r>
            <a:r>
              <a:rPr lang="en-US" sz="2999" dirty="0">
                <a:solidFill>
                  <a:srgbClr val="FAF2EA"/>
                </a:solidFill>
                <a:latin typeface="Roboto"/>
                <a:ea typeface="Roboto"/>
                <a:cs typeface="Roboto"/>
                <a:sym typeface="Roboto"/>
              </a:rPr>
              <a:t> </a:t>
            </a:r>
            <a:r>
              <a:rPr lang="en-US" sz="2999" dirty="0" err="1">
                <a:solidFill>
                  <a:srgbClr val="FAF2EA"/>
                </a:solidFill>
                <a:latin typeface="Roboto"/>
                <a:ea typeface="Roboto"/>
                <a:cs typeface="Roboto"/>
                <a:sym typeface="Roboto"/>
              </a:rPr>
              <a:t>vektor</a:t>
            </a:r>
            <a:r>
              <a:rPr lang="en-US" sz="2999" dirty="0">
                <a:solidFill>
                  <a:srgbClr val="FAF2EA"/>
                </a:solidFill>
                <a:latin typeface="Roboto"/>
                <a:ea typeface="Roboto"/>
                <a:cs typeface="Roboto"/>
                <a:sym typeface="Roboto"/>
              </a:rPr>
              <a:t> tersebut. </a:t>
            </a:r>
            <a:r>
              <a:rPr lang="en-US" sz="2999" dirty="0" err="1">
                <a:solidFill>
                  <a:srgbClr val="FAF2EA"/>
                </a:solidFill>
                <a:latin typeface="Roboto"/>
                <a:ea typeface="Roboto"/>
                <a:cs typeface="Roboto"/>
                <a:sym typeface="Roboto"/>
              </a:rPr>
              <a:t>Rumus</a:t>
            </a:r>
            <a:r>
              <a:rPr lang="en-US" sz="2999" dirty="0">
                <a:solidFill>
                  <a:srgbClr val="FAF2EA"/>
                </a:solidFill>
                <a:latin typeface="Roboto"/>
                <a:ea typeface="Roboto"/>
                <a:cs typeface="Roboto"/>
                <a:sym typeface="Roboto"/>
              </a:rPr>
              <a:t> untuk </a:t>
            </a:r>
            <a:r>
              <a:rPr lang="en-US" sz="2999" dirty="0" err="1">
                <a:solidFill>
                  <a:srgbClr val="FAF2EA"/>
                </a:solidFill>
                <a:latin typeface="Roboto"/>
                <a:ea typeface="Roboto"/>
                <a:cs typeface="Roboto"/>
                <a:sym typeface="Roboto"/>
              </a:rPr>
              <a:t>menghitung</a:t>
            </a:r>
            <a:r>
              <a:rPr lang="en-US" sz="2999" dirty="0">
                <a:solidFill>
                  <a:srgbClr val="FAF2EA"/>
                </a:solidFill>
                <a:latin typeface="Roboto"/>
                <a:ea typeface="Roboto"/>
                <a:cs typeface="Roboto"/>
                <a:sym typeface="Roboto"/>
              </a:rPr>
              <a:t> norma </a:t>
            </a:r>
            <a:r>
              <a:rPr lang="en-US" sz="2999" dirty="0" err="1">
                <a:solidFill>
                  <a:srgbClr val="FAF2EA"/>
                </a:solidFill>
                <a:latin typeface="Roboto"/>
                <a:ea typeface="Roboto"/>
                <a:cs typeface="Roboto"/>
                <a:sym typeface="Roboto"/>
              </a:rPr>
              <a:t>Frobenius</a:t>
            </a:r>
            <a:r>
              <a:rPr lang="en-US" sz="2999" dirty="0">
                <a:solidFill>
                  <a:srgbClr val="FAF2EA"/>
                </a:solidFill>
                <a:latin typeface="Roboto"/>
                <a:ea typeface="Roboto"/>
                <a:cs typeface="Roboto"/>
                <a:sym typeface="Roboto"/>
              </a:rPr>
              <a:t> </a:t>
            </a:r>
            <a:r>
              <a:rPr lang="en-US" sz="2999" dirty="0" err="1">
                <a:solidFill>
                  <a:srgbClr val="FAF2EA"/>
                </a:solidFill>
                <a:latin typeface="Roboto"/>
                <a:ea typeface="Roboto"/>
                <a:cs typeface="Roboto"/>
                <a:sym typeface="Roboto"/>
              </a:rPr>
              <a:t>dari</a:t>
            </a:r>
            <a:r>
              <a:rPr lang="en-US" sz="2999" dirty="0">
                <a:solidFill>
                  <a:srgbClr val="FAF2EA"/>
                </a:solidFill>
                <a:latin typeface="Roboto"/>
                <a:ea typeface="Roboto"/>
                <a:cs typeface="Roboto"/>
                <a:sym typeface="Roboto"/>
              </a:rPr>
              <a:t> </a:t>
            </a:r>
            <a:r>
              <a:rPr lang="en-US" sz="2999" dirty="0" err="1">
                <a:solidFill>
                  <a:srgbClr val="FAF2EA"/>
                </a:solidFill>
                <a:latin typeface="Roboto"/>
                <a:ea typeface="Roboto"/>
                <a:cs typeface="Roboto"/>
                <a:sym typeface="Roboto"/>
              </a:rPr>
              <a:t>sebuah</a:t>
            </a:r>
            <a:r>
              <a:rPr lang="en-US" sz="2999" dirty="0">
                <a:solidFill>
                  <a:srgbClr val="FAF2EA"/>
                </a:solidFill>
                <a:latin typeface="Roboto"/>
                <a:ea typeface="Roboto"/>
                <a:cs typeface="Roboto"/>
                <a:sym typeface="Roboto"/>
              </a:rPr>
              <a:t> </a:t>
            </a:r>
            <a:r>
              <a:rPr lang="en-US" sz="2999" dirty="0" err="1">
                <a:solidFill>
                  <a:srgbClr val="FAF2EA"/>
                </a:solidFill>
                <a:latin typeface="Roboto"/>
                <a:ea typeface="Roboto"/>
                <a:cs typeface="Roboto"/>
                <a:sym typeface="Roboto"/>
              </a:rPr>
              <a:t>matriks</a:t>
            </a:r>
            <a:r>
              <a:rPr lang="en-US" sz="2999" dirty="0">
                <a:solidFill>
                  <a:srgbClr val="FAF2EA"/>
                </a:solidFill>
                <a:latin typeface="Roboto"/>
                <a:ea typeface="Roboto"/>
                <a:cs typeface="Roboto"/>
                <a:sym typeface="Roboto"/>
              </a:rPr>
              <a:t> A dengan </a:t>
            </a:r>
            <a:r>
              <a:rPr lang="en-US" sz="2999" dirty="0" err="1">
                <a:solidFill>
                  <a:srgbClr val="FAF2EA"/>
                </a:solidFill>
                <a:latin typeface="Roboto"/>
                <a:ea typeface="Roboto"/>
                <a:cs typeface="Roboto"/>
                <a:sym typeface="Roboto"/>
              </a:rPr>
              <a:t>dimensi</a:t>
            </a:r>
            <a:r>
              <a:rPr lang="en-US" sz="2999" dirty="0">
                <a:solidFill>
                  <a:srgbClr val="FAF2EA"/>
                </a:solidFill>
                <a:latin typeface="Roboto"/>
                <a:ea typeface="Roboto"/>
                <a:cs typeface="Roboto"/>
                <a:sym typeface="Roboto"/>
              </a:rPr>
              <a:t> m x n </a:t>
            </a:r>
            <a:r>
              <a:rPr lang="en-US" sz="2999" dirty="0" err="1">
                <a:solidFill>
                  <a:srgbClr val="FAF2EA"/>
                </a:solidFill>
                <a:latin typeface="Roboto"/>
                <a:ea typeface="Roboto"/>
                <a:cs typeface="Roboto"/>
                <a:sym typeface="Roboto"/>
              </a:rPr>
              <a:t>adalah</a:t>
            </a:r>
            <a:endParaRPr lang="en-US" sz="2999" dirty="0">
              <a:solidFill>
                <a:srgbClr val="FAF2EA"/>
              </a:solidFill>
              <a:latin typeface="Roboto"/>
              <a:ea typeface="Roboto"/>
              <a:cs typeface="Roboto"/>
              <a:sym typeface="Roboto"/>
            </a:endParaRPr>
          </a:p>
        </p:txBody>
      </p:sp>
      <p:sp>
        <p:nvSpPr>
          <p:cNvPr id="11" name="TextBox 11"/>
          <p:cNvSpPr txBox="1"/>
          <p:nvPr/>
        </p:nvSpPr>
        <p:spPr>
          <a:xfrm>
            <a:off x="16610134" y="9518480"/>
            <a:ext cx="598073" cy="311277"/>
          </a:xfrm>
          <a:prstGeom prst="rect">
            <a:avLst/>
          </a:prstGeom>
        </p:spPr>
        <p:txBody>
          <a:bodyPr lIns="0" tIns="0" rIns="0" bIns="0" rtlCol="0" anchor="t">
            <a:spAutoFit/>
          </a:bodyPr>
          <a:lstStyle/>
          <a:p>
            <a:pPr algn="ctr">
              <a:lnSpc>
                <a:spcPts val="2304"/>
              </a:lnSpc>
            </a:pPr>
            <a:r>
              <a:rPr lang="en-US" sz="2400">
                <a:solidFill>
                  <a:srgbClr val="283728"/>
                </a:solidFill>
                <a:latin typeface="Adirek Sans Bold"/>
                <a:ea typeface="Adirek Sans Bold"/>
                <a:cs typeface="Adirek Sans Bold"/>
                <a:sym typeface="Adirek Sans Bold"/>
              </a:rPr>
              <a:t>2024</a:t>
            </a:r>
          </a:p>
        </p:txBody>
      </p:sp>
      <p:sp>
        <p:nvSpPr>
          <p:cNvPr id="12" name="TextBox 12"/>
          <p:cNvSpPr txBox="1"/>
          <p:nvPr/>
        </p:nvSpPr>
        <p:spPr>
          <a:xfrm>
            <a:off x="201093" y="960220"/>
            <a:ext cx="9949740" cy="978577"/>
          </a:xfrm>
          <a:prstGeom prst="rect">
            <a:avLst/>
          </a:prstGeom>
        </p:spPr>
        <p:txBody>
          <a:bodyPr lIns="0" tIns="0" rIns="0" bIns="0" rtlCol="0" anchor="t">
            <a:spAutoFit/>
          </a:bodyPr>
          <a:lstStyle/>
          <a:p>
            <a:pPr algn="l">
              <a:lnSpc>
                <a:spcPts val="5771"/>
              </a:lnSpc>
            </a:pPr>
            <a:r>
              <a:rPr lang="en-US" sz="11543">
                <a:solidFill>
                  <a:srgbClr val="283728"/>
                </a:solidFill>
                <a:latin typeface="Adirek Sans Heavy"/>
                <a:ea typeface="Adirek Sans Heavy"/>
                <a:cs typeface="Adirek Sans Heavy"/>
                <a:sym typeface="Adirek Sans Heavy"/>
              </a:rPr>
              <a:t>TINJAUAN TEORI</a:t>
            </a:r>
          </a:p>
        </p:txBody>
      </p:sp>
      <p:sp>
        <p:nvSpPr>
          <p:cNvPr id="13" name="TextBox 13"/>
          <p:cNvSpPr txBox="1"/>
          <p:nvPr/>
        </p:nvSpPr>
        <p:spPr>
          <a:xfrm>
            <a:off x="201093" y="2146359"/>
            <a:ext cx="16049569" cy="593725"/>
          </a:xfrm>
          <a:prstGeom prst="rect">
            <a:avLst/>
          </a:prstGeom>
        </p:spPr>
        <p:txBody>
          <a:bodyPr lIns="0" tIns="0" rIns="0" bIns="0" rtlCol="0" anchor="t">
            <a:spAutoFit/>
          </a:bodyPr>
          <a:lstStyle/>
          <a:p>
            <a:pPr algn="l">
              <a:lnSpc>
                <a:spcPts val="3499"/>
              </a:lnSpc>
            </a:pPr>
            <a:r>
              <a:rPr lang="en-US" sz="6999">
                <a:solidFill>
                  <a:srgbClr val="283728"/>
                </a:solidFill>
                <a:latin typeface="Adirek Sans Heavy"/>
                <a:ea typeface="Adirek Sans Heavy"/>
                <a:cs typeface="Adirek Sans Heavy"/>
                <a:sym typeface="Adirek Sans Heavy"/>
              </a:rPr>
              <a:t>REGULARIZED SINGULAR VALUE DECOMPOSITION </a:t>
            </a:r>
          </a:p>
        </p:txBody>
      </p:sp>
      <p:sp>
        <p:nvSpPr>
          <p:cNvPr id="14" name="TextBox 14"/>
          <p:cNvSpPr txBox="1"/>
          <p:nvPr/>
        </p:nvSpPr>
        <p:spPr>
          <a:xfrm>
            <a:off x="6146633" y="6532592"/>
            <a:ext cx="5994733" cy="830580"/>
          </a:xfrm>
          <a:prstGeom prst="rect">
            <a:avLst/>
          </a:prstGeom>
        </p:spPr>
        <p:txBody>
          <a:bodyPr lIns="0" tIns="0" rIns="0" bIns="0" rtlCol="0" anchor="t">
            <a:spAutoFit/>
          </a:bodyPr>
          <a:lstStyle/>
          <a:p>
            <a:pPr algn="l">
              <a:lnSpc>
                <a:spcPts val="3209"/>
              </a:lnSpc>
            </a:pPr>
            <a:r>
              <a:rPr lang="en-US" sz="2999" dirty="0" err="1">
                <a:solidFill>
                  <a:srgbClr val="FAF2EA"/>
                </a:solidFill>
                <a:latin typeface="Roboto"/>
                <a:ea typeface="Roboto"/>
                <a:cs typeface="Roboto"/>
                <a:sym typeface="Roboto"/>
              </a:rPr>
              <a:t>a</a:t>
            </a:r>
            <a:r>
              <a:rPr lang="en-US" sz="2999" baseline="-25000" dirty="0" err="1">
                <a:solidFill>
                  <a:srgbClr val="FAF2EA"/>
                </a:solidFill>
                <a:latin typeface="Roboto"/>
                <a:ea typeface="Roboto"/>
                <a:cs typeface="Roboto"/>
                <a:sym typeface="Roboto"/>
              </a:rPr>
              <a:t>ij</a:t>
            </a:r>
            <a:r>
              <a:rPr lang="en-US" sz="2999" dirty="0">
                <a:solidFill>
                  <a:srgbClr val="FAF2EA"/>
                </a:solidFill>
                <a:latin typeface="Roboto"/>
                <a:ea typeface="Roboto"/>
                <a:cs typeface="Roboto"/>
                <a:sym typeface="Roboto"/>
              </a:rPr>
              <a:t> = </a:t>
            </a:r>
            <a:r>
              <a:rPr lang="en-US" sz="2999" dirty="0" err="1">
                <a:solidFill>
                  <a:srgbClr val="FAF2EA"/>
                </a:solidFill>
                <a:latin typeface="Roboto"/>
                <a:ea typeface="Roboto"/>
                <a:cs typeface="Roboto"/>
                <a:sym typeface="Roboto"/>
              </a:rPr>
              <a:t>elemen</a:t>
            </a:r>
            <a:r>
              <a:rPr lang="en-US" sz="2999" dirty="0">
                <a:solidFill>
                  <a:srgbClr val="FAF2EA"/>
                </a:solidFill>
                <a:latin typeface="Roboto"/>
                <a:ea typeface="Roboto"/>
                <a:cs typeface="Roboto"/>
                <a:sym typeface="Roboto"/>
              </a:rPr>
              <a:t> baris ke-</a:t>
            </a:r>
            <a:r>
              <a:rPr lang="en-US" sz="2999" dirty="0" err="1">
                <a:solidFill>
                  <a:srgbClr val="FAF2EA"/>
                </a:solidFill>
                <a:latin typeface="Roboto"/>
                <a:ea typeface="Roboto"/>
                <a:cs typeface="Roboto"/>
                <a:sym typeface="Roboto"/>
              </a:rPr>
              <a:t>i</a:t>
            </a:r>
            <a:r>
              <a:rPr lang="en-US" sz="2999" dirty="0">
                <a:solidFill>
                  <a:srgbClr val="FAF2EA"/>
                </a:solidFill>
                <a:latin typeface="Roboto"/>
                <a:ea typeface="Roboto"/>
                <a:cs typeface="Roboto"/>
                <a:sym typeface="Roboto"/>
              </a:rPr>
              <a:t>, </a:t>
            </a:r>
            <a:r>
              <a:rPr lang="en-US" sz="2999" dirty="0" err="1">
                <a:solidFill>
                  <a:srgbClr val="FAF2EA"/>
                </a:solidFill>
                <a:latin typeface="Roboto"/>
                <a:ea typeface="Roboto"/>
                <a:cs typeface="Roboto"/>
                <a:sym typeface="Roboto"/>
              </a:rPr>
              <a:t>kolom</a:t>
            </a:r>
            <a:r>
              <a:rPr lang="en-US" sz="2999" dirty="0">
                <a:solidFill>
                  <a:srgbClr val="FAF2EA"/>
                </a:solidFill>
                <a:latin typeface="Roboto"/>
                <a:ea typeface="Roboto"/>
                <a:cs typeface="Roboto"/>
                <a:sym typeface="Roboto"/>
              </a:rPr>
              <a:t> ke-j pada </a:t>
            </a:r>
            <a:r>
              <a:rPr lang="en-US" sz="2999" dirty="0" err="1">
                <a:solidFill>
                  <a:srgbClr val="FAF2EA"/>
                </a:solidFill>
                <a:latin typeface="Roboto"/>
                <a:ea typeface="Roboto"/>
                <a:cs typeface="Roboto"/>
                <a:sym typeface="Roboto"/>
              </a:rPr>
              <a:t>matriks</a:t>
            </a:r>
            <a:r>
              <a:rPr lang="en-US" sz="2999" dirty="0">
                <a:solidFill>
                  <a:srgbClr val="FAF2EA"/>
                </a:solidFill>
                <a:latin typeface="Roboto"/>
                <a:ea typeface="Roboto"/>
                <a:cs typeface="Roboto"/>
                <a:sym typeface="Roboto"/>
              </a:rPr>
              <a:t> A</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AF2EA"/>
        </a:solidFill>
        <a:effectLst/>
      </p:bgPr>
    </p:bg>
    <p:spTree>
      <p:nvGrpSpPr>
        <p:cNvPr id="1" name=""/>
        <p:cNvGrpSpPr/>
        <p:nvPr/>
      </p:nvGrpSpPr>
      <p:grpSpPr>
        <a:xfrm>
          <a:off x="0" y="0"/>
          <a:ext cx="0" cy="0"/>
          <a:chOff x="0" y="0"/>
          <a:chExt cx="0" cy="0"/>
        </a:xfrm>
      </p:grpSpPr>
      <p:grpSp>
        <p:nvGrpSpPr>
          <p:cNvPr id="2" name="Group 2"/>
          <p:cNvGrpSpPr/>
          <p:nvPr/>
        </p:nvGrpSpPr>
        <p:grpSpPr>
          <a:xfrm>
            <a:off x="0" y="2740084"/>
            <a:ext cx="18288000" cy="7546916"/>
            <a:chOff x="0" y="0"/>
            <a:chExt cx="4816593" cy="1987665"/>
          </a:xfrm>
        </p:grpSpPr>
        <p:sp>
          <p:nvSpPr>
            <p:cNvPr id="3" name="Freeform 3"/>
            <p:cNvSpPr/>
            <p:nvPr/>
          </p:nvSpPr>
          <p:spPr>
            <a:xfrm>
              <a:off x="0" y="0"/>
              <a:ext cx="4816592" cy="1987665"/>
            </a:xfrm>
            <a:custGeom>
              <a:avLst/>
              <a:gdLst/>
              <a:ahLst/>
              <a:cxnLst/>
              <a:rect l="l" t="t" r="r" b="b"/>
              <a:pathLst>
                <a:path w="4816592" h="1987665">
                  <a:moveTo>
                    <a:pt x="0" y="0"/>
                  </a:moveTo>
                  <a:lnTo>
                    <a:pt x="4816592" y="0"/>
                  </a:lnTo>
                  <a:lnTo>
                    <a:pt x="4816592" y="1987665"/>
                  </a:lnTo>
                  <a:lnTo>
                    <a:pt x="0" y="1987665"/>
                  </a:lnTo>
                  <a:close/>
                </a:path>
              </a:pathLst>
            </a:custGeom>
            <a:solidFill>
              <a:srgbClr val="283728"/>
            </a:solidFill>
          </p:spPr>
        </p:sp>
        <p:sp>
          <p:nvSpPr>
            <p:cNvPr id="4" name="TextBox 4"/>
            <p:cNvSpPr txBox="1"/>
            <p:nvPr/>
          </p:nvSpPr>
          <p:spPr>
            <a:xfrm>
              <a:off x="0" y="-47625"/>
              <a:ext cx="4816593" cy="2035290"/>
            </a:xfrm>
            <a:prstGeom prst="rect">
              <a:avLst/>
            </a:prstGeom>
          </p:spPr>
          <p:txBody>
            <a:bodyPr lIns="50800" tIns="50800" rIns="50800" bIns="50800" rtlCol="0" anchor="ctr"/>
            <a:lstStyle/>
            <a:p>
              <a:pPr algn="ctr">
                <a:lnSpc>
                  <a:spcPts val="3079"/>
                </a:lnSpc>
              </a:pPr>
              <a:endParaRPr/>
            </a:p>
          </p:txBody>
        </p:sp>
      </p:grpSp>
      <p:grpSp>
        <p:nvGrpSpPr>
          <p:cNvPr id="5" name="Group 5"/>
          <p:cNvGrpSpPr/>
          <p:nvPr/>
        </p:nvGrpSpPr>
        <p:grpSpPr>
          <a:xfrm>
            <a:off x="16610134" y="0"/>
            <a:ext cx="1677866" cy="1679634"/>
            <a:chOff x="0" y="0"/>
            <a:chExt cx="568780" cy="569379"/>
          </a:xfrm>
        </p:grpSpPr>
        <p:sp>
          <p:nvSpPr>
            <p:cNvPr id="6" name="Freeform 6"/>
            <p:cNvSpPr/>
            <p:nvPr/>
          </p:nvSpPr>
          <p:spPr>
            <a:xfrm>
              <a:off x="0" y="0"/>
              <a:ext cx="568780" cy="569379"/>
            </a:xfrm>
            <a:custGeom>
              <a:avLst/>
              <a:gdLst/>
              <a:ahLst/>
              <a:cxnLst/>
              <a:rect l="l" t="t" r="r" b="b"/>
              <a:pathLst>
                <a:path w="568780" h="569379">
                  <a:moveTo>
                    <a:pt x="0" y="0"/>
                  </a:moveTo>
                  <a:lnTo>
                    <a:pt x="568780" y="0"/>
                  </a:lnTo>
                  <a:lnTo>
                    <a:pt x="568780" y="569379"/>
                  </a:lnTo>
                  <a:lnTo>
                    <a:pt x="0" y="569379"/>
                  </a:lnTo>
                  <a:close/>
                </a:path>
              </a:pathLst>
            </a:custGeom>
            <a:solidFill>
              <a:srgbClr val="283728"/>
            </a:solidFill>
          </p:spPr>
        </p:sp>
        <p:sp>
          <p:nvSpPr>
            <p:cNvPr id="7" name="TextBox 7"/>
            <p:cNvSpPr txBox="1"/>
            <p:nvPr/>
          </p:nvSpPr>
          <p:spPr>
            <a:xfrm>
              <a:off x="0" y="-47625"/>
              <a:ext cx="568780" cy="617004"/>
            </a:xfrm>
            <a:prstGeom prst="rect">
              <a:avLst/>
            </a:prstGeom>
          </p:spPr>
          <p:txBody>
            <a:bodyPr lIns="50800" tIns="50800" rIns="50800" bIns="50800" rtlCol="0" anchor="ctr"/>
            <a:lstStyle/>
            <a:p>
              <a:pPr algn="ctr">
                <a:lnSpc>
                  <a:spcPts val="3079"/>
                </a:lnSpc>
              </a:pPr>
              <a:endParaRPr/>
            </a:p>
          </p:txBody>
        </p:sp>
      </p:grpSp>
      <p:sp>
        <p:nvSpPr>
          <p:cNvPr id="8" name="Freeform 8"/>
          <p:cNvSpPr/>
          <p:nvPr/>
        </p:nvSpPr>
        <p:spPr>
          <a:xfrm>
            <a:off x="16872103" y="188695"/>
            <a:ext cx="1156433" cy="1302244"/>
          </a:xfrm>
          <a:custGeom>
            <a:avLst/>
            <a:gdLst/>
            <a:ahLst/>
            <a:cxnLst/>
            <a:rect l="l" t="t" r="r" b="b"/>
            <a:pathLst>
              <a:path w="1156433" h="1302244">
                <a:moveTo>
                  <a:pt x="0" y="0"/>
                </a:moveTo>
                <a:lnTo>
                  <a:pt x="1156433" y="0"/>
                </a:lnTo>
                <a:lnTo>
                  <a:pt x="1156433" y="1302244"/>
                </a:lnTo>
                <a:lnTo>
                  <a:pt x="0" y="1302244"/>
                </a:lnTo>
                <a:lnTo>
                  <a:pt x="0" y="0"/>
                </a:lnTo>
                <a:close/>
              </a:path>
            </a:pathLst>
          </a:custGeom>
          <a:blipFill>
            <a:blip r:embed="rId2"/>
            <a:stretch>
              <a:fillRect/>
            </a:stretch>
          </a:blipFill>
        </p:spPr>
      </p:sp>
      <p:sp>
        <p:nvSpPr>
          <p:cNvPr id="9" name="Freeform 9"/>
          <p:cNvSpPr/>
          <p:nvPr/>
        </p:nvSpPr>
        <p:spPr>
          <a:xfrm>
            <a:off x="6417050" y="4863250"/>
            <a:ext cx="3733783" cy="3313530"/>
          </a:xfrm>
          <a:custGeom>
            <a:avLst/>
            <a:gdLst/>
            <a:ahLst/>
            <a:cxnLst/>
            <a:rect l="l" t="t" r="r" b="b"/>
            <a:pathLst>
              <a:path w="3733783" h="3313530">
                <a:moveTo>
                  <a:pt x="0" y="0"/>
                </a:moveTo>
                <a:lnTo>
                  <a:pt x="3733783" y="0"/>
                </a:lnTo>
                <a:lnTo>
                  <a:pt x="3733783" y="3313530"/>
                </a:lnTo>
                <a:lnTo>
                  <a:pt x="0" y="3313530"/>
                </a:lnTo>
                <a:lnTo>
                  <a:pt x="0" y="0"/>
                </a:lnTo>
                <a:close/>
              </a:path>
            </a:pathLst>
          </a:custGeom>
          <a:blipFill>
            <a:blip r:embed="rId3"/>
            <a:stretch>
              <a:fillRect/>
            </a:stretch>
          </a:blipFill>
        </p:spPr>
      </p:sp>
      <p:sp>
        <p:nvSpPr>
          <p:cNvPr id="10" name="TextBox 10"/>
          <p:cNvSpPr txBox="1"/>
          <p:nvPr/>
        </p:nvSpPr>
        <p:spPr>
          <a:xfrm>
            <a:off x="230278" y="2853474"/>
            <a:ext cx="17827443" cy="1771651"/>
          </a:xfrm>
          <a:prstGeom prst="rect">
            <a:avLst/>
          </a:prstGeom>
        </p:spPr>
        <p:txBody>
          <a:bodyPr lIns="0" tIns="0" rIns="0" bIns="0" rtlCol="0" anchor="t">
            <a:spAutoFit/>
          </a:bodyPr>
          <a:lstStyle/>
          <a:p>
            <a:pPr algn="just">
              <a:lnSpc>
                <a:spcPts val="4799"/>
              </a:lnSpc>
            </a:pPr>
            <a:r>
              <a:rPr lang="en-US" sz="2999">
                <a:solidFill>
                  <a:srgbClr val="FAF2EA"/>
                </a:solidFill>
                <a:latin typeface="Roboto"/>
                <a:ea typeface="Roboto"/>
                <a:cs typeface="Roboto"/>
                <a:sym typeface="Roboto"/>
              </a:rPr>
              <a:t>Metode Stochastic Gradient Descent (SGD) akan digunakan untuk mengoptimasi fungsi loss dari RSVD. SGD adalah metode yang memperbarui parameter secara iteratif menggunakan informasi gradien dari subset data pada matriks Z. Pembaruan parameter pada SGD dilakukan dengan rumus</a:t>
            </a:r>
          </a:p>
        </p:txBody>
      </p:sp>
      <p:sp>
        <p:nvSpPr>
          <p:cNvPr id="11" name="TextBox 11"/>
          <p:cNvSpPr txBox="1"/>
          <p:nvPr/>
        </p:nvSpPr>
        <p:spPr>
          <a:xfrm>
            <a:off x="16610134" y="9518480"/>
            <a:ext cx="598073" cy="311277"/>
          </a:xfrm>
          <a:prstGeom prst="rect">
            <a:avLst/>
          </a:prstGeom>
        </p:spPr>
        <p:txBody>
          <a:bodyPr lIns="0" tIns="0" rIns="0" bIns="0" rtlCol="0" anchor="t">
            <a:spAutoFit/>
          </a:bodyPr>
          <a:lstStyle/>
          <a:p>
            <a:pPr algn="ctr">
              <a:lnSpc>
                <a:spcPts val="2304"/>
              </a:lnSpc>
            </a:pPr>
            <a:r>
              <a:rPr lang="en-US" sz="2400">
                <a:solidFill>
                  <a:srgbClr val="283728"/>
                </a:solidFill>
                <a:latin typeface="Adirek Sans Bold"/>
                <a:ea typeface="Adirek Sans Bold"/>
                <a:cs typeface="Adirek Sans Bold"/>
                <a:sym typeface="Adirek Sans Bold"/>
              </a:rPr>
              <a:t>2024</a:t>
            </a:r>
          </a:p>
        </p:txBody>
      </p:sp>
      <p:sp>
        <p:nvSpPr>
          <p:cNvPr id="12" name="TextBox 12"/>
          <p:cNvSpPr txBox="1"/>
          <p:nvPr/>
        </p:nvSpPr>
        <p:spPr>
          <a:xfrm>
            <a:off x="201093" y="960220"/>
            <a:ext cx="9949740" cy="978577"/>
          </a:xfrm>
          <a:prstGeom prst="rect">
            <a:avLst/>
          </a:prstGeom>
        </p:spPr>
        <p:txBody>
          <a:bodyPr lIns="0" tIns="0" rIns="0" bIns="0" rtlCol="0" anchor="t">
            <a:spAutoFit/>
          </a:bodyPr>
          <a:lstStyle/>
          <a:p>
            <a:pPr algn="l">
              <a:lnSpc>
                <a:spcPts val="5771"/>
              </a:lnSpc>
            </a:pPr>
            <a:r>
              <a:rPr lang="en-US" sz="11543">
                <a:solidFill>
                  <a:srgbClr val="283728"/>
                </a:solidFill>
                <a:latin typeface="Adirek Sans Heavy"/>
                <a:ea typeface="Adirek Sans Heavy"/>
                <a:cs typeface="Adirek Sans Heavy"/>
                <a:sym typeface="Adirek Sans Heavy"/>
              </a:rPr>
              <a:t>TINJAUAN TEORI</a:t>
            </a:r>
          </a:p>
        </p:txBody>
      </p:sp>
      <p:sp>
        <p:nvSpPr>
          <p:cNvPr id="13" name="TextBox 13"/>
          <p:cNvSpPr txBox="1"/>
          <p:nvPr/>
        </p:nvSpPr>
        <p:spPr>
          <a:xfrm>
            <a:off x="201093" y="2146359"/>
            <a:ext cx="16049569" cy="593725"/>
          </a:xfrm>
          <a:prstGeom prst="rect">
            <a:avLst/>
          </a:prstGeom>
        </p:spPr>
        <p:txBody>
          <a:bodyPr lIns="0" tIns="0" rIns="0" bIns="0" rtlCol="0" anchor="t">
            <a:spAutoFit/>
          </a:bodyPr>
          <a:lstStyle/>
          <a:p>
            <a:pPr algn="l">
              <a:lnSpc>
                <a:spcPts val="3499"/>
              </a:lnSpc>
            </a:pPr>
            <a:r>
              <a:rPr lang="en-US" sz="6999">
                <a:solidFill>
                  <a:srgbClr val="283728"/>
                </a:solidFill>
                <a:latin typeface="Adirek Sans Heavy"/>
                <a:ea typeface="Adirek Sans Heavy"/>
                <a:cs typeface="Adirek Sans Heavy"/>
                <a:sym typeface="Adirek Sans Heavy"/>
              </a:rPr>
              <a:t>REGULARIZED SINGULAR VALUE DECOMPOSITION </a:t>
            </a:r>
          </a:p>
        </p:txBody>
      </p:sp>
      <p:sp>
        <p:nvSpPr>
          <p:cNvPr id="14" name="TextBox 14"/>
          <p:cNvSpPr txBox="1"/>
          <p:nvPr/>
        </p:nvSpPr>
        <p:spPr>
          <a:xfrm>
            <a:off x="10499330" y="5724808"/>
            <a:ext cx="7391400" cy="1641475"/>
          </a:xfrm>
          <a:prstGeom prst="rect">
            <a:avLst/>
          </a:prstGeom>
        </p:spPr>
        <p:txBody>
          <a:bodyPr wrap="square" lIns="0" tIns="0" rIns="0" bIns="0" rtlCol="0" anchor="t">
            <a:spAutoFit/>
          </a:bodyPr>
          <a:lstStyle/>
          <a:p>
            <a:pPr algn="l">
              <a:lnSpc>
                <a:spcPts val="3209"/>
              </a:lnSpc>
            </a:pPr>
            <a:r>
              <a:rPr lang="en-US" sz="2999" dirty="0">
                <a:solidFill>
                  <a:srgbClr val="FAF2EA"/>
                </a:solidFill>
                <a:latin typeface="Roboto"/>
                <a:ea typeface="Roboto"/>
                <a:cs typeface="Roboto"/>
                <a:sym typeface="Roboto"/>
              </a:rPr>
              <a:t>η = learning rate</a:t>
            </a:r>
          </a:p>
          <a:p>
            <a:pPr algn="l">
              <a:lnSpc>
                <a:spcPts val="3209"/>
              </a:lnSpc>
            </a:pPr>
            <a:r>
              <a:rPr lang="en-US" sz="2999" dirty="0">
                <a:solidFill>
                  <a:srgbClr val="FAF2EA"/>
                </a:solidFill>
                <a:latin typeface="Roboto"/>
                <a:ea typeface="Roboto"/>
                <a:cs typeface="Roboto"/>
                <a:sym typeface="Roboto"/>
              </a:rPr>
              <a:t>∂Loss/∂U = </a:t>
            </a:r>
            <a:r>
              <a:rPr lang="en-US" sz="2999" dirty="0" err="1">
                <a:solidFill>
                  <a:srgbClr val="FAF2EA"/>
                </a:solidFill>
                <a:latin typeface="Roboto"/>
                <a:ea typeface="Roboto"/>
                <a:cs typeface="Roboto"/>
                <a:sym typeface="Roboto"/>
              </a:rPr>
              <a:t>turunan</a:t>
            </a:r>
            <a:r>
              <a:rPr lang="en-US" sz="2999" dirty="0">
                <a:solidFill>
                  <a:srgbClr val="FAF2EA"/>
                </a:solidFill>
                <a:latin typeface="Roboto"/>
                <a:ea typeface="Roboto"/>
                <a:cs typeface="Roboto"/>
                <a:sym typeface="Roboto"/>
              </a:rPr>
              <a:t> </a:t>
            </a:r>
            <a:r>
              <a:rPr lang="en-US" sz="2999" dirty="0" err="1">
                <a:solidFill>
                  <a:srgbClr val="FAF2EA"/>
                </a:solidFill>
                <a:latin typeface="Roboto"/>
                <a:ea typeface="Roboto"/>
                <a:cs typeface="Roboto"/>
                <a:sym typeface="Roboto"/>
              </a:rPr>
              <a:t>parsial</a:t>
            </a:r>
            <a:r>
              <a:rPr lang="en-US" sz="2999" dirty="0">
                <a:solidFill>
                  <a:srgbClr val="FAF2EA"/>
                </a:solidFill>
                <a:latin typeface="Roboto"/>
                <a:ea typeface="Roboto"/>
                <a:cs typeface="Roboto"/>
                <a:sym typeface="Roboto"/>
              </a:rPr>
              <a:t> loss </a:t>
            </a:r>
            <a:r>
              <a:rPr lang="en-US" sz="2999" dirty="0" err="1">
                <a:solidFill>
                  <a:srgbClr val="FAF2EA"/>
                </a:solidFill>
                <a:latin typeface="Roboto"/>
                <a:ea typeface="Roboto"/>
                <a:cs typeface="Roboto"/>
                <a:sym typeface="Roboto"/>
              </a:rPr>
              <a:t>terhadap</a:t>
            </a:r>
            <a:r>
              <a:rPr lang="en-US" sz="2999" dirty="0">
                <a:solidFill>
                  <a:srgbClr val="FAF2EA"/>
                </a:solidFill>
                <a:latin typeface="Roboto"/>
                <a:ea typeface="Roboto"/>
                <a:cs typeface="Roboto"/>
                <a:sym typeface="Roboto"/>
              </a:rPr>
              <a:t> U</a:t>
            </a:r>
          </a:p>
          <a:p>
            <a:pPr algn="l">
              <a:lnSpc>
                <a:spcPts val="3209"/>
              </a:lnSpc>
            </a:pPr>
            <a:r>
              <a:rPr lang="en-US" sz="2999" dirty="0">
                <a:solidFill>
                  <a:srgbClr val="FAF2EA"/>
                </a:solidFill>
                <a:latin typeface="Roboto"/>
                <a:ea typeface="Roboto"/>
                <a:cs typeface="Roboto"/>
                <a:sym typeface="Roboto"/>
              </a:rPr>
              <a:t>∂Loss/∂V = </a:t>
            </a:r>
            <a:r>
              <a:rPr lang="en-US" sz="2999" dirty="0" err="1">
                <a:solidFill>
                  <a:srgbClr val="FAF2EA"/>
                </a:solidFill>
                <a:latin typeface="Roboto"/>
                <a:ea typeface="Roboto"/>
                <a:cs typeface="Roboto"/>
                <a:sym typeface="Roboto"/>
              </a:rPr>
              <a:t>turunan</a:t>
            </a:r>
            <a:r>
              <a:rPr lang="en-US" sz="2999" dirty="0">
                <a:solidFill>
                  <a:srgbClr val="FAF2EA"/>
                </a:solidFill>
                <a:latin typeface="Roboto"/>
                <a:ea typeface="Roboto"/>
                <a:cs typeface="Roboto"/>
                <a:sym typeface="Roboto"/>
              </a:rPr>
              <a:t> </a:t>
            </a:r>
            <a:r>
              <a:rPr lang="en-US" sz="2999" dirty="0" err="1">
                <a:solidFill>
                  <a:srgbClr val="FAF2EA"/>
                </a:solidFill>
                <a:latin typeface="Roboto"/>
                <a:ea typeface="Roboto"/>
                <a:cs typeface="Roboto"/>
                <a:sym typeface="Roboto"/>
              </a:rPr>
              <a:t>parsial</a:t>
            </a:r>
            <a:r>
              <a:rPr lang="en-US" sz="2999" dirty="0">
                <a:solidFill>
                  <a:srgbClr val="FAF2EA"/>
                </a:solidFill>
                <a:latin typeface="Roboto"/>
                <a:ea typeface="Roboto"/>
                <a:cs typeface="Roboto"/>
                <a:sym typeface="Roboto"/>
              </a:rPr>
              <a:t> loss </a:t>
            </a:r>
            <a:r>
              <a:rPr lang="en-US" sz="2999" dirty="0" err="1">
                <a:solidFill>
                  <a:srgbClr val="FAF2EA"/>
                </a:solidFill>
                <a:latin typeface="Roboto"/>
                <a:ea typeface="Roboto"/>
                <a:cs typeface="Roboto"/>
                <a:sym typeface="Roboto"/>
              </a:rPr>
              <a:t>terhadap</a:t>
            </a:r>
            <a:r>
              <a:rPr lang="en-US" sz="2999" dirty="0">
                <a:solidFill>
                  <a:srgbClr val="FAF2EA"/>
                </a:solidFill>
                <a:latin typeface="Roboto"/>
                <a:ea typeface="Roboto"/>
                <a:cs typeface="Roboto"/>
                <a:sym typeface="Roboto"/>
              </a:rPr>
              <a:t> V</a:t>
            </a:r>
          </a:p>
          <a:p>
            <a:pPr algn="l">
              <a:lnSpc>
                <a:spcPts val="3209"/>
              </a:lnSpc>
            </a:pPr>
            <a:r>
              <a:rPr lang="en-US" sz="2999" dirty="0">
                <a:solidFill>
                  <a:srgbClr val="FAF2EA"/>
                </a:solidFill>
                <a:latin typeface="Roboto"/>
                <a:ea typeface="Roboto"/>
                <a:cs typeface="Roboto"/>
                <a:sym typeface="Roboto"/>
              </a:rPr>
              <a:t>∂Loss/∂Σ = </a:t>
            </a:r>
            <a:r>
              <a:rPr lang="en-US" sz="2999" dirty="0" err="1">
                <a:solidFill>
                  <a:srgbClr val="FAF2EA"/>
                </a:solidFill>
                <a:latin typeface="Roboto"/>
                <a:ea typeface="Roboto"/>
                <a:cs typeface="Roboto"/>
                <a:sym typeface="Roboto"/>
              </a:rPr>
              <a:t>turunan</a:t>
            </a:r>
            <a:r>
              <a:rPr lang="en-US" sz="2999" dirty="0">
                <a:solidFill>
                  <a:srgbClr val="FAF2EA"/>
                </a:solidFill>
                <a:latin typeface="Roboto"/>
                <a:ea typeface="Roboto"/>
                <a:cs typeface="Roboto"/>
                <a:sym typeface="Roboto"/>
              </a:rPr>
              <a:t> </a:t>
            </a:r>
            <a:r>
              <a:rPr lang="en-US" sz="2999" dirty="0" err="1">
                <a:solidFill>
                  <a:srgbClr val="FAF2EA"/>
                </a:solidFill>
                <a:latin typeface="Roboto"/>
                <a:ea typeface="Roboto"/>
                <a:cs typeface="Roboto"/>
                <a:sym typeface="Roboto"/>
              </a:rPr>
              <a:t>parsial</a:t>
            </a:r>
            <a:r>
              <a:rPr lang="en-US" sz="2999" dirty="0">
                <a:solidFill>
                  <a:srgbClr val="FAF2EA"/>
                </a:solidFill>
                <a:latin typeface="Roboto"/>
                <a:ea typeface="Roboto"/>
                <a:cs typeface="Roboto"/>
                <a:sym typeface="Roboto"/>
              </a:rPr>
              <a:t> loss </a:t>
            </a:r>
            <a:r>
              <a:rPr lang="en-US" sz="2999" dirty="0" err="1">
                <a:solidFill>
                  <a:srgbClr val="FAF2EA"/>
                </a:solidFill>
                <a:latin typeface="Roboto"/>
                <a:ea typeface="Roboto"/>
                <a:cs typeface="Roboto"/>
                <a:sym typeface="Roboto"/>
              </a:rPr>
              <a:t>terhadap</a:t>
            </a:r>
            <a:r>
              <a:rPr lang="en-US" sz="2999" dirty="0">
                <a:solidFill>
                  <a:srgbClr val="FAF2EA"/>
                </a:solidFill>
                <a:latin typeface="Roboto"/>
                <a:ea typeface="Roboto"/>
                <a:cs typeface="Roboto"/>
                <a:sym typeface="Roboto"/>
              </a:rPr>
              <a:t> Σ</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AF2EA"/>
        </a:solidFill>
        <a:effectLst/>
      </p:bgPr>
    </p:bg>
    <p:spTree>
      <p:nvGrpSpPr>
        <p:cNvPr id="1" name=""/>
        <p:cNvGrpSpPr/>
        <p:nvPr/>
      </p:nvGrpSpPr>
      <p:grpSpPr>
        <a:xfrm>
          <a:off x="0" y="0"/>
          <a:ext cx="0" cy="0"/>
          <a:chOff x="0" y="0"/>
          <a:chExt cx="0" cy="0"/>
        </a:xfrm>
      </p:grpSpPr>
      <p:grpSp>
        <p:nvGrpSpPr>
          <p:cNvPr id="2" name="Group 2"/>
          <p:cNvGrpSpPr/>
          <p:nvPr/>
        </p:nvGrpSpPr>
        <p:grpSpPr>
          <a:xfrm>
            <a:off x="0" y="2740084"/>
            <a:ext cx="18288000" cy="7546916"/>
            <a:chOff x="0" y="0"/>
            <a:chExt cx="4816593" cy="1987665"/>
          </a:xfrm>
        </p:grpSpPr>
        <p:sp>
          <p:nvSpPr>
            <p:cNvPr id="3" name="Freeform 3"/>
            <p:cNvSpPr/>
            <p:nvPr/>
          </p:nvSpPr>
          <p:spPr>
            <a:xfrm>
              <a:off x="0" y="0"/>
              <a:ext cx="4816592" cy="1987665"/>
            </a:xfrm>
            <a:custGeom>
              <a:avLst/>
              <a:gdLst/>
              <a:ahLst/>
              <a:cxnLst/>
              <a:rect l="l" t="t" r="r" b="b"/>
              <a:pathLst>
                <a:path w="4816592" h="1987665">
                  <a:moveTo>
                    <a:pt x="0" y="0"/>
                  </a:moveTo>
                  <a:lnTo>
                    <a:pt x="4816592" y="0"/>
                  </a:lnTo>
                  <a:lnTo>
                    <a:pt x="4816592" y="1987665"/>
                  </a:lnTo>
                  <a:lnTo>
                    <a:pt x="0" y="1987665"/>
                  </a:lnTo>
                  <a:close/>
                </a:path>
              </a:pathLst>
            </a:custGeom>
            <a:solidFill>
              <a:srgbClr val="283728"/>
            </a:solidFill>
          </p:spPr>
        </p:sp>
        <p:sp>
          <p:nvSpPr>
            <p:cNvPr id="4" name="TextBox 4"/>
            <p:cNvSpPr txBox="1"/>
            <p:nvPr/>
          </p:nvSpPr>
          <p:spPr>
            <a:xfrm>
              <a:off x="0" y="-47625"/>
              <a:ext cx="4816593" cy="2035290"/>
            </a:xfrm>
            <a:prstGeom prst="rect">
              <a:avLst/>
            </a:prstGeom>
          </p:spPr>
          <p:txBody>
            <a:bodyPr lIns="50800" tIns="50800" rIns="50800" bIns="50800" rtlCol="0" anchor="ctr"/>
            <a:lstStyle/>
            <a:p>
              <a:pPr algn="ctr">
                <a:lnSpc>
                  <a:spcPts val="3079"/>
                </a:lnSpc>
              </a:pPr>
              <a:endParaRPr/>
            </a:p>
          </p:txBody>
        </p:sp>
      </p:grpSp>
      <p:grpSp>
        <p:nvGrpSpPr>
          <p:cNvPr id="5" name="Group 5"/>
          <p:cNvGrpSpPr/>
          <p:nvPr/>
        </p:nvGrpSpPr>
        <p:grpSpPr>
          <a:xfrm>
            <a:off x="16610134" y="0"/>
            <a:ext cx="1677866" cy="1679634"/>
            <a:chOff x="0" y="0"/>
            <a:chExt cx="568780" cy="569379"/>
          </a:xfrm>
        </p:grpSpPr>
        <p:sp>
          <p:nvSpPr>
            <p:cNvPr id="6" name="Freeform 6"/>
            <p:cNvSpPr/>
            <p:nvPr/>
          </p:nvSpPr>
          <p:spPr>
            <a:xfrm>
              <a:off x="0" y="0"/>
              <a:ext cx="568780" cy="569379"/>
            </a:xfrm>
            <a:custGeom>
              <a:avLst/>
              <a:gdLst/>
              <a:ahLst/>
              <a:cxnLst/>
              <a:rect l="l" t="t" r="r" b="b"/>
              <a:pathLst>
                <a:path w="568780" h="569379">
                  <a:moveTo>
                    <a:pt x="0" y="0"/>
                  </a:moveTo>
                  <a:lnTo>
                    <a:pt x="568780" y="0"/>
                  </a:lnTo>
                  <a:lnTo>
                    <a:pt x="568780" y="569379"/>
                  </a:lnTo>
                  <a:lnTo>
                    <a:pt x="0" y="569379"/>
                  </a:lnTo>
                  <a:close/>
                </a:path>
              </a:pathLst>
            </a:custGeom>
            <a:solidFill>
              <a:srgbClr val="283728"/>
            </a:solidFill>
          </p:spPr>
        </p:sp>
        <p:sp>
          <p:nvSpPr>
            <p:cNvPr id="7" name="TextBox 7"/>
            <p:cNvSpPr txBox="1"/>
            <p:nvPr/>
          </p:nvSpPr>
          <p:spPr>
            <a:xfrm>
              <a:off x="0" y="-47625"/>
              <a:ext cx="568780" cy="617004"/>
            </a:xfrm>
            <a:prstGeom prst="rect">
              <a:avLst/>
            </a:prstGeom>
          </p:spPr>
          <p:txBody>
            <a:bodyPr lIns="50800" tIns="50800" rIns="50800" bIns="50800" rtlCol="0" anchor="ctr"/>
            <a:lstStyle/>
            <a:p>
              <a:pPr algn="ctr">
                <a:lnSpc>
                  <a:spcPts val="3079"/>
                </a:lnSpc>
              </a:pPr>
              <a:endParaRPr/>
            </a:p>
          </p:txBody>
        </p:sp>
      </p:grpSp>
      <p:sp>
        <p:nvSpPr>
          <p:cNvPr id="8" name="Freeform 8"/>
          <p:cNvSpPr/>
          <p:nvPr/>
        </p:nvSpPr>
        <p:spPr>
          <a:xfrm>
            <a:off x="16872103" y="188695"/>
            <a:ext cx="1156433" cy="1302244"/>
          </a:xfrm>
          <a:custGeom>
            <a:avLst/>
            <a:gdLst/>
            <a:ahLst/>
            <a:cxnLst/>
            <a:rect l="l" t="t" r="r" b="b"/>
            <a:pathLst>
              <a:path w="1156433" h="1302244">
                <a:moveTo>
                  <a:pt x="0" y="0"/>
                </a:moveTo>
                <a:lnTo>
                  <a:pt x="1156433" y="0"/>
                </a:lnTo>
                <a:lnTo>
                  <a:pt x="1156433" y="1302244"/>
                </a:lnTo>
                <a:lnTo>
                  <a:pt x="0" y="1302244"/>
                </a:lnTo>
                <a:lnTo>
                  <a:pt x="0" y="0"/>
                </a:lnTo>
                <a:close/>
              </a:path>
            </a:pathLst>
          </a:custGeom>
          <a:blipFill>
            <a:blip r:embed="rId2"/>
            <a:stretch>
              <a:fillRect/>
            </a:stretch>
          </a:blipFill>
        </p:spPr>
      </p:sp>
      <p:sp>
        <p:nvSpPr>
          <p:cNvPr id="9" name="Freeform 9"/>
          <p:cNvSpPr/>
          <p:nvPr/>
        </p:nvSpPr>
        <p:spPr>
          <a:xfrm>
            <a:off x="4191000" y="3778458"/>
            <a:ext cx="6920438" cy="3268379"/>
          </a:xfrm>
          <a:custGeom>
            <a:avLst/>
            <a:gdLst/>
            <a:ahLst/>
            <a:cxnLst/>
            <a:rect l="l" t="t" r="r" b="b"/>
            <a:pathLst>
              <a:path w="6920438" h="3268379">
                <a:moveTo>
                  <a:pt x="0" y="0"/>
                </a:moveTo>
                <a:lnTo>
                  <a:pt x="6920438" y="0"/>
                </a:lnTo>
                <a:lnTo>
                  <a:pt x="6920438" y="3268379"/>
                </a:lnTo>
                <a:lnTo>
                  <a:pt x="0" y="3268379"/>
                </a:lnTo>
                <a:lnTo>
                  <a:pt x="0" y="0"/>
                </a:lnTo>
                <a:close/>
              </a:path>
            </a:pathLst>
          </a:custGeom>
          <a:blipFill>
            <a:blip r:embed="rId3"/>
            <a:stretch>
              <a:fillRect/>
            </a:stretch>
          </a:blipFill>
        </p:spPr>
      </p:sp>
      <p:sp>
        <p:nvSpPr>
          <p:cNvPr id="11" name="TextBox 11"/>
          <p:cNvSpPr txBox="1"/>
          <p:nvPr/>
        </p:nvSpPr>
        <p:spPr>
          <a:xfrm>
            <a:off x="16610134" y="9518480"/>
            <a:ext cx="598073" cy="311277"/>
          </a:xfrm>
          <a:prstGeom prst="rect">
            <a:avLst/>
          </a:prstGeom>
        </p:spPr>
        <p:txBody>
          <a:bodyPr lIns="0" tIns="0" rIns="0" bIns="0" rtlCol="0" anchor="t">
            <a:spAutoFit/>
          </a:bodyPr>
          <a:lstStyle/>
          <a:p>
            <a:pPr algn="ctr">
              <a:lnSpc>
                <a:spcPts val="2304"/>
              </a:lnSpc>
            </a:pPr>
            <a:r>
              <a:rPr lang="en-US" sz="2400">
                <a:solidFill>
                  <a:srgbClr val="283728"/>
                </a:solidFill>
                <a:latin typeface="Adirek Sans Bold"/>
                <a:ea typeface="Adirek Sans Bold"/>
                <a:cs typeface="Adirek Sans Bold"/>
                <a:sym typeface="Adirek Sans Bold"/>
              </a:rPr>
              <a:t>2024</a:t>
            </a:r>
          </a:p>
        </p:txBody>
      </p:sp>
      <p:sp>
        <p:nvSpPr>
          <p:cNvPr id="12" name="TextBox 12"/>
          <p:cNvSpPr txBox="1"/>
          <p:nvPr/>
        </p:nvSpPr>
        <p:spPr>
          <a:xfrm>
            <a:off x="201093" y="960220"/>
            <a:ext cx="9949740" cy="978577"/>
          </a:xfrm>
          <a:prstGeom prst="rect">
            <a:avLst/>
          </a:prstGeom>
        </p:spPr>
        <p:txBody>
          <a:bodyPr lIns="0" tIns="0" rIns="0" bIns="0" rtlCol="0" anchor="t">
            <a:spAutoFit/>
          </a:bodyPr>
          <a:lstStyle/>
          <a:p>
            <a:pPr algn="l">
              <a:lnSpc>
                <a:spcPts val="5771"/>
              </a:lnSpc>
            </a:pPr>
            <a:r>
              <a:rPr lang="en-US" sz="11543">
                <a:solidFill>
                  <a:srgbClr val="283728"/>
                </a:solidFill>
                <a:latin typeface="Adirek Sans Heavy"/>
                <a:ea typeface="Adirek Sans Heavy"/>
                <a:cs typeface="Adirek Sans Heavy"/>
                <a:sym typeface="Adirek Sans Heavy"/>
              </a:rPr>
              <a:t>TINJAUAN TEORI</a:t>
            </a:r>
          </a:p>
        </p:txBody>
      </p:sp>
      <p:sp>
        <p:nvSpPr>
          <p:cNvPr id="13" name="TextBox 13"/>
          <p:cNvSpPr txBox="1"/>
          <p:nvPr/>
        </p:nvSpPr>
        <p:spPr>
          <a:xfrm>
            <a:off x="201093" y="2146359"/>
            <a:ext cx="16049569" cy="593725"/>
          </a:xfrm>
          <a:prstGeom prst="rect">
            <a:avLst/>
          </a:prstGeom>
        </p:spPr>
        <p:txBody>
          <a:bodyPr lIns="0" tIns="0" rIns="0" bIns="0" rtlCol="0" anchor="t">
            <a:spAutoFit/>
          </a:bodyPr>
          <a:lstStyle/>
          <a:p>
            <a:pPr algn="l">
              <a:lnSpc>
                <a:spcPts val="3499"/>
              </a:lnSpc>
            </a:pPr>
            <a:r>
              <a:rPr lang="en-US" sz="6999">
                <a:solidFill>
                  <a:srgbClr val="283728"/>
                </a:solidFill>
                <a:latin typeface="Adirek Sans Heavy"/>
                <a:ea typeface="Adirek Sans Heavy"/>
                <a:cs typeface="Adirek Sans Heavy"/>
                <a:sym typeface="Adirek Sans Heavy"/>
              </a:rPr>
              <a:t>REGULARIZED SINGULAR VALUE DECOMPOSITION </a:t>
            </a:r>
          </a:p>
        </p:txBody>
      </p:sp>
      <p:sp>
        <p:nvSpPr>
          <p:cNvPr id="14" name="TextBox 14"/>
          <p:cNvSpPr txBox="1"/>
          <p:nvPr/>
        </p:nvSpPr>
        <p:spPr>
          <a:xfrm>
            <a:off x="230278" y="2911858"/>
            <a:ext cx="17827443" cy="571501"/>
          </a:xfrm>
          <a:prstGeom prst="rect">
            <a:avLst/>
          </a:prstGeom>
        </p:spPr>
        <p:txBody>
          <a:bodyPr lIns="0" tIns="0" rIns="0" bIns="0" rtlCol="0" anchor="t">
            <a:spAutoFit/>
          </a:bodyPr>
          <a:lstStyle/>
          <a:p>
            <a:pPr algn="just">
              <a:lnSpc>
                <a:spcPts val="4799"/>
              </a:lnSpc>
            </a:pPr>
            <a:r>
              <a:rPr lang="en-US" sz="2999">
                <a:solidFill>
                  <a:srgbClr val="FAF2EA"/>
                </a:solidFill>
                <a:latin typeface="Roboto"/>
                <a:ea typeface="Roboto"/>
                <a:cs typeface="Roboto"/>
                <a:sym typeface="Roboto"/>
              </a:rPr>
              <a:t>Turunan parsial dari matriks U, V dan Σ dirumuskan dengan </a:t>
            </a:r>
          </a:p>
        </p:txBody>
      </p:sp>
      <p:sp>
        <p:nvSpPr>
          <p:cNvPr id="15" name="TextBox 15"/>
          <p:cNvSpPr txBox="1"/>
          <p:nvPr/>
        </p:nvSpPr>
        <p:spPr>
          <a:xfrm>
            <a:off x="230278" y="7486649"/>
            <a:ext cx="9920554" cy="1771651"/>
          </a:xfrm>
          <a:prstGeom prst="rect">
            <a:avLst/>
          </a:prstGeom>
        </p:spPr>
        <p:txBody>
          <a:bodyPr lIns="0" tIns="0" rIns="0" bIns="0" rtlCol="0" anchor="t">
            <a:spAutoFit/>
          </a:bodyPr>
          <a:lstStyle/>
          <a:p>
            <a:pPr algn="just">
              <a:lnSpc>
                <a:spcPts val="4799"/>
              </a:lnSpc>
            </a:pPr>
            <a:r>
              <a:rPr lang="en-US" sz="2999">
                <a:solidFill>
                  <a:srgbClr val="FAF2EA"/>
                </a:solidFill>
                <a:latin typeface="Roboto"/>
                <a:ea typeface="Roboto"/>
                <a:cs typeface="Roboto"/>
                <a:sym typeface="Roboto"/>
              </a:rPr>
              <a:t>Bagian pertama adalah gradien dari loss rekonstruksi dan bagian kedua adalah gradien penalti regularisasi. Iterasi ini terus dilakukan hingga mencapai konvergensi</a:t>
            </a:r>
          </a:p>
        </p:txBody>
      </p:sp>
      <p:pic>
        <p:nvPicPr>
          <p:cNvPr id="17" name="Picture 16">
            <a:extLst>
              <a:ext uri="{FF2B5EF4-FFF2-40B4-BE49-F238E27FC236}">
                <a16:creationId xmlns:a16="http://schemas.microsoft.com/office/drawing/2014/main" id="{33E215DE-6526-09F5-4D16-7285E751C1E5}"/>
              </a:ext>
            </a:extLst>
          </p:cNvPr>
          <p:cNvPicPr>
            <a:picLocks noChangeAspect="1"/>
          </p:cNvPicPr>
          <p:nvPr/>
        </p:nvPicPr>
        <p:blipFill>
          <a:blip r:embed="rId4"/>
          <a:stretch>
            <a:fillRect/>
          </a:stretch>
        </p:blipFill>
        <p:spPr>
          <a:xfrm>
            <a:off x="11239498" y="3776906"/>
            <a:ext cx="6920438" cy="3416196"/>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AF2EA"/>
        </a:solidFill>
        <a:effectLst/>
      </p:bgPr>
    </p:bg>
    <p:spTree>
      <p:nvGrpSpPr>
        <p:cNvPr id="1" name=""/>
        <p:cNvGrpSpPr/>
        <p:nvPr/>
      </p:nvGrpSpPr>
      <p:grpSpPr>
        <a:xfrm>
          <a:off x="0" y="0"/>
          <a:ext cx="0" cy="0"/>
          <a:chOff x="0" y="0"/>
          <a:chExt cx="0" cy="0"/>
        </a:xfrm>
      </p:grpSpPr>
      <p:grpSp>
        <p:nvGrpSpPr>
          <p:cNvPr id="2" name="Group 2"/>
          <p:cNvGrpSpPr/>
          <p:nvPr/>
        </p:nvGrpSpPr>
        <p:grpSpPr>
          <a:xfrm>
            <a:off x="0" y="2705100"/>
            <a:ext cx="18288000" cy="7546916"/>
            <a:chOff x="0" y="0"/>
            <a:chExt cx="4816593" cy="1987665"/>
          </a:xfrm>
        </p:grpSpPr>
        <p:sp>
          <p:nvSpPr>
            <p:cNvPr id="3" name="Freeform 3"/>
            <p:cNvSpPr/>
            <p:nvPr/>
          </p:nvSpPr>
          <p:spPr>
            <a:xfrm>
              <a:off x="0" y="0"/>
              <a:ext cx="4816592" cy="1987665"/>
            </a:xfrm>
            <a:custGeom>
              <a:avLst/>
              <a:gdLst/>
              <a:ahLst/>
              <a:cxnLst/>
              <a:rect l="l" t="t" r="r" b="b"/>
              <a:pathLst>
                <a:path w="4816592" h="1987665">
                  <a:moveTo>
                    <a:pt x="0" y="0"/>
                  </a:moveTo>
                  <a:lnTo>
                    <a:pt x="4816592" y="0"/>
                  </a:lnTo>
                  <a:lnTo>
                    <a:pt x="4816592" y="1987665"/>
                  </a:lnTo>
                  <a:lnTo>
                    <a:pt x="0" y="1987665"/>
                  </a:lnTo>
                  <a:close/>
                </a:path>
              </a:pathLst>
            </a:custGeom>
            <a:solidFill>
              <a:srgbClr val="283728"/>
            </a:solidFill>
          </p:spPr>
        </p:sp>
        <p:sp>
          <p:nvSpPr>
            <p:cNvPr id="4" name="TextBox 4"/>
            <p:cNvSpPr txBox="1"/>
            <p:nvPr/>
          </p:nvSpPr>
          <p:spPr>
            <a:xfrm>
              <a:off x="0" y="-47625"/>
              <a:ext cx="4816593" cy="2035290"/>
            </a:xfrm>
            <a:prstGeom prst="rect">
              <a:avLst/>
            </a:prstGeom>
          </p:spPr>
          <p:txBody>
            <a:bodyPr lIns="50800" tIns="50800" rIns="50800" bIns="50800" rtlCol="0" anchor="ctr"/>
            <a:lstStyle/>
            <a:p>
              <a:pPr algn="ctr">
                <a:lnSpc>
                  <a:spcPts val="3079"/>
                </a:lnSpc>
              </a:pPr>
              <a:endParaRPr/>
            </a:p>
          </p:txBody>
        </p:sp>
      </p:grpSp>
      <p:grpSp>
        <p:nvGrpSpPr>
          <p:cNvPr id="5" name="Group 5"/>
          <p:cNvGrpSpPr/>
          <p:nvPr/>
        </p:nvGrpSpPr>
        <p:grpSpPr>
          <a:xfrm>
            <a:off x="16610134" y="0"/>
            <a:ext cx="1677866" cy="1679634"/>
            <a:chOff x="0" y="0"/>
            <a:chExt cx="568780" cy="569379"/>
          </a:xfrm>
        </p:grpSpPr>
        <p:sp>
          <p:nvSpPr>
            <p:cNvPr id="6" name="Freeform 6"/>
            <p:cNvSpPr/>
            <p:nvPr/>
          </p:nvSpPr>
          <p:spPr>
            <a:xfrm>
              <a:off x="0" y="0"/>
              <a:ext cx="568780" cy="569379"/>
            </a:xfrm>
            <a:custGeom>
              <a:avLst/>
              <a:gdLst/>
              <a:ahLst/>
              <a:cxnLst/>
              <a:rect l="l" t="t" r="r" b="b"/>
              <a:pathLst>
                <a:path w="568780" h="569379">
                  <a:moveTo>
                    <a:pt x="0" y="0"/>
                  </a:moveTo>
                  <a:lnTo>
                    <a:pt x="568780" y="0"/>
                  </a:lnTo>
                  <a:lnTo>
                    <a:pt x="568780" y="569379"/>
                  </a:lnTo>
                  <a:lnTo>
                    <a:pt x="0" y="569379"/>
                  </a:lnTo>
                  <a:close/>
                </a:path>
              </a:pathLst>
            </a:custGeom>
            <a:solidFill>
              <a:srgbClr val="283728"/>
            </a:solidFill>
          </p:spPr>
        </p:sp>
        <p:sp>
          <p:nvSpPr>
            <p:cNvPr id="7" name="TextBox 7"/>
            <p:cNvSpPr txBox="1"/>
            <p:nvPr/>
          </p:nvSpPr>
          <p:spPr>
            <a:xfrm>
              <a:off x="0" y="-47625"/>
              <a:ext cx="568780" cy="617004"/>
            </a:xfrm>
            <a:prstGeom prst="rect">
              <a:avLst/>
            </a:prstGeom>
          </p:spPr>
          <p:txBody>
            <a:bodyPr lIns="50800" tIns="50800" rIns="50800" bIns="50800" rtlCol="0" anchor="ctr"/>
            <a:lstStyle/>
            <a:p>
              <a:pPr algn="ctr">
                <a:lnSpc>
                  <a:spcPts val="3079"/>
                </a:lnSpc>
              </a:pPr>
              <a:endParaRPr/>
            </a:p>
          </p:txBody>
        </p:sp>
      </p:grpSp>
      <p:sp>
        <p:nvSpPr>
          <p:cNvPr id="8" name="Freeform 8"/>
          <p:cNvSpPr/>
          <p:nvPr/>
        </p:nvSpPr>
        <p:spPr>
          <a:xfrm>
            <a:off x="16872103" y="188695"/>
            <a:ext cx="1156433" cy="1302244"/>
          </a:xfrm>
          <a:custGeom>
            <a:avLst/>
            <a:gdLst/>
            <a:ahLst/>
            <a:cxnLst/>
            <a:rect l="l" t="t" r="r" b="b"/>
            <a:pathLst>
              <a:path w="1156433" h="1302244">
                <a:moveTo>
                  <a:pt x="0" y="0"/>
                </a:moveTo>
                <a:lnTo>
                  <a:pt x="1156433" y="0"/>
                </a:lnTo>
                <a:lnTo>
                  <a:pt x="1156433" y="1302244"/>
                </a:lnTo>
                <a:lnTo>
                  <a:pt x="0" y="1302244"/>
                </a:lnTo>
                <a:lnTo>
                  <a:pt x="0" y="0"/>
                </a:lnTo>
                <a:close/>
              </a:path>
            </a:pathLst>
          </a:custGeom>
          <a:blipFill>
            <a:blip r:embed="rId2"/>
            <a:stretch>
              <a:fillRect/>
            </a:stretch>
          </a:blipFill>
        </p:spPr>
      </p:sp>
      <p:sp>
        <p:nvSpPr>
          <p:cNvPr id="10" name="TextBox 10"/>
          <p:cNvSpPr txBox="1"/>
          <p:nvPr/>
        </p:nvSpPr>
        <p:spPr>
          <a:xfrm>
            <a:off x="201093" y="2852565"/>
            <a:ext cx="17827443" cy="1171576"/>
          </a:xfrm>
          <a:prstGeom prst="rect">
            <a:avLst/>
          </a:prstGeom>
        </p:spPr>
        <p:txBody>
          <a:bodyPr lIns="0" tIns="0" rIns="0" bIns="0" rtlCol="0" anchor="t">
            <a:spAutoFit/>
          </a:bodyPr>
          <a:lstStyle/>
          <a:p>
            <a:pPr algn="just">
              <a:lnSpc>
                <a:spcPts val="4799"/>
              </a:lnSpc>
            </a:pPr>
            <a:r>
              <a:rPr lang="en-US" sz="2999">
                <a:solidFill>
                  <a:srgbClr val="FAF2EA"/>
                </a:solidFill>
                <a:latin typeface="Roboto"/>
                <a:ea typeface="Roboto"/>
                <a:cs typeface="Roboto"/>
                <a:sym typeface="Roboto"/>
              </a:rPr>
              <a:t>Mean Squarred Error (MSE) dan Root Mean Squarred Error (RMSE) merupakan dua metrik yang sering digunakan untuk mengukur kinerja sebuah model.</a:t>
            </a:r>
          </a:p>
        </p:txBody>
      </p:sp>
      <p:sp>
        <p:nvSpPr>
          <p:cNvPr id="11" name="TextBox 11"/>
          <p:cNvSpPr txBox="1"/>
          <p:nvPr/>
        </p:nvSpPr>
        <p:spPr>
          <a:xfrm>
            <a:off x="16610134" y="9518480"/>
            <a:ext cx="598073" cy="311277"/>
          </a:xfrm>
          <a:prstGeom prst="rect">
            <a:avLst/>
          </a:prstGeom>
        </p:spPr>
        <p:txBody>
          <a:bodyPr lIns="0" tIns="0" rIns="0" bIns="0" rtlCol="0" anchor="t">
            <a:spAutoFit/>
          </a:bodyPr>
          <a:lstStyle/>
          <a:p>
            <a:pPr algn="ctr">
              <a:lnSpc>
                <a:spcPts val="2304"/>
              </a:lnSpc>
            </a:pPr>
            <a:r>
              <a:rPr lang="en-US" sz="2400">
                <a:solidFill>
                  <a:srgbClr val="283728"/>
                </a:solidFill>
                <a:latin typeface="Adirek Sans Bold"/>
                <a:ea typeface="Adirek Sans Bold"/>
                <a:cs typeface="Adirek Sans Bold"/>
                <a:sym typeface="Adirek Sans Bold"/>
              </a:rPr>
              <a:t>2024</a:t>
            </a:r>
          </a:p>
        </p:txBody>
      </p:sp>
      <p:sp>
        <p:nvSpPr>
          <p:cNvPr id="12" name="TextBox 12"/>
          <p:cNvSpPr txBox="1"/>
          <p:nvPr/>
        </p:nvSpPr>
        <p:spPr>
          <a:xfrm>
            <a:off x="201093" y="960220"/>
            <a:ext cx="9949740" cy="978577"/>
          </a:xfrm>
          <a:prstGeom prst="rect">
            <a:avLst/>
          </a:prstGeom>
        </p:spPr>
        <p:txBody>
          <a:bodyPr lIns="0" tIns="0" rIns="0" bIns="0" rtlCol="0" anchor="t">
            <a:spAutoFit/>
          </a:bodyPr>
          <a:lstStyle/>
          <a:p>
            <a:pPr algn="l">
              <a:lnSpc>
                <a:spcPts val="5771"/>
              </a:lnSpc>
            </a:pPr>
            <a:r>
              <a:rPr lang="en-US" sz="11543">
                <a:solidFill>
                  <a:srgbClr val="283728"/>
                </a:solidFill>
                <a:latin typeface="Adirek Sans Heavy"/>
                <a:ea typeface="Adirek Sans Heavy"/>
                <a:cs typeface="Adirek Sans Heavy"/>
                <a:sym typeface="Adirek Sans Heavy"/>
              </a:rPr>
              <a:t>TINJAUAN TEORI</a:t>
            </a:r>
          </a:p>
        </p:txBody>
      </p:sp>
      <p:sp>
        <p:nvSpPr>
          <p:cNvPr id="13" name="TextBox 13"/>
          <p:cNvSpPr txBox="1"/>
          <p:nvPr/>
        </p:nvSpPr>
        <p:spPr>
          <a:xfrm>
            <a:off x="201093" y="2146359"/>
            <a:ext cx="16049569" cy="593725"/>
          </a:xfrm>
          <a:prstGeom prst="rect">
            <a:avLst/>
          </a:prstGeom>
        </p:spPr>
        <p:txBody>
          <a:bodyPr lIns="0" tIns="0" rIns="0" bIns="0" rtlCol="0" anchor="t">
            <a:spAutoFit/>
          </a:bodyPr>
          <a:lstStyle/>
          <a:p>
            <a:pPr algn="l">
              <a:lnSpc>
                <a:spcPts val="3499"/>
              </a:lnSpc>
            </a:pPr>
            <a:r>
              <a:rPr lang="en-US" sz="6999">
                <a:solidFill>
                  <a:srgbClr val="283728"/>
                </a:solidFill>
                <a:latin typeface="Adirek Sans Bold"/>
                <a:ea typeface="Adirek Sans Bold"/>
                <a:cs typeface="Adirek Sans Bold"/>
                <a:sym typeface="Adirek Sans Bold"/>
              </a:rPr>
              <a:t>MSE &amp; RMSE</a:t>
            </a:r>
          </a:p>
        </p:txBody>
      </p:sp>
      <p:sp>
        <p:nvSpPr>
          <p:cNvPr id="14" name="TextBox 14"/>
          <p:cNvSpPr txBox="1"/>
          <p:nvPr/>
        </p:nvSpPr>
        <p:spPr>
          <a:xfrm>
            <a:off x="11448198" y="4678175"/>
            <a:ext cx="5161936" cy="1230630"/>
          </a:xfrm>
          <a:prstGeom prst="rect">
            <a:avLst/>
          </a:prstGeom>
        </p:spPr>
        <p:txBody>
          <a:bodyPr lIns="0" tIns="0" rIns="0" bIns="0" rtlCol="0" anchor="t">
            <a:spAutoFit/>
          </a:bodyPr>
          <a:lstStyle/>
          <a:p>
            <a:pPr algn="l">
              <a:lnSpc>
                <a:spcPts val="3209"/>
              </a:lnSpc>
            </a:pPr>
            <a:r>
              <a:rPr lang="en-US" sz="2999" dirty="0">
                <a:solidFill>
                  <a:srgbClr val="FAF2EA"/>
                </a:solidFill>
                <a:latin typeface="Roboto"/>
                <a:ea typeface="Roboto"/>
                <a:cs typeface="Roboto"/>
                <a:sym typeface="Roboto"/>
              </a:rPr>
              <a:t>n = jumlah data</a:t>
            </a:r>
          </a:p>
          <a:p>
            <a:pPr algn="l">
              <a:lnSpc>
                <a:spcPts val="3209"/>
              </a:lnSpc>
            </a:pPr>
            <a:r>
              <a:rPr lang="en-US" sz="2999" dirty="0" err="1">
                <a:solidFill>
                  <a:srgbClr val="FAF2EA"/>
                </a:solidFill>
                <a:latin typeface="Roboto"/>
                <a:ea typeface="Roboto"/>
                <a:cs typeface="Roboto"/>
                <a:sym typeface="Roboto"/>
              </a:rPr>
              <a:t>y</a:t>
            </a:r>
            <a:r>
              <a:rPr lang="en-US" sz="2999" baseline="-25000" dirty="0" err="1">
                <a:solidFill>
                  <a:srgbClr val="FAF2EA"/>
                </a:solidFill>
                <a:latin typeface="Roboto"/>
                <a:ea typeface="Roboto"/>
                <a:cs typeface="Roboto"/>
                <a:sym typeface="Roboto"/>
              </a:rPr>
              <a:t>i</a:t>
            </a:r>
            <a:r>
              <a:rPr lang="en-US" sz="2999" dirty="0">
                <a:solidFill>
                  <a:srgbClr val="FAF2EA"/>
                </a:solidFill>
                <a:latin typeface="Roboto"/>
                <a:ea typeface="Roboto"/>
                <a:cs typeface="Roboto"/>
                <a:sym typeface="Roboto"/>
              </a:rPr>
              <a:t> = data </a:t>
            </a:r>
            <a:r>
              <a:rPr lang="en-US" sz="2999" dirty="0" err="1">
                <a:solidFill>
                  <a:srgbClr val="FAF2EA"/>
                </a:solidFill>
                <a:latin typeface="Roboto"/>
                <a:ea typeface="Roboto"/>
                <a:cs typeface="Roboto"/>
                <a:sym typeface="Roboto"/>
              </a:rPr>
              <a:t>asli</a:t>
            </a:r>
            <a:r>
              <a:rPr lang="en-US" sz="2999" dirty="0">
                <a:solidFill>
                  <a:srgbClr val="FAF2EA"/>
                </a:solidFill>
                <a:latin typeface="Roboto"/>
                <a:ea typeface="Roboto"/>
                <a:cs typeface="Roboto"/>
                <a:sym typeface="Roboto"/>
              </a:rPr>
              <a:t> ke-</a:t>
            </a:r>
            <a:r>
              <a:rPr lang="en-US" sz="2999" dirty="0" err="1">
                <a:solidFill>
                  <a:srgbClr val="FAF2EA"/>
                </a:solidFill>
                <a:latin typeface="Roboto"/>
                <a:ea typeface="Roboto"/>
                <a:cs typeface="Roboto"/>
                <a:sym typeface="Roboto"/>
              </a:rPr>
              <a:t>i</a:t>
            </a:r>
            <a:endParaRPr lang="en-US" sz="2999" dirty="0">
              <a:solidFill>
                <a:srgbClr val="FAF2EA"/>
              </a:solidFill>
              <a:latin typeface="Roboto"/>
              <a:ea typeface="Roboto"/>
              <a:cs typeface="Roboto"/>
              <a:sym typeface="Roboto"/>
            </a:endParaRPr>
          </a:p>
          <a:p>
            <a:pPr algn="l">
              <a:lnSpc>
                <a:spcPts val="3209"/>
              </a:lnSpc>
            </a:pPr>
            <a:r>
              <a:rPr lang="en-US" sz="2999" dirty="0" err="1">
                <a:solidFill>
                  <a:srgbClr val="FAF2EA"/>
                </a:solidFill>
                <a:latin typeface="Roboto"/>
                <a:ea typeface="Roboto"/>
                <a:cs typeface="Roboto"/>
                <a:sym typeface="Roboto"/>
              </a:rPr>
              <a:t>ŷ</a:t>
            </a:r>
            <a:r>
              <a:rPr lang="en-US" sz="2999" baseline="-25000" dirty="0" err="1">
                <a:solidFill>
                  <a:srgbClr val="FAF2EA"/>
                </a:solidFill>
                <a:latin typeface="Roboto"/>
                <a:ea typeface="Roboto"/>
                <a:cs typeface="Roboto"/>
                <a:sym typeface="Roboto"/>
              </a:rPr>
              <a:t>i</a:t>
            </a:r>
            <a:r>
              <a:rPr lang="en-US" sz="2999" dirty="0">
                <a:solidFill>
                  <a:srgbClr val="FAF2EA"/>
                </a:solidFill>
                <a:latin typeface="Roboto"/>
                <a:ea typeface="Roboto"/>
                <a:cs typeface="Roboto"/>
                <a:sym typeface="Roboto"/>
              </a:rPr>
              <a:t> = data </a:t>
            </a:r>
            <a:r>
              <a:rPr lang="en-US" sz="2999" dirty="0" err="1">
                <a:solidFill>
                  <a:srgbClr val="FAF2EA"/>
                </a:solidFill>
                <a:latin typeface="Roboto"/>
                <a:ea typeface="Roboto"/>
                <a:cs typeface="Roboto"/>
                <a:sym typeface="Roboto"/>
              </a:rPr>
              <a:t>prediksi</a:t>
            </a:r>
            <a:r>
              <a:rPr lang="en-US" sz="2999" dirty="0">
                <a:solidFill>
                  <a:srgbClr val="FAF2EA"/>
                </a:solidFill>
                <a:latin typeface="Roboto"/>
                <a:ea typeface="Roboto"/>
                <a:cs typeface="Roboto"/>
                <a:sym typeface="Roboto"/>
              </a:rPr>
              <a:t> ke-</a:t>
            </a:r>
            <a:r>
              <a:rPr lang="en-US" sz="2999" dirty="0" err="1">
                <a:solidFill>
                  <a:srgbClr val="FAF2EA"/>
                </a:solidFill>
                <a:latin typeface="Roboto"/>
                <a:ea typeface="Roboto"/>
                <a:cs typeface="Roboto"/>
                <a:sym typeface="Roboto"/>
              </a:rPr>
              <a:t>i</a:t>
            </a:r>
            <a:endParaRPr lang="en-US" sz="2999" dirty="0">
              <a:solidFill>
                <a:srgbClr val="FAF2EA"/>
              </a:solidFill>
              <a:latin typeface="Roboto"/>
              <a:ea typeface="Roboto"/>
              <a:cs typeface="Roboto"/>
              <a:sym typeface="Roboto"/>
            </a:endParaRPr>
          </a:p>
        </p:txBody>
      </p:sp>
      <p:sp>
        <p:nvSpPr>
          <p:cNvPr id="15" name="TextBox 15"/>
          <p:cNvSpPr txBox="1"/>
          <p:nvPr/>
        </p:nvSpPr>
        <p:spPr>
          <a:xfrm>
            <a:off x="230278" y="6421617"/>
            <a:ext cx="17827443" cy="1771651"/>
          </a:xfrm>
          <a:prstGeom prst="rect">
            <a:avLst/>
          </a:prstGeom>
        </p:spPr>
        <p:txBody>
          <a:bodyPr lIns="0" tIns="0" rIns="0" bIns="0" rtlCol="0" anchor="t">
            <a:spAutoFit/>
          </a:bodyPr>
          <a:lstStyle/>
          <a:p>
            <a:pPr algn="just">
              <a:lnSpc>
                <a:spcPts val="4799"/>
              </a:lnSpc>
            </a:pPr>
            <a:r>
              <a:rPr lang="en-US" sz="2999">
                <a:solidFill>
                  <a:srgbClr val="FAF2EA"/>
                </a:solidFill>
                <a:latin typeface="Roboto"/>
                <a:ea typeface="Roboto"/>
                <a:cs typeface="Roboto"/>
                <a:sym typeface="Roboto"/>
              </a:rPr>
              <a:t>MSE memberikan penilaian untuk besar kesalahan prediksi model dalam satuan kuadrat, sedangkan RMSE memberikan penilaian dalam satuan yang sama dengan variabel yang diprediksi. Nilai MSE dan RMSE yang rendah menunjukkan kinerja model yang bagus dalam memprediksi data</a:t>
            </a:r>
          </a:p>
        </p:txBody>
      </p:sp>
      <p:pic>
        <p:nvPicPr>
          <p:cNvPr id="17" name="Picture 16">
            <a:extLst>
              <a:ext uri="{FF2B5EF4-FFF2-40B4-BE49-F238E27FC236}">
                <a16:creationId xmlns:a16="http://schemas.microsoft.com/office/drawing/2014/main" id="{C5A0C85F-8AA9-A083-F5D7-3A3E5C5B37D9}"/>
              </a:ext>
            </a:extLst>
          </p:cNvPr>
          <p:cNvPicPr>
            <a:picLocks noChangeAspect="1"/>
          </p:cNvPicPr>
          <p:nvPr/>
        </p:nvPicPr>
        <p:blipFill>
          <a:blip r:embed="rId3"/>
          <a:stretch>
            <a:fillRect/>
          </a:stretch>
        </p:blipFill>
        <p:spPr>
          <a:xfrm>
            <a:off x="6934200" y="4359383"/>
            <a:ext cx="4114800" cy="1868214"/>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AF2EA"/>
        </a:solidFill>
        <a:effectLst/>
      </p:bgPr>
    </p:bg>
    <p:spTree>
      <p:nvGrpSpPr>
        <p:cNvPr id="1" name=""/>
        <p:cNvGrpSpPr/>
        <p:nvPr/>
      </p:nvGrpSpPr>
      <p:grpSpPr>
        <a:xfrm>
          <a:off x="0" y="0"/>
          <a:ext cx="0" cy="0"/>
          <a:chOff x="0" y="0"/>
          <a:chExt cx="0" cy="0"/>
        </a:xfrm>
      </p:grpSpPr>
      <p:grpSp>
        <p:nvGrpSpPr>
          <p:cNvPr id="2" name="Group 2"/>
          <p:cNvGrpSpPr/>
          <p:nvPr/>
        </p:nvGrpSpPr>
        <p:grpSpPr>
          <a:xfrm>
            <a:off x="0" y="2740084"/>
            <a:ext cx="18288000" cy="7546916"/>
            <a:chOff x="0" y="0"/>
            <a:chExt cx="4816593" cy="1987665"/>
          </a:xfrm>
        </p:grpSpPr>
        <p:sp>
          <p:nvSpPr>
            <p:cNvPr id="3" name="Freeform 3"/>
            <p:cNvSpPr/>
            <p:nvPr/>
          </p:nvSpPr>
          <p:spPr>
            <a:xfrm>
              <a:off x="0" y="0"/>
              <a:ext cx="4816592" cy="1987665"/>
            </a:xfrm>
            <a:custGeom>
              <a:avLst/>
              <a:gdLst/>
              <a:ahLst/>
              <a:cxnLst/>
              <a:rect l="l" t="t" r="r" b="b"/>
              <a:pathLst>
                <a:path w="4816592" h="1987665">
                  <a:moveTo>
                    <a:pt x="0" y="0"/>
                  </a:moveTo>
                  <a:lnTo>
                    <a:pt x="4816592" y="0"/>
                  </a:lnTo>
                  <a:lnTo>
                    <a:pt x="4816592" y="1987665"/>
                  </a:lnTo>
                  <a:lnTo>
                    <a:pt x="0" y="1987665"/>
                  </a:lnTo>
                  <a:close/>
                </a:path>
              </a:pathLst>
            </a:custGeom>
            <a:solidFill>
              <a:srgbClr val="283728"/>
            </a:solidFill>
          </p:spPr>
        </p:sp>
        <p:sp>
          <p:nvSpPr>
            <p:cNvPr id="4" name="TextBox 4"/>
            <p:cNvSpPr txBox="1"/>
            <p:nvPr/>
          </p:nvSpPr>
          <p:spPr>
            <a:xfrm>
              <a:off x="0" y="-47625"/>
              <a:ext cx="4816593" cy="2035290"/>
            </a:xfrm>
            <a:prstGeom prst="rect">
              <a:avLst/>
            </a:prstGeom>
          </p:spPr>
          <p:txBody>
            <a:bodyPr lIns="50800" tIns="50800" rIns="50800" bIns="50800" rtlCol="0" anchor="ctr"/>
            <a:lstStyle/>
            <a:p>
              <a:pPr algn="ctr">
                <a:lnSpc>
                  <a:spcPts val="3079"/>
                </a:lnSpc>
              </a:pPr>
              <a:endParaRPr/>
            </a:p>
          </p:txBody>
        </p:sp>
      </p:grpSp>
      <p:grpSp>
        <p:nvGrpSpPr>
          <p:cNvPr id="5" name="Group 5"/>
          <p:cNvGrpSpPr/>
          <p:nvPr/>
        </p:nvGrpSpPr>
        <p:grpSpPr>
          <a:xfrm>
            <a:off x="16610134" y="0"/>
            <a:ext cx="1677866" cy="1679634"/>
            <a:chOff x="0" y="0"/>
            <a:chExt cx="568780" cy="569379"/>
          </a:xfrm>
        </p:grpSpPr>
        <p:sp>
          <p:nvSpPr>
            <p:cNvPr id="6" name="Freeform 6"/>
            <p:cNvSpPr/>
            <p:nvPr/>
          </p:nvSpPr>
          <p:spPr>
            <a:xfrm>
              <a:off x="0" y="0"/>
              <a:ext cx="568780" cy="569379"/>
            </a:xfrm>
            <a:custGeom>
              <a:avLst/>
              <a:gdLst/>
              <a:ahLst/>
              <a:cxnLst/>
              <a:rect l="l" t="t" r="r" b="b"/>
              <a:pathLst>
                <a:path w="568780" h="569379">
                  <a:moveTo>
                    <a:pt x="0" y="0"/>
                  </a:moveTo>
                  <a:lnTo>
                    <a:pt x="568780" y="0"/>
                  </a:lnTo>
                  <a:lnTo>
                    <a:pt x="568780" y="569379"/>
                  </a:lnTo>
                  <a:lnTo>
                    <a:pt x="0" y="569379"/>
                  </a:lnTo>
                  <a:close/>
                </a:path>
              </a:pathLst>
            </a:custGeom>
            <a:solidFill>
              <a:srgbClr val="283728"/>
            </a:solidFill>
          </p:spPr>
        </p:sp>
        <p:sp>
          <p:nvSpPr>
            <p:cNvPr id="7" name="TextBox 7"/>
            <p:cNvSpPr txBox="1"/>
            <p:nvPr/>
          </p:nvSpPr>
          <p:spPr>
            <a:xfrm>
              <a:off x="0" y="-47625"/>
              <a:ext cx="568780" cy="617004"/>
            </a:xfrm>
            <a:prstGeom prst="rect">
              <a:avLst/>
            </a:prstGeom>
          </p:spPr>
          <p:txBody>
            <a:bodyPr lIns="50800" tIns="50800" rIns="50800" bIns="50800" rtlCol="0" anchor="ctr"/>
            <a:lstStyle/>
            <a:p>
              <a:pPr algn="ctr">
                <a:lnSpc>
                  <a:spcPts val="3079"/>
                </a:lnSpc>
              </a:pPr>
              <a:endParaRPr/>
            </a:p>
          </p:txBody>
        </p:sp>
      </p:grpSp>
      <p:sp>
        <p:nvSpPr>
          <p:cNvPr id="8" name="Freeform 8"/>
          <p:cNvSpPr/>
          <p:nvPr/>
        </p:nvSpPr>
        <p:spPr>
          <a:xfrm>
            <a:off x="16872103" y="188695"/>
            <a:ext cx="1156433" cy="1302244"/>
          </a:xfrm>
          <a:custGeom>
            <a:avLst/>
            <a:gdLst/>
            <a:ahLst/>
            <a:cxnLst/>
            <a:rect l="l" t="t" r="r" b="b"/>
            <a:pathLst>
              <a:path w="1156433" h="1302244">
                <a:moveTo>
                  <a:pt x="0" y="0"/>
                </a:moveTo>
                <a:lnTo>
                  <a:pt x="1156433" y="0"/>
                </a:lnTo>
                <a:lnTo>
                  <a:pt x="1156433" y="1302244"/>
                </a:lnTo>
                <a:lnTo>
                  <a:pt x="0" y="1302244"/>
                </a:lnTo>
                <a:lnTo>
                  <a:pt x="0" y="0"/>
                </a:lnTo>
                <a:close/>
              </a:path>
            </a:pathLst>
          </a:custGeom>
          <a:blipFill>
            <a:blip r:embed="rId2"/>
            <a:stretch>
              <a:fillRect/>
            </a:stretch>
          </a:blipFill>
        </p:spPr>
      </p:sp>
      <p:sp>
        <p:nvSpPr>
          <p:cNvPr id="9" name="TextBox 9"/>
          <p:cNvSpPr txBox="1"/>
          <p:nvPr/>
        </p:nvSpPr>
        <p:spPr>
          <a:xfrm>
            <a:off x="201093" y="2852565"/>
            <a:ext cx="17827443" cy="5972176"/>
          </a:xfrm>
          <a:prstGeom prst="rect">
            <a:avLst/>
          </a:prstGeom>
        </p:spPr>
        <p:txBody>
          <a:bodyPr lIns="0" tIns="0" rIns="0" bIns="0" rtlCol="0" anchor="t">
            <a:spAutoFit/>
          </a:bodyPr>
          <a:lstStyle/>
          <a:p>
            <a:pPr algn="just">
              <a:lnSpc>
                <a:spcPts val="4799"/>
              </a:lnSpc>
            </a:pPr>
            <a:r>
              <a:rPr lang="en-US" sz="2999">
                <a:solidFill>
                  <a:srgbClr val="FAF2EA"/>
                </a:solidFill>
                <a:latin typeface="Roboto"/>
                <a:ea typeface="Roboto"/>
                <a:cs typeface="Roboto"/>
                <a:sym typeface="Roboto"/>
              </a:rPr>
              <a:t>Pada penelitian ini, penulis membuat sebuah sistem rekomendasi menggunakan autoencoder dan faktorisasi matriks menggunakan singular value decomposition. Tujuan penulis melakukan penelitian ini adalah untuk mengevaluasi performa dari sistem rekomendasi yang menggunakan autoencoder dan faktorisasi matriks dan mengukur seberapa berkurangnya data sparsity setelah metodologi selesai diimplementasikan. Penulis menggunakan autoencoder untuk mengubah data menjadi representasi laten. Setelah itu dilakukan faktorisasi matriks terhadap representasi laten tersebut menggunakan singular value decomposition. Data yang digunakan pada penelitian ini adalah dataset Yahoo! Movies multi-criteria yang berisi data peringkat multi-kriteria yang diberikan oleh pengguna untuk film. Pengujian dilakukan menggunakan mean squared error (MSE) dan root mean squared error (RMSE). Hasil yang didapatkan untuk 100 epoch adalah MAE sebesar 0.3350 dan RMSE sebesar 0.4897.</a:t>
            </a:r>
          </a:p>
        </p:txBody>
      </p:sp>
      <p:sp>
        <p:nvSpPr>
          <p:cNvPr id="10" name="TextBox 10"/>
          <p:cNvSpPr txBox="1"/>
          <p:nvPr/>
        </p:nvSpPr>
        <p:spPr>
          <a:xfrm>
            <a:off x="16610134" y="9518480"/>
            <a:ext cx="598073" cy="311277"/>
          </a:xfrm>
          <a:prstGeom prst="rect">
            <a:avLst/>
          </a:prstGeom>
        </p:spPr>
        <p:txBody>
          <a:bodyPr lIns="0" tIns="0" rIns="0" bIns="0" rtlCol="0" anchor="t">
            <a:spAutoFit/>
          </a:bodyPr>
          <a:lstStyle/>
          <a:p>
            <a:pPr algn="ctr">
              <a:lnSpc>
                <a:spcPts val="2304"/>
              </a:lnSpc>
            </a:pPr>
            <a:r>
              <a:rPr lang="en-US" sz="2400">
                <a:solidFill>
                  <a:srgbClr val="283728"/>
                </a:solidFill>
                <a:latin typeface="Adirek Sans Bold"/>
                <a:ea typeface="Adirek Sans Bold"/>
                <a:cs typeface="Adirek Sans Bold"/>
                <a:sym typeface="Adirek Sans Bold"/>
              </a:rPr>
              <a:t>2024</a:t>
            </a:r>
          </a:p>
        </p:txBody>
      </p:sp>
      <p:sp>
        <p:nvSpPr>
          <p:cNvPr id="11" name="TextBox 11"/>
          <p:cNvSpPr txBox="1"/>
          <p:nvPr/>
        </p:nvSpPr>
        <p:spPr>
          <a:xfrm>
            <a:off x="201093" y="960220"/>
            <a:ext cx="10104821" cy="978577"/>
          </a:xfrm>
          <a:prstGeom prst="rect">
            <a:avLst/>
          </a:prstGeom>
        </p:spPr>
        <p:txBody>
          <a:bodyPr lIns="0" tIns="0" rIns="0" bIns="0" rtlCol="0" anchor="t">
            <a:spAutoFit/>
          </a:bodyPr>
          <a:lstStyle/>
          <a:p>
            <a:pPr algn="l">
              <a:lnSpc>
                <a:spcPts val="5771"/>
              </a:lnSpc>
            </a:pPr>
            <a:r>
              <a:rPr lang="en-US" sz="11543">
                <a:solidFill>
                  <a:srgbClr val="283728"/>
                </a:solidFill>
                <a:latin typeface="Adirek Sans Heavy"/>
                <a:ea typeface="Adirek Sans Heavy"/>
                <a:cs typeface="Adirek Sans Heavy"/>
                <a:sym typeface="Adirek Sans Heavy"/>
              </a:rPr>
              <a:t>TINJAUAN EMPIRIS</a:t>
            </a:r>
          </a:p>
        </p:txBody>
      </p:sp>
      <p:sp>
        <p:nvSpPr>
          <p:cNvPr id="12" name="TextBox 12"/>
          <p:cNvSpPr txBox="1"/>
          <p:nvPr/>
        </p:nvSpPr>
        <p:spPr>
          <a:xfrm>
            <a:off x="201093" y="1603434"/>
            <a:ext cx="16049569" cy="1225550"/>
          </a:xfrm>
          <a:prstGeom prst="rect">
            <a:avLst/>
          </a:prstGeom>
        </p:spPr>
        <p:txBody>
          <a:bodyPr lIns="0" tIns="0" rIns="0" bIns="0" rtlCol="0" anchor="t">
            <a:spAutoFit/>
          </a:bodyPr>
          <a:lstStyle/>
          <a:p>
            <a:pPr algn="l">
              <a:lnSpc>
                <a:spcPts val="4900"/>
              </a:lnSpc>
            </a:pPr>
            <a:r>
              <a:rPr lang="en-US" sz="3500">
                <a:solidFill>
                  <a:srgbClr val="283728"/>
                </a:solidFill>
                <a:latin typeface="Adirek Sans"/>
                <a:ea typeface="Adirek Sans"/>
                <a:cs typeface="Adirek Sans"/>
                <a:sym typeface="Adirek Sans"/>
              </a:rPr>
              <a:t>AN AUTOENCODER-BASED DEEP LEARNING MODEL FOR SOLVING THE SPARSITY ISSUES OF MULTI-CRITERIA RECOMMENDER SYSTEM (RAJPUT ET AL., 2024)</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AF2EA"/>
        </a:solidFill>
        <a:effectLst/>
      </p:bgPr>
    </p:bg>
    <p:spTree>
      <p:nvGrpSpPr>
        <p:cNvPr id="1" name=""/>
        <p:cNvGrpSpPr/>
        <p:nvPr/>
      </p:nvGrpSpPr>
      <p:grpSpPr>
        <a:xfrm>
          <a:off x="0" y="0"/>
          <a:ext cx="0" cy="0"/>
          <a:chOff x="0" y="0"/>
          <a:chExt cx="0" cy="0"/>
        </a:xfrm>
      </p:grpSpPr>
      <p:grpSp>
        <p:nvGrpSpPr>
          <p:cNvPr id="2" name="Group 2"/>
          <p:cNvGrpSpPr/>
          <p:nvPr/>
        </p:nvGrpSpPr>
        <p:grpSpPr>
          <a:xfrm>
            <a:off x="0" y="2740084"/>
            <a:ext cx="18288000" cy="7546916"/>
            <a:chOff x="0" y="0"/>
            <a:chExt cx="4816593" cy="1987665"/>
          </a:xfrm>
        </p:grpSpPr>
        <p:sp>
          <p:nvSpPr>
            <p:cNvPr id="3" name="Freeform 3"/>
            <p:cNvSpPr/>
            <p:nvPr/>
          </p:nvSpPr>
          <p:spPr>
            <a:xfrm>
              <a:off x="0" y="0"/>
              <a:ext cx="4816592" cy="1987665"/>
            </a:xfrm>
            <a:custGeom>
              <a:avLst/>
              <a:gdLst/>
              <a:ahLst/>
              <a:cxnLst/>
              <a:rect l="l" t="t" r="r" b="b"/>
              <a:pathLst>
                <a:path w="4816592" h="1987665">
                  <a:moveTo>
                    <a:pt x="0" y="0"/>
                  </a:moveTo>
                  <a:lnTo>
                    <a:pt x="4816592" y="0"/>
                  </a:lnTo>
                  <a:lnTo>
                    <a:pt x="4816592" y="1987665"/>
                  </a:lnTo>
                  <a:lnTo>
                    <a:pt x="0" y="1987665"/>
                  </a:lnTo>
                  <a:close/>
                </a:path>
              </a:pathLst>
            </a:custGeom>
            <a:solidFill>
              <a:srgbClr val="283728"/>
            </a:solidFill>
          </p:spPr>
        </p:sp>
        <p:sp>
          <p:nvSpPr>
            <p:cNvPr id="4" name="TextBox 4"/>
            <p:cNvSpPr txBox="1"/>
            <p:nvPr/>
          </p:nvSpPr>
          <p:spPr>
            <a:xfrm>
              <a:off x="0" y="-47625"/>
              <a:ext cx="4816593" cy="2035290"/>
            </a:xfrm>
            <a:prstGeom prst="rect">
              <a:avLst/>
            </a:prstGeom>
          </p:spPr>
          <p:txBody>
            <a:bodyPr lIns="50800" tIns="50800" rIns="50800" bIns="50800" rtlCol="0" anchor="ctr"/>
            <a:lstStyle/>
            <a:p>
              <a:pPr algn="ctr">
                <a:lnSpc>
                  <a:spcPts val="3079"/>
                </a:lnSpc>
              </a:pPr>
              <a:endParaRPr/>
            </a:p>
          </p:txBody>
        </p:sp>
      </p:grpSp>
      <p:grpSp>
        <p:nvGrpSpPr>
          <p:cNvPr id="5" name="Group 5"/>
          <p:cNvGrpSpPr/>
          <p:nvPr/>
        </p:nvGrpSpPr>
        <p:grpSpPr>
          <a:xfrm>
            <a:off x="16610134" y="0"/>
            <a:ext cx="1677866" cy="1679634"/>
            <a:chOff x="0" y="0"/>
            <a:chExt cx="568780" cy="569379"/>
          </a:xfrm>
        </p:grpSpPr>
        <p:sp>
          <p:nvSpPr>
            <p:cNvPr id="6" name="Freeform 6"/>
            <p:cNvSpPr/>
            <p:nvPr/>
          </p:nvSpPr>
          <p:spPr>
            <a:xfrm>
              <a:off x="0" y="0"/>
              <a:ext cx="568780" cy="569379"/>
            </a:xfrm>
            <a:custGeom>
              <a:avLst/>
              <a:gdLst/>
              <a:ahLst/>
              <a:cxnLst/>
              <a:rect l="l" t="t" r="r" b="b"/>
              <a:pathLst>
                <a:path w="568780" h="569379">
                  <a:moveTo>
                    <a:pt x="0" y="0"/>
                  </a:moveTo>
                  <a:lnTo>
                    <a:pt x="568780" y="0"/>
                  </a:lnTo>
                  <a:lnTo>
                    <a:pt x="568780" y="569379"/>
                  </a:lnTo>
                  <a:lnTo>
                    <a:pt x="0" y="569379"/>
                  </a:lnTo>
                  <a:close/>
                </a:path>
              </a:pathLst>
            </a:custGeom>
            <a:solidFill>
              <a:srgbClr val="283728"/>
            </a:solidFill>
          </p:spPr>
        </p:sp>
        <p:sp>
          <p:nvSpPr>
            <p:cNvPr id="7" name="TextBox 7"/>
            <p:cNvSpPr txBox="1"/>
            <p:nvPr/>
          </p:nvSpPr>
          <p:spPr>
            <a:xfrm>
              <a:off x="0" y="-47625"/>
              <a:ext cx="568780" cy="617004"/>
            </a:xfrm>
            <a:prstGeom prst="rect">
              <a:avLst/>
            </a:prstGeom>
          </p:spPr>
          <p:txBody>
            <a:bodyPr lIns="50800" tIns="50800" rIns="50800" bIns="50800" rtlCol="0" anchor="ctr"/>
            <a:lstStyle/>
            <a:p>
              <a:pPr algn="ctr">
                <a:lnSpc>
                  <a:spcPts val="3079"/>
                </a:lnSpc>
              </a:pPr>
              <a:endParaRPr/>
            </a:p>
          </p:txBody>
        </p:sp>
      </p:grpSp>
      <p:sp>
        <p:nvSpPr>
          <p:cNvPr id="8" name="Freeform 8"/>
          <p:cNvSpPr/>
          <p:nvPr/>
        </p:nvSpPr>
        <p:spPr>
          <a:xfrm>
            <a:off x="16872103" y="188695"/>
            <a:ext cx="1156433" cy="1302244"/>
          </a:xfrm>
          <a:custGeom>
            <a:avLst/>
            <a:gdLst/>
            <a:ahLst/>
            <a:cxnLst/>
            <a:rect l="l" t="t" r="r" b="b"/>
            <a:pathLst>
              <a:path w="1156433" h="1302244">
                <a:moveTo>
                  <a:pt x="0" y="0"/>
                </a:moveTo>
                <a:lnTo>
                  <a:pt x="1156433" y="0"/>
                </a:lnTo>
                <a:lnTo>
                  <a:pt x="1156433" y="1302244"/>
                </a:lnTo>
                <a:lnTo>
                  <a:pt x="0" y="1302244"/>
                </a:lnTo>
                <a:lnTo>
                  <a:pt x="0" y="0"/>
                </a:lnTo>
                <a:close/>
              </a:path>
            </a:pathLst>
          </a:custGeom>
          <a:blipFill>
            <a:blip r:embed="rId2"/>
            <a:stretch>
              <a:fillRect/>
            </a:stretch>
          </a:blipFill>
        </p:spPr>
      </p:sp>
      <p:sp>
        <p:nvSpPr>
          <p:cNvPr id="9" name="TextBox 9"/>
          <p:cNvSpPr txBox="1"/>
          <p:nvPr/>
        </p:nvSpPr>
        <p:spPr>
          <a:xfrm>
            <a:off x="201093" y="2852565"/>
            <a:ext cx="17827443" cy="4772026"/>
          </a:xfrm>
          <a:prstGeom prst="rect">
            <a:avLst/>
          </a:prstGeom>
        </p:spPr>
        <p:txBody>
          <a:bodyPr lIns="0" tIns="0" rIns="0" bIns="0" rtlCol="0" anchor="t">
            <a:spAutoFit/>
          </a:bodyPr>
          <a:lstStyle/>
          <a:p>
            <a:pPr algn="just">
              <a:lnSpc>
                <a:spcPts val="4799"/>
              </a:lnSpc>
            </a:pPr>
            <a:r>
              <a:rPr lang="en-US" sz="2999">
                <a:solidFill>
                  <a:srgbClr val="FAF2EA"/>
                </a:solidFill>
                <a:latin typeface="Roboto"/>
                <a:ea typeface="Roboto"/>
                <a:cs typeface="Roboto"/>
                <a:sym typeface="Roboto"/>
              </a:rPr>
              <a:t>Pada penelitian ini, penulis membangun sebuah sistem rekomendasi untuk pemilihan suku cadang. Metode sistem rekomendasi yang digunakan oleh penulis adalah item-based collaborative filtering dengan faktorisasi matriks menggunakan singular value decomposition. Data yang digunakan pada penelitian ini adalah data rating yang diberikan oleh pengguna untuk item dengan rentang nilai rating dari 1 sampai 5. SVD digunakan untuk mendekomposisi matriks rating dan mereduksi dimensinya untuk mengurangi efek “noise” dari data dengan sparsity tinggi. Pengujian dilakukan menggunakan mean squared error (MSE), root mean squared error (RMSE), dan fraction of concordant pairs (FCP). Hasil yang didapatkan adalah MAE sebesar 1.2752, RMSE sebesar 1.4882, dan FCP sebesar 0.4947.</a:t>
            </a:r>
          </a:p>
        </p:txBody>
      </p:sp>
      <p:sp>
        <p:nvSpPr>
          <p:cNvPr id="10" name="TextBox 10"/>
          <p:cNvSpPr txBox="1"/>
          <p:nvPr/>
        </p:nvSpPr>
        <p:spPr>
          <a:xfrm>
            <a:off x="16610134" y="9518480"/>
            <a:ext cx="598073" cy="311277"/>
          </a:xfrm>
          <a:prstGeom prst="rect">
            <a:avLst/>
          </a:prstGeom>
        </p:spPr>
        <p:txBody>
          <a:bodyPr lIns="0" tIns="0" rIns="0" bIns="0" rtlCol="0" anchor="t">
            <a:spAutoFit/>
          </a:bodyPr>
          <a:lstStyle/>
          <a:p>
            <a:pPr algn="ctr">
              <a:lnSpc>
                <a:spcPts val="2304"/>
              </a:lnSpc>
            </a:pPr>
            <a:r>
              <a:rPr lang="en-US" sz="2400">
                <a:solidFill>
                  <a:srgbClr val="283728"/>
                </a:solidFill>
                <a:latin typeface="Adirek Sans Bold"/>
                <a:ea typeface="Adirek Sans Bold"/>
                <a:cs typeface="Adirek Sans Bold"/>
                <a:sym typeface="Adirek Sans Bold"/>
              </a:rPr>
              <a:t>2024</a:t>
            </a:r>
          </a:p>
        </p:txBody>
      </p:sp>
      <p:sp>
        <p:nvSpPr>
          <p:cNvPr id="11" name="TextBox 11"/>
          <p:cNvSpPr txBox="1"/>
          <p:nvPr/>
        </p:nvSpPr>
        <p:spPr>
          <a:xfrm>
            <a:off x="201093" y="960220"/>
            <a:ext cx="10104821" cy="978577"/>
          </a:xfrm>
          <a:prstGeom prst="rect">
            <a:avLst/>
          </a:prstGeom>
        </p:spPr>
        <p:txBody>
          <a:bodyPr lIns="0" tIns="0" rIns="0" bIns="0" rtlCol="0" anchor="t">
            <a:spAutoFit/>
          </a:bodyPr>
          <a:lstStyle/>
          <a:p>
            <a:pPr algn="l">
              <a:lnSpc>
                <a:spcPts val="5771"/>
              </a:lnSpc>
            </a:pPr>
            <a:r>
              <a:rPr lang="en-US" sz="11543">
                <a:solidFill>
                  <a:srgbClr val="283728"/>
                </a:solidFill>
                <a:latin typeface="Adirek Sans Heavy"/>
                <a:ea typeface="Adirek Sans Heavy"/>
                <a:cs typeface="Adirek Sans Heavy"/>
                <a:sym typeface="Adirek Sans Heavy"/>
              </a:rPr>
              <a:t>TINJAUAN EMPIRIS</a:t>
            </a:r>
          </a:p>
        </p:txBody>
      </p:sp>
      <p:sp>
        <p:nvSpPr>
          <p:cNvPr id="12" name="TextBox 12"/>
          <p:cNvSpPr txBox="1"/>
          <p:nvPr/>
        </p:nvSpPr>
        <p:spPr>
          <a:xfrm>
            <a:off x="201093" y="1603434"/>
            <a:ext cx="11690087" cy="1225550"/>
          </a:xfrm>
          <a:prstGeom prst="rect">
            <a:avLst/>
          </a:prstGeom>
        </p:spPr>
        <p:txBody>
          <a:bodyPr lIns="0" tIns="0" rIns="0" bIns="0" rtlCol="0" anchor="t">
            <a:spAutoFit/>
          </a:bodyPr>
          <a:lstStyle/>
          <a:p>
            <a:pPr algn="l">
              <a:lnSpc>
                <a:spcPts val="4900"/>
              </a:lnSpc>
            </a:pPr>
            <a:r>
              <a:rPr lang="en-US" sz="3500">
                <a:solidFill>
                  <a:srgbClr val="283728"/>
                </a:solidFill>
                <a:latin typeface="Adirek Sans"/>
                <a:ea typeface="Adirek Sans"/>
                <a:cs typeface="Adirek Sans"/>
                <a:sym typeface="Adirek Sans"/>
              </a:rPr>
              <a:t>SISTEM REKOMENDASI SUKU CADANG BERDASARKAN ITEM BASED FILTERING (WIBISONO ET AL., 2021)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AF2EA"/>
        </a:solidFill>
        <a:effectLst/>
      </p:bgPr>
    </p:bg>
    <p:spTree>
      <p:nvGrpSpPr>
        <p:cNvPr id="1" name=""/>
        <p:cNvGrpSpPr/>
        <p:nvPr/>
      </p:nvGrpSpPr>
      <p:grpSpPr>
        <a:xfrm>
          <a:off x="0" y="0"/>
          <a:ext cx="0" cy="0"/>
          <a:chOff x="0" y="0"/>
          <a:chExt cx="0" cy="0"/>
        </a:xfrm>
      </p:grpSpPr>
      <p:grpSp>
        <p:nvGrpSpPr>
          <p:cNvPr id="2" name="Group 2"/>
          <p:cNvGrpSpPr/>
          <p:nvPr/>
        </p:nvGrpSpPr>
        <p:grpSpPr>
          <a:xfrm>
            <a:off x="0" y="2740084"/>
            <a:ext cx="18288000" cy="7546916"/>
            <a:chOff x="0" y="0"/>
            <a:chExt cx="4816593" cy="1987665"/>
          </a:xfrm>
        </p:grpSpPr>
        <p:sp>
          <p:nvSpPr>
            <p:cNvPr id="3" name="Freeform 3"/>
            <p:cNvSpPr/>
            <p:nvPr/>
          </p:nvSpPr>
          <p:spPr>
            <a:xfrm>
              <a:off x="0" y="0"/>
              <a:ext cx="4816592" cy="1987665"/>
            </a:xfrm>
            <a:custGeom>
              <a:avLst/>
              <a:gdLst/>
              <a:ahLst/>
              <a:cxnLst/>
              <a:rect l="l" t="t" r="r" b="b"/>
              <a:pathLst>
                <a:path w="4816592" h="1987665">
                  <a:moveTo>
                    <a:pt x="0" y="0"/>
                  </a:moveTo>
                  <a:lnTo>
                    <a:pt x="4816592" y="0"/>
                  </a:lnTo>
                  <a:lnTo>
                    <a:pt x="4816592" y="1987665"/>
                  </a:lnTo>
                  <a:lnTo>
                    <a:pt x="0" y="1987665"/>
                  </a:lnTo>
                  <a:close/>
                </a:path>
              </a:pathLst>
            </a:custGeom>
            <a:solidFill>
              <a:srgbClr val="283728"/>
            </a:solidFill>
          </p:spPr>
        </p:sp>
        <p:sp>
          <p:nvSpPr>
            <p:cNvPr id="4" name="TextBox 4"/>
            <p:cNvSpPr txBox="1"/>
            <p:nvPr/>
          </p:nvSpPr>
          <p:spPr>
            <a:xfrm>
              <a:off x="0" y="-47625"/>
              <a:ext cx="4816593" cy="2035290"/>
            </a:xfrm>
            <a:prstGeom prst="rect">
              <a:avLst/>
            </a:prstGeom>
          </p:spPr>
          <p:txBody>
            <a:bodyPr lIns="50800" tIns="50800" rIns="50800" bIns="50800" rtlCol="0" anchor="ctr"/>
            <a:lstStyle/>
            <a:p>
              <a:pPr algn="ctr">
                <a:lnSpc>
                  <a:spcPts val="3079"/>
                </a:lnSpc>
              </a:pPr>
              <a:endParaRPr/>
            </a:p>
          </p:txBody>
        </p:sp>
      </p:grpSp>
      <p:grpSp>
        <p:nvGrpSpPr>
          <p:cNvPr id="5" name="Group 5"/>
          <p:cNvGrpSpPr/>
          <p:nvPr/>
        </p:nvGrpSpPr>
        <p:grpSpPr>
          <a:xfrm>
            <a:off x="16610134" y="0"/>
            <a:ext cx="1677866" cy="1679634"/>
            <a:chOff x="0" y="0"/>
            <a:chExt cx="568780" cy="569379"/>
          </a:xfrm>
        </p:grpSpPr>
        <p:sp>
          <p:nvSpPr>
            <p:cNvPr id="6" name="Freeform 6"/>
            <p:cNvSpPr/>
            <p:nvPr/>
          </p:nvSpPr>
          <p:spPr>
            <a:xfrm>
              <a:off x="0" y="0"/>
              <a:ext cx="568780" cy="569379"/>
            </a:xfrm>
            <a:custGeom>
              <a:avLst/>
              <a:gdLst/>
              <a:ahLst/>
              <a:cxnLst/>
              <a:rect l="l" t="t" r="r" b="b"/>
              <a:pathLst>
                <a:path w="568780" h="569379">
                  <a:moveTo>
                    <a:pt x="0" y="0"/>
                  </a:moveTo>
                  <a:lnTo>
                    <a:pt x="568780" y="0"/>
                  </a:lnTo>
                  <a:lnTo>
                    <a:pt x="568780" y="569379"/>
                  </a:lnTo>
                  <a:lnTo>
                    <a:pt x="0" y="569379"/>
                  </a:lnTo>
                  <a:close/>
                </a:path>
              </a:pathLst>
            </a:custGeom>
            <a:solidFill>
              <a:srgbClr val="283728"/>
            </a:solidFill>
          </p:spPr>
        </p:sp>
        <p:sp>
          <p:nvSpPr>
            <p:cNvPr id="7" name="TextBox 7"/>
            <p:cNvSpPr txBox="1"/>
            <p:nvPr/>
          </p:nvSpPr>
          <p:spPr>
            <a:xfrm>
              <a:off x="0" y="-47625"/>
              <a:ext cx="568780" cy="617004"/>
            </a:xfrm>
            <a:prstGeom prst="rect">
              <a:avLst/>
            </a:prstGeom>
          </p:spPr>
          <p:txBody>
            <a:bodyPr lIns="50800" tIns="50800" rIns="50800" bIns="50800" rtlCol="0" anchor="ctr"/>
            <a:lstStyle/>
            <a:p>
              <a:pPr algn="ctr">
                <a:lnSpc>
                  <a:spcPts val="3079"/>
                </a:lnSpc>
              </a:pPr>
              <a:endParaRPr/>
            </a:p>
          </p:txBody>
        </p:sp>
      </p:grpSp>
      <p:sp>
        <p:nvSpPr>
          <p:cNvPr id="8" name="Freeform 8"/>
          <p:cNvSpPr/>
          <p:nvPr/>
        </p:nvSpPr>
        <p:spPr>
          <a:xfrm>
            <a:off x="16872103" y="188695"/>
            <a:ext cx="1156433" cy="1302244"/>
          </a:xfrm>
          <a:custGeom>
            <a:avLst/>
            <a:gdLst/>
            <a:ahLst/>
            <a:cxnLst/>
            <a:rect l="l" t="t" r="r" b="b"/>
            <a:pathLst>
              <a:path w="1156433" h="1302244">
                <a:moveTo>
                  <a:pt x="0" y="0"/>
                </a:moveTo>
                <a:lnTo>
                  <a:pt x="1156433" y="0"/>
                </a:lnTo>
                <a:lnTo>
                  <a:pt x="1156433" y="1302244"/>
                </a:lnTo>
                <a:lnTo>
                  <a:pt x="0" y="1302244"/>
                </a:lnTo>
                <a:lnTo>
                  <a:pt x="0" y="0"/>
                </a:lnTo>
                <a:close/>
              </a:path>
            </a:pathLst>
          </a:custGeom>
          <a:blipFill>
            <a:blip r:embed="rId2"/>
            <a:stretch>
              <a:fillRect/>
            </a:stretch>
          </a:blipFill>
        </p:spPr>
      </p:sp>
      <p:sp>
        <p:nvSpPr>
          <p:cNvPr id="9" name="TextBox 9"/>
          <p:cNvSpPr txBox="1"/>
          <p:nvPr/>
        </p:nvSpPr>
        <p:spPr>
          <a:xfrm>
            <a:off x="201093" y="2852565"/>
            <a:ext cx="17827443" cy="5372101"/>
          </a:xfrm>
          <a:prstGeom prst="rect">
            <a:avLst/>
          </a:prstGeom>
        </p:spPr>
        <p:txBody>
          <a:bodyPr lIns="0" tIns="0" rIns="0" bIns="0" rtlCol="0" anchor="t">
            <a:spAutoFit/>
          </a:bodyPr>
          <a:lstStyle/>
          <a:p>
            <a:pPr algn="just">
              <a:lnSpc>
                <a:spcPts val="4799"/>
              </a:lnSpc>
            </a:pPr>
            <a:r>
              <a:rPr lang="en-US" sz="2999">
                <a:solidFill>
                  <a:srgbClr val="FAF2EA"/>
                </a:solidFill>
                <a:latin typeface="Roboto"/>
                <a:ea typeface="Roboto"/>
                <a:cs typeface="Roboto"/>
                <a:sym typeface="Roboto"/>
              </a:rPr>
              <a:t>Pada penelitian ini, penulis membangun sistem rekomendasi K-Means dan singular value decomposition untuk sistem rekomendasi film. Data yang digunakan pada penelitian ini adalah MovieLens 1M yang berisi 1.000.209 rating dari 6.040 pengguna untuk 3.706 film. Nilai rentan dari rating adalah 1 – 5. Metode K-Means digunakan untuk mengelompokkan pengguna dan matriks utility. Selanjutnya SVD dilakukan terhadap matriks utility untuk mendekomposisi dan mereduksi dimensi dari matriks. Similarity dicari antar cluster yang ada dan digunakan untuk melakukan prediksi rating untuk memberikan rekomendasi. Pengujian dilakukan dengan membandingkan performa antar K-Means saja dan K-Means dengan SVD menggunakan root mean squared error (RMSE). Hasil pengujian yang didapatkan RMSE sebesar 0.896 untuk K-Means saja dengan nilai k = 50 dan sebesar 0.835 untuk K-Means dengan SVD untuk nilai k = 40. </a:t>
            </a:r>
          </a:p>
        </p:txBody>
      </p:sp>
      <p:sp>
        <p:nvSpPr>
          <p:cNvPr id="10" name="TextBox 10"/>
          <p:cNvSpPr txBox="1"/>
          <p:nvPr/>
        </p:nvSpPr>
        <p:spPr>
          <a:xfrm>
            <a:off x="16610134" y="9518480"/>
            <a:ext cx="598073" cy="311277"/>
          </a:xfrm>
          <a:prstGeom prst="rect">
            <a:avLst/>
          </a:prstGeom>
        </p:spPr>
        <p:txBody>
          <a:bodyPr lIns="0" tIns="0" rIns="0" bIns="0" rtlCol="0" anchor="t">
            <a:spAutoFit/>
          </a:bodyPr>
          <a:lstStyle/>
          <a:p>
            <a:pPr algn="ctr">
              <a:lnSpc>
                <a:spcPts val="2304"/>
              </a:lnSpc>
            </a:pPr>
            <a:r>
              <a:rPr lang="en-US" sz="2400">
                <a:solidFill>
                  <a:srgbClr val="283728"/>
                </a:solidFill>
                <a:latin typeface="Adirek Sans Bold"/>
                <a:ea typeface="Adirek Sans Bold"/>
                <a:cs typeface="Adirek Sans Bold"/>
                <a:sym typeface="Adirek Sans Bold"/>
              </a:rPr>
              <a:t>2024</a:t>
            </a:r>
          </a:p>
        </p:txBody>
      </p:sp>
      <p:sp>
        <p:nvSpPr>
          <p:cNvPr id="11" name="TextBox 11"/>
          <p:cNvSpPr txBox="1"/>
          <p:nvPr/>
        </p:nvSpPr>
        <p:spPr>
          <a:xfrm>
            <a:off x="201093" y="960220"/>
            <a:ext cx="10104821" cy="978577"/>
          </a:xfrm>
          <a:prstGeom prst="rect">
            <a:avLst/>
          </a:prstGeom>
        </p:spPr>
        <p:txBody>
          <a:bodyPr lIns="0" tIns="0" rIns="0" bIns="0" rtlCol="0" anchor="t">
            <a:spAutoFit/>
          </a:bodyPr>
          <a:lstStyle/>
          <a:p>
            <a:pPr algn="l">
              <a:lnSpc>
                <a:spcPts val="5771"/>
              </a:lnSpc>
            </a:pPr>
            <a:r>
              <a:rPr lang="en-US" sz="11543">
                <a:solidFill>
                  <a:srgbClr val="283728"/>
                </a:solidFill>
                <a:latin typeface="Adirek Sans Heavy"/>
                <a:ea typeface="Adirek Sans Heavy"/>
                <a:cs typeface="Adirek Sans Heavy"/>
                <a:sym typeface="Adirek Sans Heavy"/>
              </a:rPr>
              <a:t>TINJAUAN EMPIRIS</a:t>
            </a:r>
          </a:p>
        </p:txBody>
      </p:sp>
      <p:sp>
        <p:nvSpPr>
          <p:cNvPr id="12" name="TextBox 12"/>
          <p:cNvSpPr txBox="1"/>
          <p:nvPr/>
        </p:nvSpPr>
        <p:spPr>
          <a:xfrm>
            <a:off x="201093" y="1603434"/>
            <a:ext cx="15980644" cy="1225550"/>
          </a:xfrm>
          <a:prstGeom prst="rect">
            <a:avLst/>
          </a:prstGeom>
        </p:spPr>
        <p:txBody>
          <a:bodyPr lIns="0" tIns="0" rIns="0" bIns="0" rtlCol="0" anchor="t">
            <a:spAutoFit/>
          </a:bodyPr>
          <a:lstStyle/>
          <a:p>
            <a:pPr algn="l">
              <a:lnSpc>
                <a:spcPts val="4900"/>
              </a:lnSpc>
            </a:pPr>
            <a:r>
              <a:rPr lang="en-US" sz="3500">
                <a:solidFill>
                  <a:srgbClr val="283728"/>
                </a:solidFill>
                <a:latin typeface="Adirek Sans"/>
                <a:ea typeface="Adirek Sans"/>
                <a:cs typeface="Adirek Sans"/>
                <a:sym typeface="Adirek Sans"/>
              </a:rPr>
              <a:t>IMPLEMENTATION OF DIMENSIONALITY REDUCTION WITH SVD TO IMPROVE RATING PREDICTION IN RECOMMENDER SYSTEM (MU’AFA &amp; BAIZAL, 2022)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AF2EA"/>
        </a:solidFill>
        <a:effectLst/>
      </p:bgPr>
    </p:bg>
    <p:spTree>
      <p:nvGrpSpPr>
        <p:cNvPr id="1" name=""/>
        <p:cNvGrpSpPr/>
        <p:nvPr/>
      </p:nvGrpSpPr>
      <p:grpSpPr>
        <a:xfrm>
          <a:off x="0" y="0"/>
          <a:ext cx="0" cy="0"/>
          <a:chOff x="0" y="0"/>
          <a:chExt cx="0" cy="0"/>
        </a:xfrm>
      </p:grpSpPr>
      <p:grpSp>
        <p:nvGrpSpPr>
          <p:cNvPr id="2" name="Group 2"/>
          <p:cNvGrpSpPr/>
          <p:nvPr/>
        </p:nvGrpSpPr>
        <p:grpSpPr>
          <a:xfrm>
            <a:off x="0" y="2740084"/>
            <a:ext cx="18288000" cy="7546916"/>
            <a:chOff x="0" y="0"/>
            <a:chExt cx="4816593" cy="1987665"/>
          </a:xfrm>
        </p:grpSpPr>
        <p:sp>
          <p:nvSpPr>
            <p:cNvPr id="3" name="Freeform 3"/>
            <p:cNvSpPr/>
            <p:nvPr/>
          </p:nvSpPr>
          <p:spPr>
            <a:xfrm>
              <a:off x="0" y="0"/>
              <a:ext cx="4816592" cy="1987665"/>
            </a:xfrm>
            <a:custGeom>
              <a:avLst/>
              <a:gdLst/>
              <a:ahLst/>
              <a:cxnLst/>
              <a:rect l="l" t="t" r="r" b="b"/>
              <a:pathLst>
                <a:path w="4816592" h="1987665">
                  <a:moveTo>
                    <a:pt x="0" y="0"/>
                  </a:moveTo>
                  <a:lnTo>
                    <a:pt x="4816592" y="0"/>
                  </a:lnTo>
                  <a:lnTo>
                    <a:pt x="4816592" y="1987665"/>
                  </a:lnTo>
                  <a:lnTo>
                    <a:pt x="0" y="1987665"/>
                  </a:lnTo>
                  <a:close/>
                </a:path>
              </a:pathLst>
            </a:custGeom>
            <a:solidFill>
              <a:srgbClr val="283728"/>
            </a:solidFill>
          </p:spPr>
        </p:sp>
        <p:sp>
          <p:nvSpPr>
            <p:cNvPr id="4" name="TextBox 4"/>
            <p:cNvSpPr txBox="1"/>
            <p:nvPr/>
          </p:nvSpPr>
          <p:spPr>
            <a:xfrm>
              <a:off x="0" y="-47625"/>
              <a:ext cx="4816593" cy="2035290"/>
            </a:xfrm>
            <a:prstGeom prst="rect">
              <a:avLst/>
            </a:prstGeom>
          </p:spPr>
          <p:txBody>
            <a:bodyPr lIns="50800" tIns="50800" rIns="50800" bIns="50800" rtlCol="0" anchor="ctr"/>
            <a:lstStyle/>
            <a:p>
              <a:pPr algn="ctr">
                <a:lnSpc>
                  <a:spcPts val="3079"/>
                </a:lnSpc>
              </a:pPr>
              <a:endParaRPr/>
            </a:p>
          </p:txBody>
        </p:sp>
      </p:grpSp>
      <p:grpSp>
        <p:nvGrpSpPr>
          <p:cNvPr id="5" name="Group 5"/>
          <p:cNvGrpSpPr/>
          <p:nvPr/>
        </p:nvGrpSpPr>
        <p:grpSpPr>
          <a:xfrm>
            <a:off x="16610134" y="0"/>
            <a:ext cx="1677866" cy="1679634"/>
            <a:chOff x="0" y="0"/>
            <a:chExt cx="568780" cy="569379"/>
          </a:xfrm>
        </p:grpSpPr>
        <p:sp>
          <p:nvSpPr>
            <p:cNvPr id="6" name="Freeform 6"/>
            <p:cNvSpPr/>
            <p:nvPr/>
          </p:nvSpPr>
          <p:spPr>
            <a:xfrm>
              <a:off x="0" y="0"/>
              <a:ext cx="568780" cy="569379"/>
            </a:xfrm>
            <a:custGeom>
              <a:avLst/>
              <a:gdLst/>
              <a:ahLst/>
              <a:cxnLst/>
              <a:rect l="l" t="t" r="r" b="b"/>
              <a:pathLst>
                <a:path w="568780" h="569379">
                  <a:moveTo>
                    <a:pt x="0" y="0"/>
                  </a:moveTo>
                  <a:lnTo>
                    <a:pt x="568780" y="0"/>
                  </a:lnTo>
                  <a:lnTo>
                    <a:pt x="568780" y="569379"/>
                  </a:lnTo>
                  <a:lnTo>
                    <a:pt x="0" y="569379"/>
                  </a:lnTo>
                  <a:close/>
                </a:path>
              </a:pathLst>
            </a:custGeom>
            <a:solidFill>
              <a:srgbClr val="283728"/>
            </a:solidFill>
          </p:spPr>
        </p:sp>
        <p:sp>
          <p:nvSpPr>
            <p:cNvPr id="7" name="TextBox 7"/>
            <p:cNvSpPr txBox="1"/>
            <p:nvPr/>
          </p:nvSpPr>
          <p:spPr>
            <a:xfrm>
              <a:off x="0" y="-47625"/>
              <a:ext cx="568780" cy="617004"/>
            </a:xfrm>
            <a:prstGeom prst="rect">
              <a:avLst/>
            </a:prstGeom>
          </p:spPr>
          <p:txBody>
            <a:bodyPr lIns="50800" tIns="50800" rIns="50800" bIns="50800" rtlCol="0" anchor="ctr"/>
            <a:lstStyle/>
            <a:p>
              <a:pPr algn="ctr">
                <a:lnSpc>
                  <a:spcPts val="3079"/>
                </a:lnSpc>
              </a:pPr>
              <a:endParaRPr/>
            </a:p>
          </p:txBody>
        </p:sp>
      </p:grpSp>
      <p:sp>
        <p:nvSpPr>
          <p:cNvPr id="8" name="Freeform 8"/>
          <p:cNvSpPr/>
          <p:nvPr/>
        </p:nvSpPr>
        <p:spPr>
          <a:xfrm>
            <a:off x="16872103" y="188695"/>
            <a:ext cx="1156433" cy="1302244"/>
          </a:xfrm>
          <a:custGeom>
            <a:avLst/>
            <a:gdLst/>
            <a:ahLst/>
            <a:cxnLst/>
            <a:rect l="l" t="t" r="r" b="b"/>
            <a:pathLst>
              <a:path w="1156433" h="1302244">
                <a:moveTo>
                  <a:pt x="0" y="0"/>
                </a:moveTo>
                <a:lnTo>
                  <a:pt x="1156433" y="0"/>
                </a:lnTo>
                <a:lnTo>
                  <a:pt x="1156433" y="1302244"/>
                </a:lnTo>
                <a:lnTo>
                  <a:pt x="0" y="1302244"/>
                </a:lnTo>
                <a:lnTo>
                  <a:pt x="0" y="0"/>
                </a:lnTo>
                <a:close/>
              </a:path>
            </a:pathLst>
          </a:custGeom>
          <a:blipFill>
            <a:blip r:embed="rId2"/>
            <a:stretch>
              <a:fillRect/>
            </a:stretch>
          </a:blipFill>
        </p:spPr>
      </p:sp>
      <p:sp>
        <p:nvSpPr>
          <p:cNvPr id="9" name="Freeform 9"/>
          <p:cNvSpPr/>
          <p:nvPr/>
        </p:nvSpPr>
        <p:spPr>
          <a:xfrm>
            <a:off x="1721942" y="5116615"/>
            <a:ext cx="14844116" cy="2793855"/>
          </a:xfrm>
          <a:custGeom>
            <a:avLst/>
            <a:gdLst/>
            <a:ahLst/>
            <a:cxnLst/>
            <a:rect l="l" t="t" r="r" b="b"/>
            <a:pathLst>
              <a:path w="14844116" h="2793855">
                <a:moveTo>
                  <a:pt x="0" y="0"/>
                </a:moveTo>
                <a:lnTo>
                  <a:pt x="14844116" y="0"/>
                </a:lnTo>
                <a:lnTo>
                  <a:pt x="14844116" y="2793854"/>
                </a:lnTo>
                <a:lnTo>
                  <a:pt x="0" y="2793854"/>
                </a:lnTo>
                <a:lnTo>
                  <a:pt x="0" y="0"/>
                </a:lnTo>
                <a:close/>
              </a:path>
            </a:pathLst>
          </a:custGeom>
          <a:blipFill>
            <a:blip r:embed="rId3"/>
            <a:stretch>
              <a:fillRect/>
            </a:stretch>
          </a:blipFill>
        </p:spPr>
      </p:sp>
      <p:sp>
        <p:nvSpPr>
          <p:cNvPr id="10" name="TextBox 10"/>
          <p:cNvSpPr txBox="1"/>
          <p:nvPr/>
        </p:nvSpPr>
        <p:spPr>
          <a:xfrm>
            <a:off x="16610134" y="9518480"/>
            <a:ext cx="598073" cy="311277"/>
          </a:xfrm>
          <a:prstGeom prst="rect">
            <a:avLst/>
          </a:prstGeom>
        </p:spPr>
        <p:txBody>
          <a:bodyPr lIns="0" tIns="0" rIns="0" bIns="0" rtlCol="0" anchor="t">
            <a:spAutoFit/>
          </a:bodyPr>
          <a:lstStyle/>
          <a:p>
            <a:pPr algn="ctr">
              <a:lnSpc>
                <a:spcPts val="2304"/>
              </a:lnSpc>
            </a:pPr>
            <a:r>
              <a:rPr lang="en-US" sz="2400">
                <a:solidFill>
                  <a:srgbClr val="283728"/>
                </a:solidFill>
                <a:latin typeface="Adirek Sans Bold"/>
                <a:ea typeface="Adirek Sans Bold"/>
                <a:cs typeface="Adirek Sans Bold"/>
                <a:sym typeface="Adirek Sans Bold"/>
              </a:rPr>
              <a:t>2024</a:t>
            </a:r>
          </a:p>
        </p:txBody>
      </p:sp>
      <p:sp>
        <p:nvSpPr>
          <p:cNvPr id="11" name="TextBox 11"/>
          <p:cNvSpPr txBox="1"/>
          <p:nvPr/>
        </p:nvSpPr>
        <p:spPr>
          <a:xfrm>
            <a:off x="201093" y="960220"/>
            <a:ext cx="13585514" cy="978577"/>
          </a:xfrm>
          <a:prstGeom prst="rect">
            <a:avLst/>
          </a:prstGeom>
        </p:spPr>
        <p:txBody>
          <a:bodyPr lIns="0" tIns="0" rIns="0" bIns="0" rtlCol="0" anchor="t">
            <a:spAutoFit/>
          </a:bodyPr>
          <a:lstStyle/>
          <a:p>
            <a:pPr algn="l">
              <a:lnSpc>
                <a:spcPts val="5771"/>
              </a:lnSpc>
            </a:pPr>
            <a:r>
              <a:rPr lang="en-US" sz="11543">
                <a:solidFill>
                  <a:srgbClr val="283728"/>
                </a:solidFill>
                <a:latin typeface="Adirek Sans Heavy"/>
                <a:ea typeface="Adirek Sans Heavy"/>
                <a:cs typeface="Adirek Sans Heavy"/>
                <a:sym typeface="Adirek Sans Heavy"/>
              </a:rPr>
              <a:t>METODOLOGI PENELITIAN</a:t>
            </a:r>
          </a:p>
        </p:txBody>
      </p:sp>
      <p:sp>
        <p:nvSpPr>
          <p:cNvPr id="12" name="TextBox 12"/>
          <p:cNvSpPr txBox="1"/>
          <p:nvPr/>
        </p:nvSpPr>
        <p:spPr>
          <a:xfrm>
            <a:off x="201093" y="2146359"/>
            <a:ext cx="16049569" cy="593725"/>
          </a:xfrm>
          <a:prstGeom prst="rect">
            <a:avLst/>
          </a:prstGeom>
        </p:spPr>
        <p:txBody>
          <a:bodyPr lIns="0" tIns="0" rIns="0" bIns="0" rtlCol="0" anchor="t">
            <a:spAutoFit/>
          </a:bodyPr>
          <a:lstStyle/>
          <a:p>
            <a:pPr algn="l">
              <a:lnSpc>
                <a:spcPts val="3499"/>
              </a:lnSpc>
            </a:pPr>
            <a:r>
              <a:rPr lang="en-US" sz="6999">
                <a:solidFill>
                  <a:srgbClr val="283728"/>
                </a:solidFill>
                <a:latin typeface="Adirek Sans Bold"/>
                <a:ea typeface="Adirek Sans Bold"/>
                <a:cs typeface="Adirek Sans Bold"/>
                <a:sym typeface="Adirek Sans Bold"/>
              </a:rPr>
              <a:t>DESAIN SISTEM</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AF2EA"/>
        </a:solidFill>
        <a:effectLst/>
      </p:bgPr>
    </p:bg>
    <p:spTree>
      <p:nvGrpSpPr>
        <p:cNvPr id="1" name=""/>
        <p:cNvGrpSpPr/>
        <p:nvPr/>
      </p:nvGrpSpPr>
      <p:grpSpPr>
        <a:xfrm>
          <a:off x="0" y="0"/>
          <a:ext cx="0" cy="0"/>
          <a:chOff x="0" y="0"/>
          <a:chExt cx="0" cy="0"/>
        </a:xfrm>
      </p:grpSpPr>
      <p:grpSp>
        <p:nvGrpSpPr>
          <p:cNvPr id="2" name="Group 2"/>
          <p:cNvGrpSpPr/>
          <p:nvPr/>
        </p:nvGrpSpPr>
        <p:grpSpPr>
          <a:xfrm>
            <a:off x="0" y="2740084"/>
            <a:ext cx="18288000" cy="7546916"/>
            <a:chOff x="0" y="0"/>
            <a:chExt cx="4816593" cy="1987665"/>
          </a:xfrm>
        </p:grpSpPr>
        <p:sp>
          <p:nvSpPr>
            <p:cNvPr id="3" name="Freeform 3"/>
            <p:cNvSpPr/>
            <p:nvPr/>
          </p:nvSpPr>
          <p:spPr>
            <a:xfrm>
              <a:off x="0" y="0"/>
              <a:ext cx="4816592" cy="1987665"/>
            </a:xfrm>
            <a:custGeom>
              <a:avLst/>
              <a:gdLst/>
              <a:ahLst/>
              <a:cxnLst/>
              <a:rect l="l" t="t" r="r" b="b"/>
              <a:pathLst>
                <a:path w="4816592" h="1987665">
                  <a:moveTo>
                    <a:pt x="0" y="0"/>
                  </a:moveTo>
                  <a:lnTo>
                    <a:pt x="4816592" y="0"/>
                  </a:lnTo>
                  <a:lnTo>
                    <a:pt x="4816592" y="1987665"/>
                  </a:lnTo>
                  <a:lnTo>
                    <a:pt x="0" y="1987665"/>
                  </a:lnTo>
                  <a:close/>
                </a:path>
              </a:pathLst>
            </a:custGeom>
            <a:solidFill>
              <a:srgbClr val="283728"/>
            </a:solidFill>
          </p:spPr>
        </p:sp>
        <p:sp>
          <p:nvSpPr>
            <p:cNvPr id="4" name="TextBox 4"/>
            <p:cNvSpPr txBox="1"/>
            <p:nvPr/>
          </p:nvSpPr>
          <p:spPr>
            <a:xfrm>
              <a:off x="0" y="-47625"/>
              <a:ext cx="4816593" cy="2035290"/>
            </a:xfrm>
            <a:prstGeom prst="rect">
              <a:avLst/>
            </a:prstGeom>
          </p:spPr>
          <p:txBody>
            <a:bodyPr lIns="50800" tIns="50800" rIns="50800" bIns="50800" rtlCol="0" anchor="ctr"/>
            <a:lstStyle/>
            <a:p>
              <a:pPr algn="ctr">
                <a:lnSpc>
                  <a:spcPts val="3079"/>
                </a:lnSpc>
              </a:pPr>
              <a:endParaRPr/>
            </a:p>
          </p:txBody>
        </p:sp>
      </p:grpSp>
      <p:grpSp>
        <p:nvGrpSpPr>
          <p:cNvPr id="5" name="Group 5"/>
          <p:cNvGrpSpPr/>
          <p:nvPr/>
        </p:nvGrpSpPr>
        <p:grpSpPr>
          <a:xfrm>
            <a:off x="16610134" y="0"/>
            <a:ext cx="1677866" cy="1679634"/>
            <a:chOff x="0" y="0"/>
            <a:chExt cx="568780" cy="569379"/>
          </a:xfrm>
        </p:grpSpPr>
        <p:sp>
          <p:nvSpPr>
            <p:cNvPr id="6" name="Freeform 6"/>
            <p:cNvSpPr/>
            <p:nvPr/>
          </p:nvSpPr>
          <p:spPr>
            <a:xfrm>
              <a:off x="0" y="0"/>
              <a:ext cx="568780" cy="569379"/>
            </a:xfrm>
            <a:custGeom>
              <a:avLst/>
              <a:gdLst/>
              <a:ahLst/>
              <a:cxnLst/>
              <a:rect l="l" t="t" r="r" b="b"/>
              <a:pathLst>
                <a:path w="568780" h="569379">
                  <a:moveTo>
                    <a:pt x="0" y="0"/>
                  </a:moveTo>
                  <a:lnTo>
                    <a:pt x="568780" y="0"/>
                  </a:lnTo>
                  <a:lnTo>
                    <a:pt x="568780" y="569379"/>
                  </a:lnTo>
                  <a:lnTo>
                    <a:pt x="0" y="569379"/>
                  </a:lnTo>
                  <a:close/>
                </a:path>
              </a:pathLst>
            </a:custGeom>
            <a:solidFill>
              <a:srgbClr val="283728"/>
            </a:solidFill>
          </p:spPr>
        </p:sp>
        <p:sp>
          <p:nvSpPr>
            <p:cNvPr id="7" name="TextBox 7"/>
            <p:cNvSpPr txBox="1"/>
            <p:nvPr/>
          </p:nvSpPr>
          <p:spPr>
            <a:xfrm>
              <a:off x="0" y="-47625"/>
              <a:ext cx="568780" cy="617004"/>
            </a:xfrm>
            <a:prstGeom prst="rect">
              <a:avLst/>
            </a:prstGeom>
          </p:spPr>
          <p:txBody>
            <a:bodyPr lIns="50800" tIns="50800" rIns="50800" bIns="50800" rtlCol="0" anchor="ctr"/>
            <a:lstStyle/>
            <a:p>
              <a:pPr algn="ctr">
                <a:lnSpc>
                  <a:spcPts val="3079"/>
                </a:lnSpc>
              </a:pPr>
              <a:endParaRPr/>
            </a:p>
          </p:txBody>
        </p:sp>
      </p:grpSp>
      <p:sp>
        <p:nvSpPr>
          <p:cNvPr id="8" name="Freeform 8"/>
          <p:cNvSpPr/>
          <p:nvPr/>
        </p:nvSpPr>
        <p:spPr>
          <a:xfrm>
            <a:off x="16872103" y="188695"/>
            <a:ext cx="1156433" cy="1302244"/>
          </a:xfrm>
          <a:custGeom>
            <a:avLst/>
            <a:gdLst/>
            <a:ahLst/>
            <a:cxnLst/>
            <a:rect l="l" t="t" r="r" b="b"/>
            <a:pathLst>
              <a:path w="1156433" h="1302244">
                <a:moveTo>
                  <a:pt x="0" y="0"/>
                </a:moveTo>
                <a:lnTo>
                  <a:pt x="1156433" y="0"/>
                </a:lnTo>
                <a:lnTo>
                  <a:pt x="1156433" y="1302244"/>
                </a:lnTo>
                <a:lnTo>
                  <a:pt x="0" y="1302244"/>
                </a:lnTo>
                <a:lnTo>
                  <a:pt x="0" y="0"/>
                </a:lnTo>
                <a:close/>
              </a:path>
            </a:pathLst>
          </a:custGeom>
          <a:blipFill>
            <a:blip r:embed="rId2"/>
            <a:stretch>
              <a:fillRect/>
            </a:stretch>
          </a:blipFill>
        </p:spPr>
      </p:sp>
      <p:sp>
        <p:nvSpPr>
          <p:cNvPr id="9" name="Freeform 9"/>
          <p:cNvSpPr/>
          <p:nvPr/>
        </p:nvSpPr>
        <p:spPr>
          <a:xfrm>
            <a:off x="768218" y="5804635"/>
            <a:ext cx="7255291" cy="2548138"/>
          </a:xfrm>
          <a:custGeom>
            <a:avLst/>
            <a:gdLst/>
            <a:ahLst/>
            <a:cxnLst/>
            <a:rect l="l" t="t" r="r" b="b"/>
            <a:pathLst>
              <a:path w="7255291" h="2548138">
                <a:moveTo>
                  <a:pt x="0" y="0"/>
                </a:moveTo>
                <a:lnTo>
                  <a:pt x="7255291" y="0"/>
                </a:lnTo>
                <a:lnTo>
                  <a:pt x="7255291" y="2548138"/>
                </a:lnTo>
                <a:lnTo>
                  <a:pt x="0" y="2548138"/>
                </a:lnTo>
                <a:lnTo>
                  <a:pt x="0" y="0"/>
                </a:lnTo>
                <a:close/>
              </a:path>
            </a:pathLst>
          </a:custGeom>
          <a:blipFill>
            <a:blip r:embed="rId3"/>
            <a:stretch>
              <a:fillRect/>
            </a:stretch>
          </a:blipFill>
        </p:spPr>
      </p:sp>
      <p:sp>
        <p:nvSpPr>
          <p:cNvPr id="10" name="Freeform 10"/>
          <p:cNvSpPr/>
          <p:nvPr/>
        </p:nvSpPr>
        <p:spPr>
          <a:xfrm>
            <a:off x="9426318" y="5804635"/>
            <a:ext cx="7832982" cy="3410005"/>
          </a:xfrm>
          <a:custGeom>
            <a:avLst/>
            <a:gdLst/>
            <a:ahLst/>
            <a:cxnLst/>
            <a:rect l="l" t="t" r="r" b="b"/>
            <a:pathLst>
              <a:path w="7832982" h="3410005">
                <a:moveTo>
                  <a:pt x="0" y="0"/>
                </a:moveTo>
                <a:lnTo>
                  <a:pt x="7832982" y="0"/>
                </a:lnTo>
                <a:lnTo>
                  <a:pt x="7832982" y="3410005"/>
                </a:lnTo>
                <a:lnTo>
                  <a:pt x="0" y="3410005"/>
                </a:lnTo>
                <a:lnTo>
                  <a:pt x="0" y="0"/>
                </a:lnTo>
                <a:close/>
              </a:path>
            </a:pathLst>
          </a:custGeom>
          <a:blipFill>
            <a:blip r:embed="rId4"/>
            <a:stretch>
              <a:fillRect/>
            </a:stretch>
          </a:blipFill>
        </p:spPr>
      </p:sp>
      <p:sp>
        <p:nvSpPr>
          <p:cNvPr id="11" name="TextBox 11"/>
          <p:cNvSpPr txBox="1"/>
          <p:nvPr/>
        </p:nvSpPr>
        <p:spPr>
          <a:xfrm>
            <a:off x="16610134" y="9518480"/>
            <a:ext cx="598073" cy="311277"/>
          </a:xfrm>
          <a:prstGeom prst="rect">
            <a:avLst/>
          </a:prstGeom>
        </p:spPr>
        <p:txBody>
          <a:bodyPr lIns="0" tIns="0" rIns="0" bIns="0" rtlCol="0" anchor="t">
            <a:spAutoFit/>
          </a:bodyPr>
          <a:lstStyle/>
          <a:p>
            <a:pPr algn="ctr">
              <a:lnSpc>
                <a:spcPts val="2304"/>
              </a:lnSpc>
            </a:pPr>
            <a:r>
              <a:rPr lang="en-US" sz="2400">
                <a:solidFill>
                  <a:srgbClr val="283728"/>
                </a:solidFill>
                <a:latin typeface="Adirek Sans Bold"/>
                <a:ea typeface="Adirek Sans Bold"/>
                <a:cs typeface="Adirek Sans Bold"/>
                <a:sym typeface="Adirek Sans Bold"/>
              </a:rPr>
              <a:t>2024</a:t>
            </a:r>
          </a:p>
        </p:txBody>
      </p:sp>
      <p:sp>
        <p:nvSpPr>
          <p:cNvPr id="12" name="TextBox 12"/>
          <p:cNvSpPr txBox="1"/>
          <p:nvPr/>
        </p:nvSpPr>
        <p:spPr>
          <a:xfrm>
            <a:off x="201093" y="960220"/>
            <a:ext cx="13585514" cy="978577"/>
          </a:xfrm>
          <a:prstGeom prst="rect">
            <a:avLst/>
          </a:prstGeom>
        </p:spPr>
        <p:txBody>
          <a:bodyPr lIns="0" tIns="0" rIns="0" bIns="0" rtlCol="0" anchor="t">
            <a:spAutoFit/>
          </a:bodyPr>
          <a:lstStyle/>
          <a:p>
            <a:pPr algn="l">
              <a:lnSpc>
                <a:spcPts val="5771"/>
              </a:lnSpc>
            </a:pPr>
            <a:r>
              <a:rPr lang="en-US" sz="11543">
                <a:solidFill>
                  <a:srgbClr val="283728"/>
                </a:solidFill>
                <a:latin typeface="Adirek Sans Heavy"/>
                <a:ea typeface="Adirek Sans Heavy"/>
                <a:cs typeface="Adirek Sans Heavy"/>
                <a:sym typeface="Adirek Sans Heavy"/>
              </a:rPr>
              <a:t>METODOLOGI PENELITIAN</a:t>
            </a:r>
          </a:p>
        </p:txBody>
      </p:sp>
      <p:sp>
        <p:nvSpPr>
          <p:cNvPr id="13" name="TextBox 13"/>
          <p:cNvSpPr txBox="1"/>
          <p:nvPr/>
        </p:nvSpPr>
        <p:spPr>
          <a:xfrm>
            <a:off x="201093" y="2146359"/>
            <a:ext cx="16049569" cy="593725"/>
          </a:xfrm>
          <a:prstGeom prst="rect">
            <a:avLst/>
          </a:prstGeom>
        </p:spPr>
        <p:txBody>
          <a:bodyPr lIns="0" tIns="0" rIns="0" bIns="0" rtlCol="0" anchor="t">
            <a:spAutoFit/>
          </a:bodyPr>
          <a:lstStyle/>
          <a:p>
            <a:pPr algn="l">
              <a:lnSpc>
                <a:spcPts val="3499"/>
              </a:lnSpc>
            </a:pPr>
            <a:r>
              <a:rPr lang="en-US" sz="6999">
                <a:solidFill>
                  <a:srgbClr val="283728"/>
                </a:solidFill>
                <a:latin typeface="Adirek Sans Bold"/>
                <a:ea typeface="Adirek Sans Bold"/>
                <a:cs typeface="Adirek Sans Bold"/>
                <a:sym typeface="Adirek Sans Bold"/>
              </a:rPr>
              <a:t>PENGUMPULAN DATA</a:t>
            </a:r>
          </a:p>
        </p:txBody>
      </p:sp>
      <p:sp>
        <p:nvSpPr>
          <p:cNvPr id="14" name="TextBox 14"/>
          <p:cNvSpPr txBox="1"/>
          <p:nvPr/>
        </p:nvSpPr>
        <p:spPr>
          <a:xfrm>
            <a:off x="201093" y="2852565"/>
            <a:ext cx="17827443" cy="1771651"/>
          </a:xfrm>
          <a:prstGeom prst="rect">
            <a:avLst/>
          </a:prstGeom>
        </p:spPr>
        <p:txBody>
          <a:bodyPr lIns="0" tIns="0" rIns="0" bIns="0" rtlCol="0" anchor="t">
            <a:spAutoFit/>
          </a:bodyPr>
          <a:lstStyle/>
          <a:p>
            <a:pPr algn="just">
              <a:lnSpc>
                <a:spcPts val="4799"/>
              </a:lnSpc>
            </a:pPr>
            <a:r>
              <a:rPr lang="en-US" sz="2999">
                <a:solidFill>
                  <a:srgbClr val="FAF2EA"/>
                </a:solidFill>
                <a:latin typeface="Roboto"/>
                <a:ea typeface="Roboto"/>
                <a:cs typeface="Roboto"/>
                <a:sym typeface="Roboto"/>
              </a:rPr>
              <a:t>Data yang digunakan merupakan data yang didapat secara sekunder dari situs web grouplens.org yang berjudul movielens 100k. File ratings.csv berisikan 100.000 data rating yang diberikan oleh pengguna kepada film dan file movies.csv berisikan 10.000 data film. </a:t>
            </a:r>
          </a:p>
        </p:txBody>
      </p:sp>
      <p:sp>
        <p:nvSpPr>
          <p:cNvPr id="15" name="TextBox 15"/>
          <p:cNvSpPr txBox="1"/>
          <p:nvPr/>
        </p:nvSpPr>
        <p:spPr>
          <a:xfrm>
            <a:off x="768218" y="5019675"/>
            <a:ext cx="2010937" cy="571501"/>
          </a:xfrm>
          <a:prstGeom prst="rect">
            <a:avLst/>
          </a:prstGeom>
        </p:spPr>
        <p:txBody>
          <a:bodyPr lIns="0" tIns="0" rIns="0" bIns="0" rtlCol="0" anchor="t">
            <a:spAutoFit/>
          </a:bodyPr>
          <a:lstStyle/>
          <a:p>
            <a:pPr algn="just">
              <a:lnSpc>
                <a:spcPts val="4799"/>
              </a:lnSpc>
            </a:pPr>
            <a:r>
              <a:rPr lang="en-US" sz="2999">
                <a:solidFill>
                  <a:srgbClr val="FAF2EA"/>
                </a:solidFill>
                <a:latin typeface="Roboto"/>
                <a:ea typeface="Roboto"/>
                <a:cs typeface="Roboto"/>
                <a:sym typeface="Roboto"/>
              </a:rPr>
              <a:t>ratings.csv</a:t>
            </a:r>
          </a:p>
        </p:txBody>
      </p:sp>
      <p:sp>
        <p:nvSpPr>
          <p:cNvPr id="16" name="TextBox 16"/>
          <p:cNvSpPr txBox="1"/>
          <p:nvPr/>
        </p:nvSpPr>
        <p:spPr>
          <a:xfrm>
            <a:off x="9426318" y="5019675"/>
            <a:ext cx="2010937" cy="571501"/>
          </a:xfrm>
          <a:prstGeom prst="rect">
            <a:avLst/>
          </a:prstGeom>
        </p:spPr>
        <p:txBody>
          <a:bodyPr lIns="0" tIns="0" rIns="0" bIns="0" rtlCol="0" anchor="t">
            <a:spAutoFit/>
          </a:bodyPr>
          <a:lstStyle/>
          <a:p>
            <a:pPr algn="just">
              <a:lnSpc>
                <a:spcPts val="4799"/>
              </a:lnSpc>
            </a:pPr>
            <a:r>
              <a:rPr lang="en-US" sz="2999">
                <a:solidFill>
                  <a:srgbClr val="FAF2EA"/>
                </a:solidFill>
                <a:latin typeface="Roboto"/>
                <a:ea typeface="Roboto"/>
                <a:cs typeface="Roboto"/>
                <a:sym typeface="Roboto"/>
              </a:rPr>
              <a:t>movies.csv</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AF2EA"/>
        </a:solidFill>
        <a:effectLst/>
      </p:bgPr>
    </p:bg>
    <p:spTree>
      <p:nvGrpSpPr>
        <p:cNvPr id="1" name=""/>
        <p:cNvGrpSpPr/>
        <p:nvPr/>
      </p:nvGrpSpPr>
      <p:grpSpPr>
        <a:xfrm>
          <a:off x="0" y="0"/>
          <a:ext cx="0" cy="0"/>
          <a:chOff x="0" y="0"/>
          <a:chExt cx="0" cy="0"/>
        </a:xfrm>
      </p:grpSpPr>
      <p:grpSp>
        <p:nvGrpSpPr>
          <p:cNvPr id="2" name="Group 2"/>
          <p:cNvGrpSpPr/>
          <p:nvPr/>
        </p:nvGrpSpPr>
        <p:grpSpPr>
          <a:xfrm>
            <a:off x="0" y="2740084"/>
            <a:ext cx="18288000" cy="7546916"/>
            <a:chOff x="0" y="0"/>
            <a:chExt cx="4816593" cy="1987665"/>
          </a:xfrm>
        </p:grpSpPr>
        <p:sp>
          <p:nvSpPr>
            <p:cNvPr id="3" name="Freeform 3"/>
            <p:cNvSpPr/>
            <p:nvPr/>
          </p:nvSpPr>
          <p:spPr>
            <a:xfrm>
              <a:off x="0" y="0"/>
              <a:ext cx="4816592" cy="1987665"/>
            </a:xfrm>
            <a:custGeom>
              <a:avLst/>
              <a:gdLst/>
              <a:ahLst/>
              <a:cxnLst/>
              <a:rect l="l" t="t" r="r" b="b"/>
              <a:pathLst>
                <a:path w="4816592" h="1987665">
                  <a:moveTo>
                    <a:pt x="0" y="0"/>
                  </a:moveTo>
                  <a:lnTo>
                    <a:pt x="4816592" y="0"/>
                  </a:lnTo>
                  <a:lnTo>
                    <a:pt x="4816592" y="1987665"/>
                  </a:lnTo>
                  <a:lnTo>
                    <a:pt x="0" y="1987665"/>
                  </a:lnTo>
                  <a:close/>
                </a:path>
              </a:pathLst>
            </a:custGeom>
            <a:solidFill>
              <a:srgbClr val="283728"/>
            </a:solidFill>
          </p:spPr>
        </p:sp>
        <p:sp>
          <p:nvSpPr>
            <p:cNvPr id="4" name="TextBox 4"/>
            <p:cNvSpPr txBox="1"/>
            <p:nvPr/>
          </p:nvSpPr>
          <p:spPr>
            <a:xfrm>
              <a:off x="0" y="-47625"/>
              <a:ext cx="4816593" cy="2035290"/>
            </a:xfrm>
            <a:prstGeom prst="rect">
              <a:avLst/>
            </a:prstGeom>
          </p:spPr>
          <p:txBody>
            <a:bodyPr lIns="50800" tIns="50800" rIns="50800" bIns="50800" rtlCol="0" anchor="ctr"/>
            <a:lstStyle/>
            <a:p>
              <a:pPr algn="ctr">
                <a:lnSpc>
                  <a:spcPts val="3079"/>
                </a:lnSpc>
              </a:pPr>
              <a:endParaRPr/>
            </a:p>
          </p:txBody>
        </p:sp>
      </p:grpSp>
      <p:grpSp>
        <p:nvGrpSpPr>
          <p:cNvPr id="5" name="Group 5"/>
          <p:cNvGrpSpPr/>
          <p:nvPr/>
        </p:nvGrpSpPr>
        <p:grpSpPr>
          <a:xfrm>
            <a:off x="16610134" y="0"/>
            <a:ext cx="1677866" cy="1679634"/>
            <a:chOff x="0" y="0"/>
            <a:chExt cx="568780" cy="569379"/>
          </a:xfrm>
        </p:grpSpPr>
        <p:sp>
          <p:nvSpPr>
            <p:cNvPr id="6" name="Freeform 6"/>
            <p:cNvSpPr/>
            <p:nvPr/>
          </p:nvSpPr>
          <p:spPr>
            <a:xfrm>
              <a:off x="0" y="0"/>
              <a:ext cx="568780" cy="569379"/>
            </a:xfrm>
            <a:custGeom>
              <a:avLst/>
              <a:gdLst/>
              <a:ahLst/>
              <a:cxnLst/>
              <a:rect l="l" t="t" r="r" b="b"/>
              <a:pathLst>
                <a:path w="568780" h="569379">
                  <a:moveTo>
                    <a:pt x="0" y="0"/>
                  </a:moveTo>
                  <a:lnTo>
                    <a:pt x="568780" y="0"/>
                  </a:lnTo>
                  <a:lnTo>
                    <a:pt x="568780" y="569379"/>
                  </a:lnTo>
                  <a:lnTo>
                    <a:pt x="0" y="569379"/>
                  </a:lnTo>
                  <a:close/>
                </a:path>
              </a:pathLst>
            </a:custGeom>
            <a:solidFill>
              <a:srgbClr val="283728"/>
            </a:solidFill>
          </p:spPr>
        </p:sp>
        <p:sp>
          <p:nvSpPr>
            <p:cNvPr id="7" name="TextBox 7"/>
            <p:cNvSpPr txBox="1"/>
            <p:nvPr/>
          </p:nvSpPr>
          <p:spPr>
            <a:xfrm>
              <a:off x="0" y="-47625"/>
              <a:ext cx="568780" cy="617004"/>
            </a:xfrm>
            <a:prstGeom prst="rect">
              <a:avLst/>
            </a:prstGeom>
          </p:spPr>
          <p:txBody>
            <a:bodyPr lIns="50800" tIns="50800" rIns="50800" bIns="50800" rtlCol="0" anchor="ctr"/>
            <a:lstStyle/>
            <a:p>
              <a:pPr algn="ctr">
                <a:lnSpc>
                  <a:spcPts val="3079"/>
                </a:lnSpc>
              </a:pPr>
              <a:endParaRPr/>
            </a:p>
          </p:txBody>
        </p:sp>
      </p:grpSp>
      <p:sp>
        <p:nvSpPr>
          <p:cNvPr id="8" name="Freeform 8"/>
          <p:cNvSpPr/>
          <p:nvPr/>
        </p:nvSpPr>
        <p:spPr>
          <a:xfrm>
            <a:off x="16872103" y="188695"/>
            <a:ext cx="1156433" cy="1302244"/>
          </a:xfrm>
          <a:custGeom>
            <a:avLst/>
            <a:gdLst/>
            <a:ahLst/>
            <a:cxnLst/>
            <a:rect l="l" t="t" r="r" b="b"/>
            <a:pathLst>
              <a:path w="1156433" h="1302244">
                <a:moveTo>
                  <a:pt x="0" y="0"/>
                </a:moveTo>
                <a:lnTo>
                  <a:pt x="1156433" y="0"/>
                </a:lnTo>
                <a:lnTo>
                  <a:pt x="1156433" y="1302244"/>
                </a:lnTo>
                <a:lnTo>
                  <a:pt x="0" y="1302244"/>
                </a:lnTo>
                <a:lnTo>
                  <a:pt x="0" y="0"/>
                </a:lnTo>
                <a:close/>
              </a:path>
            </a:pathLst>
          </a:custGeom>
          <a:blipFill>
            <a:blip r:embed="rId2"/>
            <a:stretch>
              <a:fillRect/>
            </a:stretch>
          </a:blipFill>
        </p:spPr>
      </p:sp>
      <p:sp>
        <p:nvSpPr>
          <p:cNvPr id="9" name="Freeform 9"/>
          <p:cNvSpPr/>
          <p:nvPr/>
        </p:nvSpPr>
        <p:spPr>
          <a:xfrm>
            <a:off x="3420544" y="4899234"/>
            <a:ext cx="11446912" cy="3228616"/>
          </a:xfrm>
          <a:custGeom>
            <a:avLst/>
            <a:gdLst/>
            <a:ahLst/>
            <a:cxnLst/>
            <a:rect l="l" t="t" r="r" b="b"/>
            <a:pathLst>
              <a:path w="11446912" h="3228616">
                <a:moveTo>
                  <a:pt x="0" y="0"/>
                </a:moveTo>
                <a:lnTo>
                  <a:pt x="11446912" y="0"/>
                </a:lnTo>
                <a:lnTo>
                  <a:pt x="11446912" y="3228616"/>
                </a:lnTo>
                <a:lnTo>
                  <a:pt x="0" y="3228616"/>
                </a:lnTo>
                <a:lnTo>
                  <a:pt x="0" y="0"/>
                </a:lnTo>
                <a:close/>
              </a:path>
            </a:pathLst>
          </a:custGeom>
          <a:blipFill>
            <a:blip r:embed="rId3"/>
            <a:stretch>
              <a:fillRect/>
            </a:stretch>
          </a:blipFill>
        </p:spPr>
      </p:sp>
      <p:sp>
        <p:nvSpPr>
          <p:cNvPr id="10" name="TextBox 10"/>
          <p:cNvSpPr txBox="1"/>
          <p:nvPr/>
        </p:nvSpPr>
        <p:spPr>
          <a:xfrm>
            <a:off x="16610134" y="9518480"/>
            <a:ext cx="598073" cy="311277"/>
          </a:xfrm>
          <a:prstGeom prst="rect">
            <a:avLst/>
          </a:prstGeom>
        </p:spPr>
        <p:txBody>
          <a:bodyPr lIns="0" tIns="0" rIns="0" bIns="0" rtlCol="0" anchor="t">
            <a:spAutoFit/>
          </a:bodyPr>
          <a:lstStyle/>
          <a:p>
            <a:pPr algn="ctr">
              <a:lnSpc>
                <a:spcPts val="2304"/>
              </a:lnSpc>
            </a:pPr>
            <a:r>
              <a:rPr lang="en-US" sz="2400">
                <a:solidFill>
                  <a:srgbClr val="283728"/>
                </a:solidFill>
                <a:latin typeface="Adirek Sans Bold"/>
                <a:ea typeface="Adirek Sans Bold"/>
                <a:cs typeface="Adirek Sans Bold"/>
                <a:sym typeface="Adirek Sans Bold"/>
              </a:rPr>
              <a:t>2024</a:t>
            </a:r>
          </a:p>
        </p:txBody>
      </p:sp>
      <p:sp>
        <p:nvSpPr>
          <p:cNvPr id="11" name="TextBox 11"/>
          <p:cNvSpPr txBox="1"/>
          <p:nvPr/>
        </p:nvSpPr>
        <p:spPr>
          <a:xfrm>
            <a:off x="201093" y="960220"/>
            <a:ext cx="13585514" cy="978577"/>
          </a:xfrm>
          <a:prstGeom prst="rect">
            <a:avLst/>
          </a:prstGeom>
        </p:spPr>
        <p:txBody>
          <a:bodyPr lIns="0" tIns="0" rIns="0" bIns="0" rtlCol="0" anchor="t">
            <a:spAutoFit/>
          </a:bodyPr>
          <a:lstStyle/>
          <a:p>
            <a:pPr algn="l">
              <a:lnSpc>
                <a:spcPts val="5771"/>
              </a:lnSpc>
            </a:pPr>
            <a:r>
              <a:rPr lang="en-US" sz="11543">
                <a:solidFill>
                  <a:srgbClr val="283728"/>
                </a:solidFill>
                <a:latin typeface="Adirek Sans Heavy"/>
                <a:ea typeface="Adirek Sans Heavy"/>
                <a:cs typeface="Adirek Sans Heavy"/>
                <a:sym typeface="Adirek Sans Heavy"/>
              </a:rPr>
              <a:t>METODOLOGI PENELITIAN</a:t>
            </a:r>
          </a:p>
        </p:txBody>
      </p:sp>
      <p:sp>
        <p:nvSpPr>
          <p:cNvPr id="12" name="TextBox 12"/>
          <p:cNvSpPr txBox="1"/>
          <p:nvPr/>
        </p:nvSpPr>
        <p:spPr>
          <a:xfrm>
            <a:off x="201093" y="2146359"/>
            <a:ext cx="16049569" cy="593725"/>
          </a:xfrm>
          <a:prstGeom prst="rect">
            <a:avLst/>
          </a:prstGeom>
        </p:spPr>
        <p:txBody>
          <a:bodyPr lIns="0" tIns="0" rIns="0" bIns="0" rtlCol="0" anchor="t">
            <a:spAutoFit/>
          </a:bodyPr>
          <a:lstStyle/>
          <a:p>
            <a:pPr algn="l">
              <a:lnSpc>
                <a:spcPts val="3499"/>
              </a:lnSpc>
            </a:pPr>
            <a:r>
              <a:rPr lang="en-US" sz="6999">
                <a:solidFill>
                  <a:srgbClr val="283728"/>
                </a:solidFill>
                <a:latin typeface="Adirek Sans Bold"/>
                <a:ea typeface="Adirek Sans Bold"/>
                <a:cs typeface="Adirek Sans Bold"/>
                <a:sym typeface="Adirek Sans Bold"/>
              </a:rPr>
              <a:t>PERANCANGAN MODEL</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AF2EA"/>
        </a:solidFill>
        <a:effectLst/>
      </p:bgPr>
    </p:bg>
    <p:spTree>
      <p:nvGrpSpPr>
        <p:cNvPr id="1" name=""/>
        <p:cNvGrpSpPr/>
        <p:nvPr/>
      </p:nvGrpSpPr>
      <p:grpSpPr>
        <a:xfrm>
          <a:off x="0" y="0"/>
          <a:ext cx="0" cy="0"/>
          <a:chOff x="0" y="0"/>
          <a:chExt cx="0" cy="0"/>
        </a:xfrm>
      </p:grpSpPr>
      <p:grpSp>
        <p:nvGrpSpPr>
          <p:cNvPr id="2" name="Group 2"/>
          <p:cNvGrpSpPr/>
          <p:nvPr/>
        </p:nvGrpSpPr>
        <p:grpSpPr>
          <a:xfrm>
            <a:off x="0" y="2740084"/>
            <a:ext cx="18288000" cy="7546916"/>
            <a:chOff x="0" y="0"/>
            <a:chExt cx="4816593" cy="1987665"/>
          </a:xfrm>
        </p:grpSpPr>
        <p:sp>
          <p:nvSpPr>
            <p:cNvPr id="3" name="Freeform 3"/>
            <p:cNvSpPr/>
            <p:nvPr/>
          </p:nvSpPr>
          <p:spPr>
            <a:xfrm>
              <a:off x="0" y="0"/>
              <a:ext cx="4816592" cy="1987665"/>
            </a:xfrm>
            <a:custGeom>
              <a:avLst/>
              <a:gdLst/>
              <a:ahLst/>
              <a:cxnLst/>
              <a:rect l="l" t="t" r="r" b="b"/>
              <a:pathLst>
                <a:path w="4816592" h="1987665">
                  <a:moveTo>
                    <a:pt x="0" y="0"/>
                  </a:moveTo>
                  <a:lnTo>
                    <a:pt x="4816592" y="0"/>
                  </a:lnTo>
                  <a:lnTo>
                    <a:pt x="4816592" y="1987665"/>
                  </a:lnTo>
                  <a:lnTo>
                    <a:pt x="0" y="1987665"/>
                  </a:lnTo>
                  <a:close/>
                </a:path>
              </a:pathLst>
            </a:custGeom>
            <a:solidFill>
              <a:srgbClr val="283728"/>
            </a:solidFill>
          </p:spPr>
        </p:sp>
        <p:sp>
          <p:nvSpPr>
            <p:cNvPr id="4" name="TextBox 4"/>
            <p:cNvSpPr txBox="1"/>
            <p:nvPr/>
          </p:nvSpPr>
          <p:spPr>
            <a:xfrm>
              <a:off x="0" y="-47625"/>
              <a:ext cx="4816593" cy="2035290"/>
            </a:xfrm>
            <a:prstGeom prst="rect">
              <a:avLst/>
            </a:prstGeom>
          </p:spPr>
          <p:txBody>
            <a:bodyPr lIns="50800" tIns="50800" rIns="50800" bIns="50800" rtlCol="0" anchor="ctr"/>
            <a:lstStyle/>
            <a:p>
              <a:pPr algn="ctr">
                <a:lnSpc>
                  <a:spcPts val="3079"/>
                </a:lnSpc>
              </a:pPr>
              <a:endParaRPr/>
            </a:p>
          </p:txBody>
        </p:sp>
      </p:grpSp>
      <p:grpSp>
        <p:nvGrpSpPr>
          <p:cNvPr id="5" name="Group 5"/>
          <p:cNvGrpSpPr/>
          <p:nvPr/>
        </p:nvGrpSpPr>
        <p:grpSpPr>
          <a:xfrm>
            <a:off x="16610134" y="0"/>
            <a:ext cx="1677866" cy="1679634"/>
            <a:chOff x="0" y="0"/>
            <a:chExt cx="568780" cy="569379"/>
          </a:xfrm>
        </p:grpSpPr>
        <p:sp>
          <p:nvSpPr>
            <p:cNvPr id="6" name="Freeform 6"/>
            <p:cNvSpPr/>
            <p:nvPr/>
          </p:nvSpPr>
          <p:spPr>
            <a:xfrm>
              <a:off x="0" y="0"/>
              <a:ext cx="568780" cy="569379"/>
            </a:xfrm>
            <a:custGeom>
              <a:avLst/>
              <a:gdLst/>
              <a:ahLst/>
              <a:cxnLst/>
              <a:rect l="l" t="t" r="r" b="b"/>
              <a:pathLst>
                <a:path w="568780" h="569379">
                  <a:moveTo>
                    <a:pt x="0" y="0"/>
                  </a:moveTo>
                  <a:lnTo>
                    <a:pt x="568780" y="0"/>
                  </a:lnTo>
                  <a:lnTo>
                    <a:pt x="568780" y="569379"/>
                  </a:lnTo>
                  <a:lnTo>
                    <a:pt x="0" y="569379"/>
                  </a:lnTo>
                  <a:close/>
                </a:path>
              </a:pathLst>
            </a:custGeom>
            <a:solidFill>
              <a:srgbClr val="283728"/>
            </a:solidFill>
          </p:spPr>
        </p:sp>
        <p:sp>
          <p:nvSpPr>
            <p:cNvPr id="7" name="TextBox 7"/>
            <p:cNvSpPr txBox="1"/>
            <p:nvPr/>
          </p:nvSpPr>
          <p:spPr>
            <a:xfrm>
              <a:off x="0" y="-47625"/>
              <a:ext cx="568780" cy="617004"/>
            </a:xfrm>
            <a:prstGeom prst="rect">
              <a:avLst/>
            </a:prstGeom>
          </p:spPr>
          <p:txBody>
            <a:bodyPr lIns="50800" tIns="50800" rIns="50800" bIns="50800" rtlCol="0" anchor="ctr"/>
            <a:lstStyle/>
            <a:p>
              <a:pPr algn="ctr">
                <a:lnSpc>
                  <a:spcPts val="3079"/>
                </a:lnSpc>
              </a:pPr>
              <a:endParaRPr/>
            </a:p>
          </p:txBody>
        </p:sp>
      </p:grpSp>
      <p:sp>
        <p:nvSpPr>
          <p:cNvPr id="8" name="Freeform 8"/>
          <p:cNvSpPr/>
          <p:nvPr/>
        </p:nvSpPr>
        <p:spPr>
          <a:xfrm>
            <a:off x="16872103" y="188695"/>
            <a:ext cx="1156433" cy="1302244"/>
          </a:xfrm>
          <a:custGeom>
            <a:avLst/>
            <a:gdLst/>
            <a:ahLst/>
            <a:cxnLst/>
            <a:rect l="l" t="t" r="r" b="b"/>
            <a:pathLst>
              <a:path w="1156433" h="1302244">
                <a:moveTo>
                  <a:pt x="0" y="0"/>
                </a:moveTo>
                <a:lnTo>
                  <a:pt x="1156433" y="0"/>
                </a:lnTo>
                <a:lnTo>
                  <a:pt x="1156433" y="1302244"/>
                </a:lnTo>
                <a:lnTo>
                  <a:pt x="0" y="1302244"/>
                </a:lnTo>
                <a:lnTo>
                  <a:pt x="0" y="0"/>
                </a:lnTo>
                <a:close/>
              </a:path>
            </a:pathLst>
          </a:custGeom>
          <a:blipFill>
            <a:blip r:embed="rId2"/>
            <a:stretch>
              <a:fillRect/>
            </a:stretch>
          </a:blipFill>
        </p:spPr>
      </p:sp>
      <p:sp>
        <p:nvSpPr>
          <p:cNvPr id="9" name="Freeform 9"/>
          <p:cNvSpPr/>
          <p:nvPr/>
        </p:nvSpPr>
        <p:spPr>
          <a:xfrm>
            <a:off x="1378829" y="3299440"/>
            <a:ext cx="15530342" cy="2895487"/>
          </a:xfrm>
          <a:custGeom>
            <a:avLst/>
            <a:gdLst/>
            <a:ahLst/>
            <a:cxnLst/>
            <a:rect l="l" t="t" r="r" b="b"/>
            <a:pathLst>
              <a:path w="15530342" h="2895487">
                <a:moveTo>
                  <a:pt x="0" y="0"/>
                </a:moveTo>
                <a:lnTo>
                  <a:pt x="15530342" y="0"/>
                </a:lnTo>
                <a:lnTo>
                  <a:pt x="15530342" y="2895487"/>
                </a:lnTo>
                <a:lnTo>
                  <a:pt x="0" y="2895487"/>
                </a:lnTo>
                <a:lnTo>
                  <a:pt x="0" y="0"/>
                </a:lnTo>
                <a:close/>
              </a:path>
            </a:pathLst>
          </a:custGeom>
          <a:blipFill>
            <a:blip r:embed="rId3"/>
            <a:stretch>
              <a:fillRect/>
            </a:stretch>
          </a:blipFill>
        </p:spPr>
      </p:sp>
      <p:sp>
        <p:nvSpPr>
          <p:cNvPr id="10" name="Freeform 10"/>
          <p:cNvSpPr/>
          <p:nvPr/>
        </p:nvSpPr>
        <p:spPr>
          <a:xfrm>
            <a:off x="3196900" y="6775415"/>
            <a:ext cx="11894200" cy="2482885"/>
          </a:xfrm>
          <a:custGeom>
            <a:avLst/>
            <a:gdLst/>
            <a:ahLst/>
            <a:cxnLst/>
            <a:rect l="l" t="t" r="r" b="b"/>
            <a:pathLst>
              <a:path w="11894200" h="2482885">
                <a:moveTo>
                  <a:pt x="0" y="0"/>
                </a:moveTo>
                <a:lnTo>
                  <a:pt x="11894200" y="0"/>
                </a:lnTo>
                <a:lnTo>
                  <a:pt x="11894200" y="2482885"/>
                </a:lnTo>
                <a:lnTo>
                  <a:pt x="0" y="2482885"/>
                </a:lnTo>
                <a:lnTo>
                  <a:pt x="0" y="0"/>
                </a:lnTo>
                <a:close/>
              </a:path>
            </a:pathLst>
          </a:custGeom>
          <a:blipFill>
            <a:blip r:embed="rId4"/>
            <a:stretch>
              <a:fillRect/>
            </a:stretch>
          </a:blipFill>
        </p:spPr>
      </p:sp>
      <p:sp>
        <p:nvSpPr>
          <p:cNvPr id="11" name="TextBox 11"/>
          <p:cNvSpPr txBox="1"/>
          <p:nvPr/>
        </p:nvSpPr>
        <p:spPr>
          <a:xfrm>
            <a:off x="16610134" y="9518480"/>
            <a:ext cx="598073" cy="311277"/>
          </a:xfrm>
          <a:prstGeom prst="rect">
            <a:avLst/>
          </a:prstGeom>
        </p:spPr>
        <p:txBody>
          <a:bodyPr lIns="0" tIns="0" rIns="0" bIns="0" rtlCol="0" anchor="t">
            <a:spAutoFit/>
          </a:bodyPr>
          <a:lstStyle/>
          <a:p>
            <a:pPr algn="ctr">
              <a:lnSpc>
                <a:spcPts val="2304"/>
              </a:lnSpc>
            </a:pPr>
            <a:r>
              <a:rPr lang="en-US" sz="2400">
                <a:solidFill>
                  <a:srgbClr val="283728"/>
                </a:solidFill>
                <a:latin typeface="Adirek Sans Bold"/>
                <a:ea typeface="Adirek Sans Bold"/>
                <a:cs typeface="Adirek Sans Bold"/>
                <a:sym typeface="Adirek Sans Bold"/>
              </a:rPr>
              <a:t>2024</a:t>
            </a:r>
          </a:p>
        </p:txBody>
      </p:sp>
      <p:sp>
        <p:nvSpPr>
          <p:cNvPr id="12" name="TextBox 12"/>
          <p:cNvSpPr txBox="1"/>
          <p:nvPr/>
        </p:nvSpPr>
        <p:spPr>
          <a:xfrm>
            <a:off x="201093" y="960220"/>
            <a:ext cx="13585514" cy="978577"/>
          </a:xfrm>
          <a:prstGeom prst="rect">
            <a:avLst/>
          </a:prstGeom>
        </p:spPr>
        <p:txBody>
          <a:bodyPr lIns="0" tIns="0" rIns="0" bIns="0" rtlCol="0" anchor="t">
            <a:spAutoFit/>
          </a:bodyPr>
          <a:lstStyle/>
          <a:p>
            <a:pPr algn="l">
              <a:lnSpc>
                <a:spcPts val="5771"/>
              </a:lnSpc>
            </a:pPr>
            <a:r>
              <a:rPr lang="en-US" sz="11543">
                <a:solidFill>
                  <a:srgbClr val="283728"/>
                </a:solidFill>
                <a:latin typeface="Adirek Sans Heavy"/>
                <a:ea typeface="Adirek Sans Heavy"/>
                <a:cs typeface="Adirek Sans Heavy"/>
                <a:sym typeface="Adirek Sans Heavy"/>
              </a:rPr>
              <a:t>METODOLOGI PENELITIAN</a:t>
            </a:r>
          </a:p>
        </p:txBody>
      </p:sp>
      <p:sp>
        <p:nvSpPr>
          <p:cNvPr id="13" name="TextBox 13"/>
          <p:cNvSpPr txBox="1"/>
          <p:nvPr/>
        </p:nvSpPr>
        <p:spPr>
          <a:xfrm>
            <a:off x="201093" y="2146359"/>
            <a:ext cx="16049569" cy="593725"/>
          </a:xfrm>
          <a:prstGeom prst="rect">
            <a:avLst/>
          </a:prstGeom>
        </p:spPr>
        <p:txBody>
          <a:bodyPr lIns="0" tIns="0" rIns="0" bIns="0" rtlCol="0" anchor="t">
            <a:spAutoFit/>
          </a:bodyPr>
          <a:lstStyle/>
          <a:p>
            <a:pPr algn="l">
              <a:lnSpc>
                <a:spcPts val="3499"/>
              </a:lnSpc>
            </a:pPr>
            <a:r>
              <a:rPr lang="en-US" sz="6999">
                <a:solidFill>
                  <a:srgbClr val="283728"/>
                </a:solidFill>
                <a:latin typeface="Adirek Sans Heavy"/>
                <a:ea typeface="Adirek Sans Heavy"/>
                <a:cs typeface="Adirek Sans Heavy"/>
                <a:sym typeface="Adirek Sans Heavy"/>
              </a:rPr>
              <a:t>PREPROCCESSING DATA</a:t>
            </a:r>
          </a:p>
        </p:txBody>
      </p:sp>
      <p:sp>
        <p:nvSpPr>
          <p:cNvPr id="14" name="TextBox 14"/>
          <p:cNvSpPr txBox="1"/>
          <p:nvPr/>
        </p:nvSpPr>
        <p:spPr>
          <a:xfrm>
            <a:off x="201093" y="6651590"/>
            <a:ext cx="2560640" cy="571501"/>
          </a:xfrm>
          <a:prstGeom prst="rect">
            <a:avLst/>
          </a:prstGeom>
        </p:spPr>
        <p:txBody>
          <a:bodyPr lIns="0" tIns="0" rIns="0" bIns="0" rtlCol="0" anchor="t">
            <a:spAutoFit/>
          </a:bodyPr>
          <a:lstStyle/>
          <a:p>
            <a:pPr algn="just">
              <a:lnSpc>
                <a:spcPts val="4799"/>
              </a:lnSpc>
            </a:pPr>
            <a:r>
              <a:rPr lang="en-US" sz="2999">
                <a:solidFill>
                  <a:srgbClr val="FAF2EA"/>
                </a:solidFill>
                <a:latin typeface="Roboto"/>
                <a:ea typeface="Roboto"/>
                <a:cs typeface="Roboto"/>
                <a:sym typeface="Roboto"/>
              </a:rPr>
              <a:t>Matriks sparse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AF2EA"/>
        </a:solidFill>
        <a:effectLst/>
      </p:bgPr>
    </p:bg>
    <p:spTree>
      <p:nvGrpSpPr>
        <p:cNvPr id="1" name=""/>
        <p:cNvGrpSpPr/>
        <p:nvPr/>
      </p:nvGrpSpPr>
      <p:grpSpPr>
        <a:xfrm>
          <a:off x="0" y="0"/>
          <a:ext cx="0" cy="0"/>
          <a:chOff x="0" y="0"/>
          <a:chExt cx="0" cy="0"/>
        </a:xfrm>
      </p:grpSpPr>
      <p:grpSp>
        <p:nvGrpSpPr>
          <p:cNvPr id="2" name="Group 2"/>
          <p:cNvGrpSpPr/>
          <p:nvPr/>
        </p:nvGrpSpPr>
        <p:grpSpPr>
          <a:xfrm>
            <a:off x="0" y="2740084"/>
            <a:ext cx="18288000" cy="7546916"/>
            <a:chOff x="0" y="0"/>
            <a:chExt cx="4816593" cy="1987665"/>
          </a:xfrm>
        </p:grpSpPr>
        <p:sp>
          <p:nvSpPr>
            <p:cNvPr id="3" name="Freeform 3"/>
            <p:cNvSpPr/>
            <p:nvPr/>
          </p:nvSpPr>
          <p:spPr>
            <a:xfrm>
              <a:off x="0" y="0"/>
              <a:ext cx="4816592" cy="1987665"/>
            </a:xfrm>
            <a:custGeom>
              <a:avLst/>
              <a:gdLst/>
              <a:ahLst/>
              <a:cxnLst/>
              <a:rect l="l" t="t" r="r" b="b"/>
              <a:pathLst>
                <a:path w="4816592" h="1987665">
                  <a:moveTo>
                    <a:pt x="0" y="0"/>
                  </a:moveTo>
                  <a:lnTo>
                    <a:pt x="4816592" y="0"/>
                  </a:lnTo>
                  <a:lnTo>
                    <a:pt x="4816592" y="1987665"/>
                  </a:lnTo>
                  <a:lnTo>
                    <a:pt x="0" y="1987665"/>
                  </a:lnTo>
                  <a:close/>
                </a:path>
              </a:pathLst>
            </a:custGeom>
            <a:solidFill>
              <a:srgbClr val="283728"/>
            </a:solidFill>
          </p:spPr>
        </p:sp>
        <p:sp>
          <p:nvSpPr>
            <p:cNvPr id="4" name="TextBox 4"/>
            <p:cNvSpPr txBox="1"/>
            <p:nvPr/>
          </p:nvSpPr>
          <p:spPr>
            <a:xfrm>
              <a:off x="0" y="-47625"/>
              <a:ext cx="4816593" cy="2035290"/>
            </a:xfrm>
            <a:prstGeom prst="rect">
              <a:avLst/>
            </a:prstGeom>
          </p:spPr>
          <p:txBody>
            <a:bodyPr lIns="50800" tIns="50800" rIns="50800" bIns="50800" rtlCol="0" anchor="ctr"/>
            <a:lstStyle/>
            <a:p>
              <a:pPr algn="ctr">
                <a:lnSpc>
                  <a:spcPts val="3079"/>
                </a:lnSpc>
              </a:pPr>
              <a:endParaRPr/>
            </a:p>
          </p:txBody>
        </p:sp>
      </p:grpSp>
      <p:grpSp>
        <p:nvGrpSpPr>
          <p:cNvPr id="5" name="Group 5"/>
          <p:cNvGrpSpPr/>
          <p:nvPr/>
        </p:nvGrpSpPr>
        <p:grpSpPr>
          <a:xfrm>
            <a:off x="16610134" y="0"/>
            <a:ext cx="1677866" cy="1679634"/>
            <a:chOff x="0" y="0"/>
            <a:chExt cx="568780" cy="569379"/>
          </a:xfrm>
        </p:grpSpPr>
        <p:sp>
          <p:nvSpPr>
            <p:cNvPr id="6" name="Freeform 6"/>
            <p:cNvSpPr/>
            <p:nvPr/>
          </p:nvSpPr>
          <p:spPr>
            <a:xfrm>
              <a:off x="0" y="0"/>
              <a:ext cx="568780" cy="569379"/>
            </a:xfrm>
            <a:custGeom>
              <a:avLst/>
              <a:gdLst/>
              <a:ahLst/>
              <a:cxnLst/>
              <a:rect l="l" t="t" r="r" b="b"/>
              <a:pathLst>
                <a:path w="568780" h="569379">
                  <a:moveTo>
                    <a:pt x="0" y="0"/>
                  </a:moveTo>
                  <a:lnTo>
                    <a:pt x="568780" y="0"/>
                  </a:lnTo>
                  <a:lnTo>
                    <a:pt x="568780" y="569379"/>
                  </a:lnTo>
                  <a:lnTo>
                    <a:pt x="0" y="569379"/>
                  </a:lnTo>
                  <a:close/>
                </a:path>
              </a:pathLst>
            </a:custGeom>
            <a:solidFill>
              <a:srgbClr val="283728"/>
            </a:solidFill>
          </p:spPr>
        </p:sp>
        <p:sp>
          <p:nvSpPr>
            <p:cNvPr id="7" name="TextBox 7"/>
            <p:cNvSpPr txBox="1"/>
            <p:nvPr/>
          </p:nvSpPr>
          <p:spPr>
            <a:xfrm>
              <a:off x="0" y="-47625"/>
              <a:ext cx="568780" cy="617004"/>
            </a:xfrm>
            <a:prstGeom prst="rect">
              <a:avLst/>
            </a:prstGeom>
          </p:spPr>
          <p:txBody>
            <a:bodyPr lIns="50800" tIns="50800" rIns="50800" bIns="50800" rtlCol="0" anchor="ctr"/>
            <a:lstStyle/>
            <a:p>
              <a:pPr algn="ctr">
                <a:lnSpc>
                  <a:spcPts val="3079"/>
                </a:lnSpc>
              </a:pPr>
              <a:endParaRPr/>
            </a:p>
          </p:txBody>
        </p:sp>
      </p:grpSp>
      <p:sp>
        <p:nvSpPr>
          <p:cNvPr id="8" name="Freeform 8"/>
          <p:cNvSpPr/>
          <p:nvPr/>
        </p:nvSpPr>
        <p:spPr>
          <a:xfrm>
            <a:off x="16872103" y="188695"/>
            <a:ext cx="1156433" cy="1302244"/>
          </a:xfrm>
          <a:custGeom>
            <a:avLst/>
            <a:gdLst/>
            <a:ahLst/>
            <a:cxnLst/>
            <a:rect l="l" t="t" r="r" b="b"/>
            <a:pathLst>
              <a:path w="1156433" h="1302244">
                <a:moveTo>
                  <a:pt x="0" y="0"/>
                </a:moveTo>
                <a:lnTo>
                  <a:pt x="1156433" y="0"/>
                </a:lnTo>
                <a:lnTo>
                  <a:pt x="1156433" y="1302244"/>
                </a:lnTo>
                <a:lnTo>
                  <a:pt x="0" y="1302244"/>
                </a:lnTo>
                <a:lnTo>
                  <a:pt x="0" y="0"/>
                </a:lnTo>
                <a:close/>
              </a:path>
            </a:pathLst>
          </a:custGeom>
          <a:blipFill>
            <a:blip r:embed="rId2"/>
            <a:stretch>
              <a:fillRect/>
            </a:stretch>
          </a:blipFill>
        </p:spPr>
      </p:sp>
      <p:sp>
        <p:nvSpPr>
          <p:cNvPr id="9" name="TextBox 9"/>
          <p:cNvSpPr txBox="1"/>
          <p:nvPr/>
        </p:nvSpPr>
        <p:spPr>
          <a:xfrm>
            <a:off x="16610134" y="9518480"/>
            <a:ext cx="598073" cy="311277"/>
          </a:xfrm>
          <a:prstGeom prst="rect">
            <a:avLst/>
          </a:prstGeom>
        </p:spPr>
        <p:txBody>
          <a:bodyPr lIns="0" tIns="0" rIns="0" bIns="0" rtlCol="0" anchor="t">
            <a:spAutoFit/>
          </a:bodyPr>
          <a:lstStyle/>
          <a:p>
            <a:pPr algn="ctr">
              <a:lnSpc>
                <a:spcPts val="2304"/>
              </a:lnSpc>
            </a:pPr>
            <a:r>
              <a:rPr lang="en-US" sz="2400">
                <a:solidFill>
                  <a:srgbClr val="283728"/>
                </a:solidFill>
                <a:latin typeface="Adirek Sans Bold"/>
                <a:ea typeface="Adirek Sans Bold"/>
                <a:cs typeface="Adirek Sans Bold"/>
                <a:sym typeface="Adirek Sans Bold"/>
              </a:rPr>
              <a:t>2024</a:t>
            </a:r>
          </a:p>
        </p:txBody>
      </p:sp>
      <p:sp>
        <p:nvSpPr>
          <p:cNvPr id="10" name="TextBox 10"/>
          <p:cNvSpPr txBox="1"/>
          <p:nvPr/>
        </p:nvSpPr>
        <p:spPr>
          <a:xfrm>
            <a:off x="201093" y="960220"/>
            <a:ext cx="13585514" cy="978577"/>
          </a:xfrm>
          <a:prstGeom prst="rect">
            <a:avLst/>
          </a:prstGeom>
        </p:spPr>
        <p:txBody>
          <a:bodyPr lIns="0" tIns="0" rIns="0" bIns="0" rtlCol="0" anchor="t">
            <a:spAutoFit/>
          </a:bodyPr>
          <a:lstStyle/>
          <a:p>
            <a:pPr algn="l">
              <a:lnSpc>
                <a:spcPts val="5771"/>
              </a:lnSpc>
            </a:pPr>
            <a:r>
              <a:rPr lang="en-US" sz="11543">
                <a:solidFill>
                  <a:srgbClr val="283728"/>
                </a:solidFill>
                <a:latin typeface="Adirek Sans Heavy"/>
                <a:ea typeface="Adirek Sans Heavy"/>
                <a:cs typeface="Adirek Sans Heavy"/>
                <a:sym typeface="Adirek Sans Heavy"/>
              </a:rPr>
              <a:t>METODOLOGI PENELITIAN</a:t>
            </a:r>
          </a:p>
        </p:txBody>
      </p:sp>
      <p:sp>
        <p:nvSpPr>
          <p:cNvPr id="11" name="TextBox 11"/>
          <p:cNvSpPr txBox="1"/>
          <p:nvPr/>
        </p:nvSpPr>
        <p:spPr>
          <a:xfrm>
            <a:off x="201093" y="2146359"/>
            <a:ext cx="16049569" cy="593725"/>
          </a:xfrm>
          <a:prstGeom prst="rect">
            <a:avLst/>
          </a:prstGeom>
        </p:spPr>
        <p:txBody>
          <a:bodyPr lIns="0" tIns="0" rIns="0" bIns="0" rtlCol="0" anchor="t">
            <a:spAutoFit/>
          </a:bodyPr>
          <a:lstStyle/>
          <a:p>
            <a:pPr algn="l">
              <a:lnSpc>
                <a:spcPts val="3499"/>
              </a:lnSpc>
            </a:pPr>
            <a:r>
              <a:rPr lang="en-US" sz="6999">
                <a:solidFill>
                  <a:srgbClr val="283728"/>
                </a:solidFill>
                <a:latin typeface="Adirek Sans Heavy"/>
                <a:ea typeface="Adirek Sans Heavy"/>
                <a:cs typeface="Adirek Sans Heavy"/>
                <a:sym typeface="Adirek Sans Heavy"/>
              </a:rPr>
              <a:t>PENGEMBANGAN MODEL VAE</a:t>
            </a:r>
          </a:p>
        </p:txBody>
      </p:sp>
      <p:sp>
        <p:nvSpPr>
          <p:cNvPr id="12" name="TextBox 12"/>
          <p:cNvSpPr txBox="1"/>
          <p:nvPr/>
        </p:nvSpPr>
        <p:spPr>
          <a:xfrm>
            <a:off x="201093" y="2852565"/>
            <a:ext cx="12266461" cy="1771651"/>
          </a:xfrm>
          <a:prstGeom prst="rect">
            <a:avLst/>
          </a:prstGeom>
        </p:spPr>
        <p:txBody>
          <a:bodyPr lIns="0" tIns="0" rIns="0" bIns="0" rtlCol="0" anchor="t">
            <a:spAutoFit/>
          </a:bodyPr>
          <a:lstStyle/>
          <a:p>
            <a:pPr algn="just">
              <a:lnSpc>
                <a:spcPts val="4799"/>
              </a:lnSpc>
            </a:pPr>
            <a:r>
              <a:rPr lang="en-US" sz="2999">
                <a:solidFill>
                  <a:srgbClr val="FAF2EA"/>
                </a:solidFill>
                <a:latin typeface="Roboto"/>
                <a:ea typeface="Roboto"/>
                <a:cs typeface="Roboto"/>
                <a:sym typeface="Roboto"/>
              </a:rPr>
              <a:t>Variational Autoencoder (VAE) akan digunakan untuk menghasilkan representasi laten dari matriks rating. VAE akan diberikan data masukan yaitu matriks rating. </a:t>
            </a:r>
          </a:p>
        </p:txBody>
      </p:sp>
      <p:sp>
        <p:nvSpPr>
          <p:cNvPr id="13" name="TextBox 13"/>
          <p:cNvSpPr txBox="1"/>
          <p:nvPr/>
        </p:nvSpPr>
        <p:spPr>
          <a:xfrm>
            <a:off x="201093" y="4786141"/>
            <a:ext cx="12360981" cy="1171576"/>
          </a:xfrm>
          <a:prstGeom prst="rect">
            <a:avLst/>
          </a:prstGeom>
        </p:spPr>
        <p:txBody>
          <a:bodyPr lIns="0" tIns="0" rIns="0" bIns="0" rtlCol="0" anchor="t">
            <a:spAutoFit/>
          </a:bodyPr>
          <a:lstStyle/>
          <a:p>
            <a:pPr algn="just">
              <a:lnSpc>
                <a:spcPts val="4799"/>
              </a:lnSpc>
            </a:pPr>
            <a:r>
              <a:rPr lang="en-US" sz="2999">
                <a:solidFill>
                  <a:srgbClr val="FAF2EA"/>
                </a:solidFill>
                <a:latin typeface="Roboto"/>
                <a:ea typeface="Roboto"/>
                <a:cs typeface="Roboto"/>
                <a:sym typeface="Roboto"/>
              </a:rPr>
              <a:t>Lapisan encoder pada VAE akan menerima data dan menghasilkan rata-rata dan log-variance dari distribusi</a:t>
            </a:r>
          </a:p>
        </p:txBody>
      </p:sp>
      <p:sp>
        <p:nvSpPr>
          <p:cNvPr id="14" name="TextBox 14"/>
          <p:cNvSpPr txBox="1"/>
          <p:nvPr/>
        </p:nvSpPr>
        <p:spPr>
          <a:xfrm>
            <a:off x="201093" y="6119642"/>
            <a:ext cx="12360981" cy="1171576"/>
          </a:xfrm>
          <a:prstGeom prst="rect">
            <a:avLst/>
          </a:prstGeom>
        </p:spPr>
        <p:txBody>
          <a:bodyPr lIns="0" tIns="0" rIns="0" bIns="0" rtlCol="0" anchor="t">
            <a:spAutoFit/>
          </a:bodyPr>
          <a:lstStyle/>
          <a:p>
            <a:pPr algn="just">
              <a:lnSpc>
                <a:spcPts val="4799"/>
              </a:lnSpc>
            </a:pPr>
            <a:r>
              <a:rPr lang="en-US" sz="2999">
                <a:solidFill>
                  <a:srgbClr val="FAF2EA"/>
                </a:solidFill>
                <a:latin typeface="Roboto"/>
                <a:ea typeface="Roboto"/>
                <a:cs typeface="Roboto"/>
                <a:sym typeface="Roboto"/>
              </a:rPr>
              <a:t>Lapisan sampling akan mengambil sampel dari distribusi ini dan menyimpannya sebagai representasi laten dari data masukan</a:t>
            </a:r>
          </a:p>
        </p:txBody>
      </p:sp>
      <p:sp>
        <p:nvSpPr>
          <p:cNvPr id="15" name="TextBox 15"/>
          <p:cNvSpPr txBox="1"/>
          <p:nvPr/>
        </p:nvSpPr>
        <p:spPr>
          <a:xfrm>
            <a:off x="201093" y="7453143"/>
            <a:ext cx="12360981" cy="1171576"/>
          </a:xfrm>
          <a:prstGeom prst="rect">
            <a:avLst/>
          </a:prstGeom>
        </p:spPr>
        <p:txBody>
          <a:bodyPr lIns="0" tIns="0" rIns="0" bIns="0" rtlCol="0" anchor="t">
            <a:spAutoFit/>
          </a:bodyPr>
          <a:lstStyle/>
          <a:p>
            <a:pPr algn="just">
              <a:lnSpc>
                <a:spcPts val="4799"/>
              </a:lnSpc>
            </a:pPr>
            <a:r>
              <a:rPr lang="en-US" sz="2999">
                <a:solidFill>
                  <a:srgbClr val="FAF2EA"/>
                </a:solidFill>
                <a:latin typeface="Roboto"/>
                <a:ea typeface="Roboto"/>
                <a:cs typeface="Roboto"/>
                <a:sym typeface="Roboto"/>
              </a:rPr>
              <a:t>Lapisan decoder menggunakan representasi laten untuk merekonstruksi data masukan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AF2EA"/>
        </a:solidFill>
        <a:effectLst/>
      </p:bgPr>
    </p:bg>
    <p:spTree>
      <p:nvGrpSpPr>
        <p:cNvPr id="1" name=""/>
        <p:cNvGrpSpPr/>
        <p:nvPr/>
      </p:nvGrpSpPr>
      <p:grpSpPr>
        <a:xfrm>
          <a:off x="0" y="0"/>
          <a:ext cx="0" cy="0"/>
          <a:chOff x="0" y="0"/>
          <a:chExt cx="0" cy="0"/>
        </a:xfrm>
      </p:grpSpPr>
      <p:grpSp>
        <p:nvGrpSpPr>
          <p:cNvPr id="2" name="Group 2"/>
          <p:cNvGrpSpPr/>
          <p:nvPr/>
        </p:nvGrpSpPr>
        <p:grpSpPr>
          <a:xfrm>
            <a:off x="0" y="2740084"/>
            <a:ext cx="18288000" cy="7546916"/>
            <a:chOff x="0" y="0"/>
            <a:chExt cx="4816593" cy="1987665"/>
          </a:xfrm>
        </p:grpSpPr>
        <p:sp>
          <p:nvSpPr>
            <p:cNvPr id="3" name="Freeform 3"/>
            <p:cNvSpPr/>
            <p:nvPr/>
          </p:nvSpPr>
          <p:spPr>
            <a:xfrm>
              <a:off x="0" y="0"/>
              <a:ext cx="4816592" cy="1987665"/>
            </a:xfrm>
            <a:custGeom>
              <a:avLst/>
              <a:gdLst/>
              <a:ahLst/>
              <a:cxnLst/>
              <a:rect l="l" t="t" r="r" b="b"/>
              <a:pathLst>
                <a:path w="4816592" h="1987665">
                  <a:moveTo>
                    <a:pt x="0" y="0"/>
                  </a:moveTo>
                  <a:lnTo>
                    <a:pt x="4816592" y="0"/>
                  </a:lnTo>
                  <a:lnTo>
                    <a:pt x="4816592" y="1987665"/>
                  </a:lnTo>
                  <a:lnTo>
                    <a:pt x="0" y="1987665"/>
                  </a:lnTo>
                  <a:close/>
                </a:path>
              </a:pathLst>
            </a:custGeom>
            <a:solidFill>
              <a:srgbClr val="283728"/>
            </a:solidFill>
          </p:spPr>
        </p:sp>
        <p:sp>
          <p:nvSpPr>
            <p:cNvPr id="4" name="TextBox 4"/>
            <p:cNvSpPr txBox="1"/>
            <p:nvPr/>
          </p:nvSpPr>
          <p:spPr>
            <a:xfrm>
              <a:off x="0" y="-47625"/>
              <a:ext cx="4816593" cy="2035290"/>
            </a:xfrm>
            <a:prstGeom prst="rect">
              <a:avLst/>
            </a:prstGeom>
          </p:spPr>
          <p:txBody>
            <a:bodyPr lIns="50800" tIns="50800" rIns="50800" bIns="50800" rtlCol="0" anchor="ctr"/>
            <a:lstStyle/>
            <a:p>
              <a:pPr algn="ctr">
                <a:lnSpc>
                  <a:spcPts val="3079"/>
                </a:lnSpc>
              </a:pPr>
              <a:endParaRPr/>
            </a:p>
          </p:txBody>
        </p:sp>
      </p:grpSp>
      <p:grpSp>
        <p:nvGrpSpPr>
          <p:cNvPr id="5" name="Group 5"/>
          <p:cNvGrpSpPr/>
          <p:nvPr/>
        </p:nvGrpSpPr>
        <p:grpSpPr>
          <a:xfrm>
            <a:off x="16610134" y="0"/>
            <a:ext cx="1677866" cy="1679634"/>
            <a:chOff x="0" y="0"/>
            <a:chExt cx="568780" cy="569379"/>
          </a:xfrm>
        </p:grpSpPr>
        <p:sp>
          <p:nvSpPr>
            <p:cNvPr id="6" name="Freeform 6"/>
            <p:cNvSpPr/>
            <p:nvPr/>
          </p:nvSpPr>
          <p:spPr>
            <a:xfrm>
              <a:off x="0" y="0"/>
              <a:ext cx="568780" cy="569379"/>
            </a:xfrm>
            <a:custGeom>
              <a:avLst/>
              <a:gdLst/>
              <a:ahLst/>
              <a:cxnLst/>
              <a:rect l="l" t="t" r="r" b="b"/>
              <a:pathLst>
                <a:path w="568780" h="569379">
                  <a:moveTo>
                    <a:pt x="0" y="0"/>
                  </a:moveTo>
                  <a:lnTo>
                    <a:pt x="568780" y="0"/>
                  </a:lnTo>
                  <a:lnTo>
                    <a:pt x="568780" y="569379"/>
                  </a:lnTo>
                  <a:lnTo>
                    <a:pt x="0" y="569379"/>
                  </a:lnTo>
                  <a:close/>
                </a:path>
              </a:pathLst>
            </a:custGeom>
            <a:solidFill>
              <a:srgbClr val="283728"/>
            </a:solidFill>
          </p:spPr>
        </p:sp>
        <p:sp>
          <p:nvSpPr>
            <p:cNvPr id="7" name="TextBox 7"/>
            <p:cNvSpPr txBox="1"/>
            <p:nvPr/>
          </p:nvSpPr>
          <p:spPr>
            <a:xfrm>
              <a:off x="0" y="-47625"/>
              <a:ext cx="568780" cy="617004"/>
            </a:xfrm>
            <a:prstGeom prst="rect">
              <a:avLst/>
            </a:prstGeom>
          </p:spPr>
          <p:txBody>
            <a:bodyPr lIns="50800" tIns="50800" rIns="50800" bIns="50800" rtlCol="0" anchor="ctr"/>
            <a:lstStyle/>
            <a:p>
              <a:pPr algn="ctr">
                <a:lnSpc>
                  <a:spcPts val="3079"/>
                </a:lnSpc>
              </a:pPr>
              <a:endParaRPr/>
            </a:p>
          </p:txBody>
        </p:sp>
      </p:grpSp>
      <p:sp>
        <p:nvSpPr>
          <p:cNvPr id="8" name="Freeform 8"/>
          <p:cNvSpPr/>
          <p:nvPr/>
        </p:nvSpPr>
        <p:spPr>
          <a:xfrm>
            <a:off x="16872103" y="188695"/>
            <a:ext cx="1156433" cy="1302244"/>
          </a:xfrm>
          <a:custGeom>
            <a:avLst/>
            <a:gdLst/>
            <a:ahLst/>
            <a:cxnLst/>
            <a:rect l="l" t="t" r="r" b="b"/>
            <a:pathLst>
              <a:path w="1156433" h="1302244">
                <a:moveTo>
                  <a:pt x="0" y="0"/>
                </a:moveTo>
                <a:lnTo>
                  <a:pt x="1156433" y="0"/>
                </a:lnTo>
                <a:lnTo>
                  <a:pt x="1156433" y="1302244"/>
                </a:lnTo>
                <a:lnTo>
                  <a:pt x="0" y="1302244"/>
                </a:lnTo>
                <a:lnTo>
                  <a:pt x="0" y="0"/>
                </a:lnTo>
                <a:close/>
              </a:path>
            </a:pathLst>
          </a:custGeom>
          <a:blipFill>
            <a:blip r:embed="rId2"/>
            <a:stretch>
              <a:fillRect/>
            </a:stretch>
          </a:blipFill>
        </p:spPr>
      </p:sp>
      <p:sp>
        <p:nvSpPr>
          <p:cNvPr id="9" name="TextBox 9"/>
          <p:cNvSpPr txBox="1"/>
          <p:nvPr/>
        </p:nvSpPr>
        <p:spPr>
          <a:xfrm>
            <a:off x="16610134" y="9518480"/>
            <a:ext cx="598073" cy="311277"/>
          </a:xfrm>
          <a:prstGeom prst="rect">
            <a:avLst/>
          </a:prstGeom>
        </p:spPr>
        <p:txBody>
          <a:bodyPr lIns="0" tIns="0" rIns="0" bIns="0" rtlCol="0" anchor="t">
            <a:spAutoFit/>
          </a:bodyPr>
          <a:lstStyle/>
          <a:p>
            <a:pPr algn="ctr">
              <a:lnSpc>
                <a:spcPts val="2304"/>
              </a:lnSpc>
            </a:pPr>
            <a:r>
              <a:rPr lang="en-US" sz="2400">
                <a:solidFill>
                  <a:srgbClr val="283728"/>
                </a:solidFill>
                <a:latin typeface="Adirek Sans Bold"/>
                <a:ea typeface="Adirek Sans Bold"/>
                <a:cs typeface="Adirek Sans Bold"/>
                <a:sym typeface="Adirek Sans Bold"/>
              </a:rPr>
              <a:t>2024</a:t>
            </a:r>
          </a:p>
        </p:txBody>
      </p:sp>
      <p:sp>
        <p:nvSpPr>
          <p:cNvPr id="10" name="TextBox 10"/>
          <p:cNvSpPr txBox="1"/>
          <p:nvPr/>
        </p:nvSpPr>
        <p:spPr>
          <a:xfrm>
            <a:off x="201093" y="960220"/>
            <a:ext cx="13585514" cy="978577"/>
          </a:xfrm>
          <a:prstGeom prst="rect">
            <a:avLst/>
          </a:prstGeom>
        </p:spPr>
        <p:txBody>
          <a:bodyPr lIns="0" tIns="0" rIns="0" bIns="0" rtlCol="0" anchor="t">
            <a:spAutoFit/>
          </a:bodyPr>
          <a:lstStyle/>
          <a:p>
            <a:pPr algn="l">
              <a:lnSpc>
                <a:spcPts val="5771"/>
              </a:lnSpc>
            </a:pPr>
            <a:r>
              <a:rPr lang="en-US" sz="11543">
                <a:solidFill>
                  <a:srgbClr val="283728"/>
                </a:solidFill>
                <a:latin typeface="Adirek Sans Heavy"/>
                <a:ea typeface="Adirek Sans Heavy"/>
                <a:cs typeface="Adirek Sans Heavy"/>
                <a:sym typeface="Adirek Sans Heavy"/>
              </a:rPr>
              <a:t>METODOLOGI PENELITIAN</a:t>
            </a:r>
          </a:p>
        </p:txBody>
      </p:sp>
      <p:sp>
        <p:nvSpPr>
          <p:cNvPr id="11" name="TextBox 11"/>
          <p:cNvSpPr txBox="1"/>
          <p:nvPr/>
        </p:nvSpPr>
        <p:spPr>
          <a:xfrm>
            <a:off x="201093" y="2146359"/>
            <a:ext cx="16049569" cy="593725"/>
          </a:xfrm>
          <a:prstGeom prst="rect">
            <a:avLst/>
          </a:prstGeom>
        </p:spPr>
        <p:txBody>
          <a:bodyPr lIns="0" tIns="0" rIns="0" bIns="0" rtlCol="0" anchor="t">
            <a:spAutoFit/>
          </a:bodyPr>
          <a:lstStyle/>
          <a:p>
            <a:pPr algn="l">
              <a:lnSpc>
                <a:spcPts val="3499"/>
              </a:lnSpc>
            </a:pPr>
            <a:r>
              <a:rPr lang="en-US" sz="6999">
                <a:solidFill>
                  <a:srgbClr val="283728"/>
                </a:solidFill>
                <a:latin typeface="Adirek Sans Heavy"/>
                <a:ea typeface="Adirek Sans Heavy"/>
                <a:cs typeface="Adirek Sans Heavy"/>
                <a:sym typeface="Adirek Sans Heavy"/>
              </a:rPr>
              <a:t>DEKOMPOSISI RSVD</a:t>
            </a:r>
          </a:p>
        </p:txBody>
      </p:sp>
      <p:sp>
        <p:nvSpPr>
          <p:cNvPr id="12" name="TextBox 12"/>
          <p:cNvSpPr txBox="1"/>
          <p:nvPr/>
        </p:nvSpPr>
        <p:spPr>
          <a:xfrm>
            <a:off x="201093" y="2852565"/>
            <a:ext cx="17827443" cy="1771651"/>
          </a:xfrm>
          <a:prstGeom prst="rect">
            <a:avLst/>
          </a:prstGeom>
        </p:spPr>
        <p:txBody>
          <a:bodyPr lIns="0" tIns="0" rIns="0" bIns="0" rtlCol="0" anchor="t">
            <a:spAutoFit/>
          </a:bodyPr>
          <a:lstStyle/>
          <a:p>
            <a:pPr algn="just">
              <a:lnSpc>
                <a:spcPts val="4799"/>
              </a:lnSpc>
            </a:pPr>
            <a:r>
              <a:rPr lang="en-US" sz="2999" dirty="0">
                <a:solidFill>
                  <a:srgbClr val="FAF2EA"/>
                </a:solidFill>
                <a:latin typeface="Roboto"/>
                <a:ea typeface="Roboto"/>
                <a:cs typeface="Roboto"/>
                <a:sym typeface="Roboto"/>
              </a:rPr>
              <a:t>Regularized Singular Value Decomposition </a:t>
            </a:r>
            <a:r>
              <a:rPr lang="en-US" sz="2999" dirty="0" err="1">
                <a:solidFill>
                  <a:srgbClr val="FAF2EA"/>
                </a:solidFill>
                <a:latin typeface="Roboto"/>
                <a:ea typeface="Roboto"/>
                <a:cs typeface="Roboto"/>
                <a:sym typeface="Roboto"/>
              </a:rPr>
              <a:t>akan</a:t>
            </a:r>
            <a:r>
              <a:rPr lang="en-US" sz="2999" dirty="0">
                <a:solidFill>
                  <a:srgbClr val="FAF2EA"/>
                </a:solidFill>
                <a:latin typeface="Roboto"/>
                <a:ea typeface="Roboto"/>
                <a:cs typeface="Roboto"/>
                <a:sym typeface="Roboto"/>
              </a:rPr>
              <a:t> </a:t>
            </a:r>
            <a:r>
              <a:rPr lang="en-US" sz="2999" dirty="0" err="1">
                <a:solidFill>
                  <a:srgbClr val="FAF2EA"/>
                </a:solidFill>
                <a:latin typeface="Roboto"/>
                <a:ea typeface="Roboto"/>
                <a:cs typeface="Roboto"/>
                <a:sym typeface="Roboto"/>
              </a:rPr>
              <a:t>digunakan</a:t>
            </a:r>
            <a:r>
              <a:rPr lang="en-US" sz="2999" dirty="0">
                <a:solidFill>
                  <a:srgbClr val="FAF2EA"/>
                </a:solidFill>
                <a:latin typeface="Roboto"/>
                <a:ea typeface="Roboto"/>
                <a:cs typeface="Roboto"/>
                <a:sym typeface="Roboto"/>
              </a:rPr>
              <a:t> untuk </a:t>
            </a:r>
            <a:r>
              <a:rPr lang="en-US" sz="2999" dirty="0" err="1">
                <a:solidFill>
                  <a:srgbClr val="FAF2EA"/>
                </a:solidFill>
                <a:latin typeface="Roboto"/>
                <a:ea typeface="Roboto"/>
                <a:cs typeface="Roboto"/>
                <a:sym typeface="Roboto"/>
              </a:rPr>
              <a:t>mendekomposisi</a:t>
            </a:r>
            <a:r>
              <a:rPr lang="en-US" sz="2999" dirty="0">
                <a:solidFill>
                  <a:srgbClr val="FAF2EA"/>
                </a:solidFill>
                <a:latin typeface="Roboto"/>
                <a:ea typeface="Roboto"/>
                <a:cs typeface="Roboto"/>
                <a:sym typeface="Roboto"/>
              </a:rPr>
              <a:t> </a:t>
            </a:r>
            <a:r>
              <a:rPr lang="en-US" sz="2999" dirty="0" err="1">
                <a:solidFill>
                  <a:srgbClr val="FAF2EA"/>
                </a:solidFill>
                <a:latin typeface="Roboto"/>
                <a:ea typeface="Roboto"/>
                <a:cs typeface="Roboto"/>
                <a:sym typeface="Roboto"/>
              </a:rPr>
              <a:t>matriks</a:t>
            </a:r>
            <a:r>
              <a:rPr lang="en-US" sz="2999" dirty="0">
                <a:solidFill>
                  <a:srgbClr val="FAF2EA"/>
                </a:solidFill>
                <a:latin typeface="Roboto"/>
                <a:ea typeface="Roboto"/>
                <a:cs typeface="Roboto"/>
                <a:sym typeface="Roboto"/>
              </a:rPr>
              <a:t> </a:t>
            </a:r>
            <a:r>
              <a:rPr lang="en-US" sz="2999" dirty="0" err="1">
                <a:solidFill>
                  <a:srgbClr val="FAF2EA"/>
                </a:solidFill>
                <a:latin typeface="Roboto"/>
                <a:ea typeface="Roboto"/>
                <a:cs typeface="Roboto"/>
                <a:sym typeface="Roboto"/>
              </a:rPr>
              <a:t>representasi</a:t>
            </a:r>
            <a:r>
              <a:rPr lang="en-US" sz="2999" dirty="0">
                <a:solidFill>
                  <a:srgbClr val="FAF2EA"/>
                </a:solidFill>
                <a:latin typeface="Roboto"/>
                <a:ea typeface="Roboto"/>
                <a:cs typeface="Roboto"/>
                <a:sym typeface="Roboto"/>
              </a:rPr>
              <a:t> laten Z yang </a:t>
            </a:r>
            <a:r>
              <a:rPr lang="en-US" sz="2999" dirty="0" err="1">
                <a:solidFill>
                  <a:srgbClr val="FAF2EA"/>
                </a:solidFill>
                <a:latin typeface="Roboto"/>
                <a:ea typeface="Roboto"/>
                <a:cs typeface="Roboto"/>
                <a:sym typeface="Roboto"/>
              </a:rPr>
              <a:t>didapatkan</a:t>
            </a:r>
            <a:r>
              <a:rPr lang="en-US" sz="2999" dirty="0">
                <a:solidFill>
                  <a:srgbClr val="FAF2EA"/>
                </a:solidFill>
                <a:latin typeface="Roboto"/>
                <a:ea typeface="Roboto"/>
                <a:cs typeface="Roboto"/>
                <a:sym typeface="Roboto"/>
              </a:rPr>
              <a:t> </a:t>
            </a:r>
            <a:r>
              <a:rPr lang="en-US" sz="2999" dirty="0" err="1">
                <a:solidFill>
                  <a:srgbClr val="FAF2EA"/>
                </a:solidFill>
                <a:latin typeface="Roboto"/>
                <a:ea typeface="Roboto"/>
                <a:cs typeface="Roboto"/>
                <a:sym typeface="Roboto"/>
              </a:rPr>
              <a:t>dari</a:t>
            </a:r>
            <a:r>
              <a:rPr lang="en-US" sz="2999" dirty="0">
                <a:solidFill>
                  <a:srgbClr val="FAF2EA"/>
                </a:solidFill>
                <a:latin typeface="Roboto"/>
                <a:ea typeface="Roboto"/>
                <a:cs typeface="Roboto"/>
                <a:sym typeface="Roboto"/>
              </a:rPr>
              <a:t> </a:t>
            </a:r>
            <a:r>
              <a:rPr lang="en-US" sz="2999" dirty="0" err="1">
                <a:solidFill>
                  <a:srgbClr val="FAF2EA"/>
                </a:solidFill>
                <a:latin typeface="Roboto"/>
                <a:ea typeface="Roboto"/>
                <a:cs typeface="Roboto"/>
                <a:sym typeface="Roboto"/>
              </a:rPr>
              <a:t>lapisan</a:t>
            </a:r>
            <a:r>
              <a:rPr lang="en-US" sz="2999" dirty="0">
                <a:solidFill>
                  <a:srgbClr val="FAF2EA"/>
                </a:solidFill>
                <a:latin typeface="Roboto"/>
                <a:ea typeface="Roboto"/>
                <a:cs typeface="Roboto"/>
                <a:sym typeface="Roboto"/>
              </a:rPr>
              <a:t> sampling VAE. Matriks Z </a:t>
            </a:r>
            <a:r>
              <a:rPr lang="en-US" sz="2999" dirty="0" err="1">
                <a:solidFill>
                  <a:srgbClr val="FAF2EA"/>
                </a:solidFill>
                <a:latin typeface="Roboto"/>
                <a:ea typeface="Roboto"/>
                <a:cs typeface="Roboto"/>
                <a:sym typeface="Roboto"/>
              </a:rPr>
              <a:t>berdimensi</a:t>
            </a:r>
            <a:r>
              <a:rPr lang="en-US" sz="2999" dirty="0">
                <a:solidFill>
                  <a:srgbClr val="FAF2EA"/>
                </a:solidFill>
                <a:latin typeface="Roboto"/>
                <a:ea typeface="Roboto"/>
                <a:cs typeface="Roboto"/>
                <a:sym typeface="Roboto"/>
              </a:rPr>
              <a:t> m x d </a:t>
            </a:r>
            <a:r>
              <a:rPr lang="en-US" sz="2999" dirty="0" err="1">
                <a:solidFill>
                  <a:srgbClr val="FAF2EA"/>
                </a:solidFill>
                <a:latin typeface="Roboto"/>
                <a:ea typeface="Roboto"/>
                <a:cs typeface="Roboto"/>
                <a:sym typeface="Roboto"/>
              </a:rPr>
              <a:t>dimana</a:t>
            </a:r>
            <a:r>
              <a:rPr lang="en-US" sz="2999" dirty="0">
                <a:solidFill>
                  <a:srgbClr val="FAF2EA"/>
                </a:solidFill>
                <a:latin typeface="Roboto"/>
                <a:ea typeface="Roboto"/>
                <a:cs typeface="Roboto"/>
                <a:sym typeface="Roboto"/>
              </a:rPr>
              <a:t> m </a:t>
            </a:r>
            <a:r>
              <a:rPr lang="en-US" sz="2999" dirty="0" err="1">
                <a:solidFill>
                  <a:srgbClr val="FAF2EA"/>
                </a:solidFill>
                <a:latin typeface="Roboto"/>
                <a:ea typeface="Roboto"/>
                <a:cs typeface="Roboto"/>
                <a:sym typeface="Roboto"/>
              </a:rPr>
              <a:t>adalah</a:t>
            </a:r>
            <a:r>
              <a:rPr lang="en-US" sz="2999" dirty="0">
                <a:solidFill>
                  <a:srgbClr val="FAF2EA"/>
                </a:solidFill>
                <a:latin typeface="Roboto"/>
                <a:ea typeface="Roboto"/>
                <a:cs typeface="Roboto"/>
                <a:sym typeface="Roboto"/>
              </a:rPr>
              <a:t> jumlah </a:t>
            </a:r>
            <a:r>
              <a:rPr lang="en-US" sz="2999" dirty="0" err="1">
                <a:solidFill>
                  <a:srgbClr val="FAF2EA"/>
                </a:solidFill>
                <a:latin typeface="Roboto"/>
                <a:ea typeface="Roboto"/>
                <a:cs typeface="Roboto"/>
                <a:sym typeface="Roboto"/>
              </a:rPr>
              <a:t>sampel</a:t>
            </a:r>
            <a:r>
              <a:rPr lang="en-US" sz="2999" dirty="0">
                <a:solidFill>
                  <a:srgbClr val="FAF2EA"/>
                </a:solidFill>
                <a:latin typeface="Roboto"/>
                <a:ea typeface="Roboto"/>
                <a:cs typeface="Roboto"/>
                <a:sym typeface="Roboto"/>
              </a:rPr>
              <a:t> dan d </a:t>
            </a:r>
            <a:r>
              <a:rPr lang="en-US" sz="2999" dirty="0" err="1">
                <a:solidFill>
                  <a:srgbClr val="FAF2EA"/>
                </a:solidFill>
                <a:latin typeface="Roboto"/>
                <a:ea typeface="Roboto"/>
                <a:cs typeface="Roboto"/>
                <a:sym typeface="Roboto"/>
              </a:rPr>
              <a:t>dimensi</a:t>
            </a:r>
            <a:r>
              <a:rPr lang="en-US" sz="2999" dirty="0">
                <a:solidFill>
                  <a:srgbClr val="FAF2EA"/>
                </a:solidFill>
                <a:latin typeface="Roboto"/>
                <a:ea typeface="Roboto"/>
                <a:cs typeface="Roboto"/>
                <a:sym typeface="Roboto"/>
              </a:rPr>
              <a:t> laten.</a:t>
            </a:r>
          </a:p>
        </p:txBody>
      </p:sp>
      <p:sp>
        <p:nvSpPr>
          <p:cNvPr id="13" name="TextBox 13"/>
          <p:cNvSpPr txBox="1"/>
          <p:nvPr/>
        </p:nvSpPr>
        <p:spPr>
          <a:xfrm>
            <a:off x="201093" y="4786141"/>
            <a:ext cx="17827443" cy="1171576"/>
          </a:xfrm>
          <a:prstGeom prst="rect">
            <a:avLst/>
          </a:prstGeom>
        </p:spPr>
        <p:txBody>
          <a:bodyPr lIns="0" tIns="0" rIns="0" bIns="0" rtlCol="0" anchor="t">
            <a:spAutoFit/>
          </a:bodyPr>
          <a:lstStyle/>
          <a:p>
            <a:pPr algn="just">
              <a:lnSpc>
                <a:spcPts val="4799"/>
              </a:lnSpc>
            </a:pPr>
            <a:r>
              <a:rPr lang="en-US" sz="2999">
                <a:solidFill>
                  <a:srgbClr val="FAF2EA"/>
                </a:solidFill>
                <a:latin typeface="Roboto"/>
                <a:ea typeface="Roboto"/>
                <a:cs typeface="Roboto"/>
                <a:sym typeface="Roboto"/>
              </a:rPr>
              <a:t>Inisialisasi matriks U berukuran m x k, V berukuran n x k, dan Σ berukuran k x k dimana k adalah jumlah faktor laten.</a:t>
            </a:r>
          </a:p>
        </p:txBody>
      </p:sp>
      <p:sp>
        <p:nvSpPr>
          <p:cNvPr id="14" name="TextBox 14"/>
          <p:cNvSpPr txBox="1"/>
          <p:nvPr/>
        </p:nvSpPr>
        <p:spPr>
          <a:xfrm>
            <a:off x="201093" y="6119642"/>
            <a:ext cx="17827443" cy="1771651"/>
          </a:xfrm>
          <a:prstGeom prst="rect">
            <a:avLst/>
          </a:prstGeom>
        </p:spPr>
        <p:txBody>
          <a:bodyPr lIns="0" tIns="0" rIns="0" bIns="0" rtlCol="0" anchor="t">
            <a:spAutoFit/>
          </a:bodyPr>
          <a:lstStyle/>
          <a:p>
            <a:pPr algn="just">
              <a:lnSpc>
                <a:spcPts val="4799"/>
              </a:lnSpc>
            </a:pPr>
            <a:r>
              <a:rPr lang="en-US" sz="2999" dirty="0">
                <a:solidFill>
                  <a:srgbClr val="FAF2EA"/>
                </a:solidFill>
                <a:latin typeface="Roboto"/>
                <a:ea typeface="Roboto"/>
                <a:cs typeface="Roboto"/>
                <a:sym typeface="Roboto"/>
              </a:rPr>
              <a:t>Matriks-</a:t>
            </a:r>
            <a:r>
              <a:rPr lang="en-US" sz="2999" dirty="0" err="1">
                <a:solidFill>
                  <a:srgbClr val="FAF2EA"/>
                </a:solidFill>
                <a:latin typeface="Roboto"/>
                <a:ea typeface="Roboto"/>
                <a:cs typeface="Roboto"/>
                <a:sym typeface="Roboto"/>
              </a:rPr>
              <a:t>matriks</a:t>
            </a:r>
            <a:r>
              <a:rPr lang="en-US" sz="2999" dirty="0">
                <a:solidFill>
                  <a:srgbClr val="FAF2EA"/>
                </a:solidFill>
                <a:latin typeface="Roboto"/>
                <a:ea typeface="Roboto"/>
                <a:cs typeface="Roboto"/>
                <a:sym typeface="Roboto"/>
              </a:rPr>
              <a:t> </a:t>
            </a:r>
            <a:r>
              <a:rPr lang="en-US" sz="2999" dirty="0" err="1">
                <a:solidFill>
                  <a:srgbClr val="FAF2EA"/>
                </a:solidFill>
                <a:latin typeface="Roboto"/>
                <a:ea typeface="Roboto"/>
                <a:cs typeface="Roboto"/>
                <a:sym typeface="Roboto"/>
              </a:rPr>
              <a:t>faktor</a:t>
            </a:r>
            <a:r>
              <a:rPr lang="en-US" sz="2999" dirty="0">
                <a:solidFill>
                  <a:srgbClr val="FAF2EA"/>
                </a:solidFill>
                <a:latin typeface="Roboto"/>
                <a:ea typeface="Roboto"/>
                <a:cs typeface="Roboto"/>
                <a:sym typeface="Roboto"/>
              </a:rPr>
              <a:t> </a:t>
            </a:r>
            <a:r>
              <a:rPr lang="en-US" sz="2999" dirty="0" err="1">
                <a:solidFill>
                  <a:srgbClr val="FAF2EA"/>
                </a:solidFill>
                <a:latin typeface="Roboto"/>
                <a:ea typeface="Roboto"/>
                <a:cs typeface="Roboto"/>
                <a:sym typeface="Roboto"/>
              </a:rPr>
              <a:t>akan</a:t>
            </a:r>
            <a:r>
              <a:rPr lang="en-US" sz="2999" dirty="0">
                <a:solidFill>
                  <a:srgbClr val="FAF2EA"/>
                </a:solidFill>
                <a:latin typeface="Roboto"/>
                <a:ea typeface="Roboto"/>
                <a:cs typeface="Roboto"/>
                <a:sym typeface="Roboto"/>
              </a:rPr>
              <a:t> </a:t>
            </a:r>
            <a:r>
              <a:rPr lang="en-US" sz="2999" dirty="0" err="1">
                <a:solidFill>
                  <a:srgbClr val="FAF2EA"/>
                </a:solidFill>
                <a:latin typeface="Roboto"/>
                <a:ea typeface="Roboto"/>
                <a:cs typeface="Roboto"/>
                <a:sym typeface="Roboto"/>
              </a:rPr>
              <a:t>diubah</a:t>
            </a:r>
            <a:r>
              <a:rPr lang="en-US" sz="2999" dirty="0">
                <a:solidFill>
                  <a:srgbClr val="FAF2EA"/>
                </a:solidFill>
                <a:latin typeface="Roboto"/>
                <a:ea typeface="Roboto"/>
                <a:cs typeface="Roboto"/>
                <a:sym typeface="Roboto"/>
              </a:rPr>
              <a:t> </a:t>
            </a:r>
            <a:r>
              <a:rPr lang="en-US" sz="2999" dirty="0" err="1">
                <a:solidFill>
                  <a:srgbClr val="FAF2EA"/>
                </a:solidFill>
                <a:latin typeface="Roboto"/>
                <a:ea typeface="Roboto"/>
                <a:cs typeface="Roboto"/>
                <a:sym typeface="Roboto"/>
              </a:rPr>
              <a:t>nilainya</a:t>
            </a:r>
            <a:r>
              <a:rPr lang="en-US" sz="2999" dirty="0">
                <a:solidFill>
                  <a:srgbClr val="FAF2EA"/>
                </a:solidFill>
                <a:latin typeface="Roboto"/>
                <a:ea typeface="Roboto"/>
                <a:cs typeface="Roboto"/>
                <a:sym typeface="Roboto"/>
              </a:rPr>
              <a:t> </a:t>
            </a:r>
            <a:r>
              <a:rPr lang="en-US" sz="2999" dirty="0" err="1">
                <a:solidFill>
                  <a:srgbClr val="FAF2EA"/>
                </a:solidFill>
                <a:latin typeface="Roboto"/>
                <a:ea typeface="Roboto"/>
                <a:cs typeface="Roboto"/>
                <a:sym typeface="Roboto"/>
              </a:rPr>
              <a:t>menggunakan</a:t>
            </a:r>
            <a:r>
              <a:rPr lang="en-US" sz="2999" dirty="0">
                <a:solidFill>
                  <a:srgbClr val="FAF2EA"/>
                </a:solidFill>
                <a:latin typeface="Roboto"/>
                <a:ea typeface="Roboto"/>
                <a:cs typeface="Roboto"/>
                <a:sym typeface="Roboto"/>
              </a:rPr>
              <a:t> fungsi loss yang </a:t>
            </a:r>
            <a:r>
              <a:rPr lang="en-US" sz="2999" dirty="0" err="1">
                <a:solidFill>
                  <a:srgbClr val="FAF2EA"/>
                </a:solidFill>
                <a:latin typeface="Roboto"/>
                <a:ea typeface="Roboto"/>
                <a:cs typeface="Roboto"/>
                <a:sym typeface="Roboto"/>
              </a:rPr>
              <a:t>merupakan</a:t>
            </a:r>
            <a:r>
              <a:rPr lang="en-US" sz="2999" dirty="0">
                <a:solidFill>
                  <a:srgbClr val="FAF2EA"/>
                </a:solidFill>
                <a:latin typeface="Roboto"/>
                <a:ea typeface="Roboto"/>
                <a:cs typeface="Roboto"/>
                <a:sym typeface="Roboto"/>
              </a:rPr>
              <a:t> </a:t>
            </a:r>
            <a:r>
              <a:rPr lang="en-US" sz="2999" dirty="0" err="1">
                <a:solidFill>
                  <a:srgbClr val="FAF2EA"/>
                </a:solidFill>
                <a:latin typeface="Roboto"/>
                <a:ea typeface="Roboto"/>
                <a:cs typeface="Roboto"/>
                <a:sym typeface="Roboto"/>
              </a:rPr>
              <a:t>kombinasi</a:t>
            </a:r>
            <a:r>
              <a:rPr lang="en-US" sz="2999" dirty="0">
                <a:solidFill>
                  <a:srgbClr val="FAF2EA"/>
                </a:solidFill>
                <a:latin typeface="Roboto"/>
                <a:ea typeface="Roboto"/>
                <a:cs typeface="Roboto"/>
                <a:sym typeface="Roboto"/>
              </a:rPr>
              <a:t> </a:t>
            </a:r>
            <a:r>
              <a:rPr lang="en-US" sz="2999" dirty="0" err="1">
                <a:solidFill>
                  <a:srgbClr val="FAF2EA"/>
                </a:solidFill>
                <a:latin typeface="Roboto"/>
                <a:ea typeface="Roboto"/>
                <a:cs typeface="Roboto"/>
                <a:sym typeface="Roboto"/>
              </a:rPr>
              <a:t>dari</a:t>
            </a:r>
            <a:r>
              <a:rPr lang="en-US" sz="2999" dirty="0">
                <a:solidFill>
                  <a:srgbClr val="FAF2EA"/>
                </a:solidFill>
                <a:latin typeface="Roboto"/>
                <a:ea typeface="Roboto"/>
                <a:cs typeface="Roboto"/>
                <a:sym typeface="Roboto"/>
              </a:rPr>
              <a:t> kesalahan </a:t>
            </a:r>
            <a:r>
              <a:rPr lang="en-US" sz="2999" dirty="0" err="1">
                <a:solidFill>
                  <a:srgbClr val="FAF2EA"/>
                </a:solidFill>
                <a:latin typeface="Roboto"/>
                <a:ea typeface="Roboto"/>
                <a:cs typeface="Roboto"/>
                <a:sym typeface="Roboto"/>
              </a:rPr>
              <a:t>rekonstruksi</a:t>
            </a:r>
            <a:r>
              <a:rPr lang="en-US" sz="2999" dirty="0">
                <a:solidFill>
                  <a:srgbClr val="FAF2EA"/>
                </a:solidFill>
                <a:latin typeface="Roboto"/>
                <a:ea typeface="Roboto"/>
                <a:cs typeface="Roboto"/>
                <a:sym typeface="Roboto"/>
              </a:rPr>
              <a:t> dan </a:t>
            </a:r>
            <a:r>
              <a:rPr lang="en-US" sz="2999" dirty="0" err="1">
                <a:solidFill>
                  <a:srgbClr val="FAF2EA"/>
                </a:solidFill>
                <a:latin typeface="Roboto"/>
                <a:ea typeface="Roboto"/>
                <a:cs typeface="Roboto"/>
                <a:sym typeface="Roboto"/>
              </a:rPr>
              <a:t>penalti</a:t>
            </a:r>
            <a:r>
              <a:rPr lang="en-US" sz="2999" dirty="0">
                <a:solidFill>
                  <a:srgbClr val="FAF2EA"/>
                </a:solidFill>
                <a:latin typeface="Roboto"/>
                <a:ea typeface="Roboto"/>
                <a:cs typeface="Roboto"/>
                <a:sym typeface="Roboto"/>
              </a:rPr>
              <a:t> </a:t>
            </a:r>
            <a:r>
              <a:rPr lang="en-US" sz="2999" dirty="0" err="1">
                <a:solidFill>
                  <a:srgbClr val="FAF2EA"/>
                </a:solidFill>
                <a:latin typeface="Roboto"/>
                <a:ea typeface="Roboto"/>
                <a:cs typeface="Roboto"/>
                <a:sym typeface="Roboto"/>
              </a:rPr>
              <a:t>regularisasi</a:t>
            </a:r>
            <a:r>
              <a:rPr lang="en-US" sz="2999" dirty="0">
                <a:solidFill>
                  <a:srgbClr val="FAF2EA"/>
                </a:solidFill>
                <a:latin typeface="Roboto"/>
                <a:ea typeface="Roboto"/>
                <a:cs typeface="Roboto"/>
                <a:sym typeface="Roboto"/>
              </a:rPr>
              <a:t> L2. Optimasi </a:t>
            </a:r>
            <a:r>
              <a:rPr lang="en-US" sz="2999" dirty="0" err="1">
                <a:solidFill>
                  <a:srgbClr val="FAF2EA"/>
                </a:solidFill>
                <a:latin typeface="Roboto"/>
                <a:ea typeface="Roboto"/>
                <a:cs typeface="Roboto"/>
                <a:sym typeface="Roboto"/>
              </a:rPr>
              <a:t>dilakukan</a:t>
            </a:r>
            <a:r>
              <a:rPr lang="en-US" sz="2999" dirty="0">
                <a:solidFill>
                  <a:srgbClr val="FAF2EA"/>
                </a:solidFill>
                <a:latin typeface="Roboto"/>
                <a:ea typeface="Roboto"/>
                <a:cs typeface="Roboto"/>
                <a:sym typeface="Roboto"/>
              </a:rPr>
              <a:t> </a:t>
            </a:r>
            <a:r>
              <a:rPr lang="en-US" sz="2999" dirty="0" err="1">
                <a:solidFill>
                  <a:srgbClr val="FAF2EA"/>
                </a:solidFill>
                <a:latin typeface="Roboto"/>
                <a:ea typeface="Roboto"/>
                <a:cs typeface="Roboto"/>
                <a:sym typeface="Roboto"/>
              </a:rPr>
              <a:t>menggunakan</a:t>
            </a:r>
            <a:r>
              <a:rPr lang="en-US" sz="2999" dirty="0">
                <a:solidFill>
                  <a:srgbClr val="FAF2EA"/>
                </a:solidFill>
                <a:latin typeface="Roboto"/>
                <a:ea typeface="Roboto"/>
                <a:cs typeface="Roboto"/>
                <a:sym typeface="Roboto"/>
              </a:rPr>
              <a:t> Stochastic Gradient Descent untuk </a:t>
            </a:r>
            <a:r>
              <a:rPr lang="en-US" sz="2999" dirty="0" err="1">
                <a:solidFill>
                  <a:srgbClr val="FAF2EA"/>
                </a:solidFill>
                <a:latin typeface="Roboto"/>
                <a:ea typeface="Roboto"/>
                <a:cs typeface="Roboto"/>
                <a:sym typeface="Roboto"/>
              </a:rPr>
              <a:t>meminimalkan</a:t>
            </a:r>
            <a:r>
              <a:rPr lang="en-US" sz="2999" dirty="0">
                <a:solidFill>
                  <a:srgbClr val="FAF2EA"/>
                </a:solidFill>
                <a:latin typeface="Roboto"/>
                <a:ea typeface="Roboto"/>
                <a:cs typeface="Roboto"/>
                <a:sym typeface="Roboto"/>
              </a:rPr>
              <a:t> fungsi loss.</a:t>
            </a:r>
          </a:p>
        </p:txBody>
      </p:sp>
      <p:sp>
        <p:nvSpPr>
          <p:cNvPr id="15" name="TextBox 15"/>
          <p:cNvSpPr txBox="1"/>
          <p:nvPr/>
        </p:nvSpPr>
        <p:spPr>
          <a:xfrm>
            <a:off x="201093" y="8053218"/>
            <a:ext cx="12360981" cy="571501"/>
          </a:xfrm>
          <a:prstGeom prst="rect">
            <a:avLst/>
          </a:prstGeom>
        </p:spPr>
        <p:txBody>
          <a:bodyPr lIns="0" tIns="0" rIns="0" bIns="0" rtlCol="0" anchor="t">
            <a:spAutoFit/>
          </a:bodyPr>
          <a:lstStyle/>
          <a:p>
            <a:pPr algn="just">
              <a:lnSpc>
                <a:spcPts val="4799"/>
              </a:lnSpc>
            </a:pPr>
            <a:r>
              <a:rPr lang="en-US" sz="2999" dirty="0">
                <a:solidFill>
                  <a:srgbClr val="FAF2EA"/>
                </a:solidFill>
                <a:latin typeface="Roboto"/>
                <a:ea typeface="Roboto"/>
                <a:cs typeface="Roboto"/>
                <a:sym typeface="Roboto"/>
              </a:rPr>
              <a:t>Optimasi </a:t>
            </a:r>
            <a:r>
              <a:rPr lang="en-US" sz="2999" dirty="0" err="1">
                <a:solidFill>
                  <a:srgbClr val="FAF2EA"/>
                </a:solidFill>
                <a:latin typeface="Roboto"/>
                <a:ea typeface="Roboto"/>
                <a:cs typeface="Roboto"/>
                <a:sym typeface="Roboto"/>
              </a:rPr>
              <a:t>dilakukan</a:t>
            </a:r>
            <a:r>
              <a:rPr lang="en-US" sz="2999" dirty="0">
                <a:solidFill>
                  <a:srgbClr val="FAF2EA"/>
                </a:solidFill>
                <a:latin typeface="Roboto"/>
                <a:ea typeface="Roboto"/>
                <a:cs typeface="Roboto"/>
                <a:sym typeface="Roboto"/>
              </a:rPr>
              <a:t> </a:t>
            </a:r>
            <a:r>
              <a:rPr lang="en-US" sz="2999" dirty="0" err="1">
                <a:solidFill>
                  <a:srgbClr val="FAF2EA"/>
                </a:solidFill>
                <a:latin typeface="Roboto"/>
                <a:ea typeface="Roboto"/>
                <a:cs typeface="Roboto"/>
                <a:sym typeface="Roboto"/>
              </a:rPr>
              <a:t>hingga</a:t>
            </a:r>
            <a:r>
              <a:rPr lang="en-US" sz="2999" dirty="0">
                <a:solidFill>
                  <a:srgbClr val="FAF2EA"/>
                </a:solidFill>
                <a:latin typeface="Roboto"/>
                <a:ea typeface="Roboto"/>
                <a:cs typeface="Roboto"/>
                <a:sym typeface="Roboto"/>
              </a:rPr>
              <a:t> </a:t>
            </a:r>
            <a:r>
              <a:rPr lang="en-US" sz="2999" dirty="0" err="1">
                <a:solidFill>
                  <a:srgbClr val="FAF2EA"/>
                </a:solidFill>
                <a:latin typeface="Roboto"/>
                <a:ea typeface="Roboto"/>
                <a:cs typeface="Roboto"/>
                <a:sym typeface="Roboto"/>
              </a:rPr>
              <a:t>mencapai</a:t>
            </a:r>
            <a:r>
              <a:rPr lang="en-US" sz="2999" dirty="0">
                <a:solidFill>
                  <a:srgbClr val="FAF2EA"/>
                </a:solidFill>
                <a:latin typeface="Roboto"/>
                <a:ea typeface="Roboto"/>
                <a:cs typeface="Roboto"/>
                <a:sym typeface="Roboto"/>
              </a:rPr>
              <a:t> </a:t>
            </a:r>
            <a:r>
              <a:rPr lang="en-US" sz="2999" dirty="0" err="1">
                <a:solidFill>
                  <a:srgbClr val="FAF2EA"/>
                </a:solidFill>
                <a:latin typeface="Roboto"/>
                <a:ea typeface="Roboto"/>
                <a:cs typeface="Roboto"/>
                <a:sym typeface="Roboto"/>
              </a:rPr>
              <a:t>konvergensi</a:t>
            </a:r>
            <a:r>
              <a:rPr lang="en-US" sz="2999" dirty="0">
                <a:solidFill>
                  <a:srgbClr val="FAF2EA"/>
                </a:solidFill>
                <a:latin typeface="Roboto"/>
                <a:ea typeface="Roboto"/>
                <a:cs typeface="Roboto"/>
                <a:sym typeface="Roboto"/>
              </a:rPr>
              <a:t>.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AF2EA"/>
        </a:solidFill>
        <a:effectLst/>
      </p:bgPr>
    </p:bg>
    <p:spTree>
      <p:nvGrpSpPr>
        <p:cNvPr id="1" name=""/>
        <p:cNvGrpSpPr/>
        <p:nvPr/>
      </p:nvGrpSpPr>
      <p:grpSpPr>
        <a:xfrm>
          <a:off x="0" y="0"/>
          <a:ext cx="0" cy="0"/>
          <a:chOff x="0" y="0"/>
          <a:chExt cx="0" cy="0"/>
        </a:xfrm>
      </p:grpSpPr>
      <p:grpSp>
        <p:nvGrpSpPr>
          <p:cNvPr id="2" name="Group 2"/>
          <p:cNvGrpSpPr/>
          <p:nvPr/>
        </p:nvGrpSpPr>
        <p:grpSpPr>
          <a:xfrm>
            <a:off x="0" y="2740084"/>
            <a:ext cx="18288000" cy="7546916"/>
            <a:chOff x="0" y="0"/>
            <a:chExt cx="4816593" cy="1987665"/>
          </a:xfrm>
        </p:grpSpPr>
        <p:sp>
          <p:nvSpPr>
            <p:cNvPr id="3" name="Freeform 3"/>
            <p:cNvSpPr/>
            <p:nvPr/>
          </p:nvSpPr>
          <p:spPr>
            <a:xfrm>
              <a:off x="0" y="0"/>
              <a:ext cx="4816592" cy="1987665"/>
            </a:xfrm>
            <a:custGeom>
              <a:avLst/>
              <a:gdLst/>
              <a:ahLst/>
              <a:cxnLst/>
              <a:rect l="l" t="t" r="r" b="b"/>
              <a:pathLst>
                <a:path w="4816592" h="1987665">
                  <a:moveTo>
                    <a:pt x="0" y="0"/>
                  </a:moveTo>
                  <a:lnTo>
                    <a:pt x="4816592" y="0"/>
                  </a:lnTo>
                  <a:lnTo>
                    <a:pt x="4816592" y="1987665"/>
                  </a:lnTo>
                  <a:lnTo>
                    <a:pt x="0" y="1987665"/>
                  </a:lnTo>
                  <a:close/>
                </a:path>
              </a:pathLst>
            </a:custGeom>
            <a:solidFill>
              <a:srgbClr val="283728"/>
            </a:solidFill>
          </p:spPr>
        </p:sp>
        <p:sp>
          <p:nvSpPr>
            <p:cNvPr id="4" name="TextBox 4"/>
            <p:cNvSpPr txBox="1"/>
            <p:nvPr/>
          </p:nvSpPr>
          <p:spPr>
            <a:xfrm>
              <a:off x="0" y="-47625"/>
              <a:ext cx="4816593" cy="2035290"/>
            </a:xfrm>
            <a:prstGeom prst="rect">
              <a:avLst/>
            </a:prstGeom>
          </p:spPr>
          <p:txBody>
            <a:bodyPr lIns="50800" tIns="50800" rIns="50800" bIns="50800" rtlCol="0" anchor="ctr"/>
            <a:lstStyle/>
            <a:p>
              <a:pPr algn="ctr">
                <a:lnSpc>
                  <a:spcPts val="3079"/>
                </a:lnSpc>
              </a:pPr>
              <a:endParaRPr/>
            </a:p>
          </p:txBody>
        </p:sp>
      </p:grpSp>
      <p:grpSp>
        <p:nvGrpSpPr>
          <p:cNvPr id="5" name="Group 5"/>
          <p:cNvGrpSpPr/>
          <p:nvPr/>
        </p:nvGrpSpPr>
        <p:grpSpPr>
          <a:xfrm>
            <a:off x="16610134" y="0"/>
            <a:ext cx="1677866" cy="1679634"/>
            <a:chOff x="0" y="0"/>
            <a:chExt cx="568780" cy="569379"/>
          </a:xfrm>
        </p:grpSpPr>
        <p:sp>
          <p:nvSpPr>
            <p:cNvPr id="6" name="Freeform 6"/>
            <p:cNvSpPr/>
            <p:nvPr/>
          </p:nvSpPr>
          <p:spPr>
            <a:xfrm>
              <a:off x="0" y="0"/>
              <a:ext cx="568780" cy="569379"/>
            </a:xfrm>
            <a:custGeom>
              <a:avLst/>
              <a:gdLst/>
              <a:ahLst/>
              <a:cxnLst/>
              <a:rect l="l" t="t" r="r" b="b"/>
              <a:pathLst>
                <a:path w="568780" h="569379">
                  <a:moveTo>
                    <a:pt x="0" y="0"/>
                  </a:moveTo>
                  <a:lnTo>
                    <a:pt x="568780" y="0"/>
                  </a:lnTo>
                  <a:lnTo>
                    <a:pt x="568780" y="569379"/>
                  </a:lnTo>
                  <a:lnTo>
                    <a:pt x="0" y="569379"/>
                  </a:lnTo>
                  <a:close/>
                </a:path>
              </a:pathLst>
            </a:custGeom>
            <a:solidFill>
              <a:srgbClr val="283728"/>
            </a:solidFill>
          </p:spPr>
        </p:sp>
        <p:sp>
          <p:nvSpPr>
            <p:cNvPr id="7" name="TextBox 7"/>
            <p:cNvSpPr txBox="1"/>
            <p:nvPr/>
          </p:nvSpPr>
          <p:spPr>
            <a:xfrm>
              <a:off x="0" y="-47625"/>
              <a:ext cx="568780" cy="617004"/>
            </a:xfrm>
            <a:prstGeom prst="rect">
              <a:avLst/>
            </a:prstGeom>
          </p:spPr>
          <p:txBody>
            <a:bodyPr lIns="50800" tIns="50800" rIns="50800" bIns="50800" rtlCol="0" anchor="ctr"/>
            <a:lstStyle/>
            <a:p>
              <a:pPr algn="ctr">
                <a:lnSpc>
                  <a:spcPts val="3079"/>
                </a:lnSpc>
              </a:pPr>
              <a:endParaRPr/>
            </a:p>
          </p:txBody>
        </p:sp>
      </p:grpSp>
      <p:sp>
        <p:nvSpPr>
          <p:cNvPr id="8" name="Freeform 8"/>
          <p:cNvSpPr/>
          <p:nvPr/>
        </p:nvSpPr>
        <p:spPr>
          <a:xfrm>
            <a:off x="16872103" y="188695"/>
            <a:ext cx="1156433" cy="1302244"/>
          </a:xfrm>
          <a:custGeom>
            <a:avLst/>
            <a:gdLst/>
            <a:ahLst/>
            <a:cxnLst/>
            <a:rect l="l" t="t" r="r" b="b"/>
            <a:pathLst>
              <a:path w="1156433" h="1302244">
                <a:moveTo>
                  <a:pt x="0" y="0"/>
                </a:moveTo>
                <a:lnTo>
                  <a:pt x="1156433" y="0"/>
                </a:lnTo>
                <a:lnTo>
                  <a:pt x="1156433" y="1302244"/>
                </a:lnTo>
                <a:lnTo>
                  <a:pt x="0" y="1302244"/>
                </a:lnTo>
                <a:lnTo>
                  <a:pt x="0" y="0"/>
                </a:lnTo>
                <a:close/>
              </a:path>
            </a:pathLst>
          </a:custGeom>
          <a:blipFill>
            <a:blip r:embed="rId2"/>
            <a:stretch>
              <a:fillRect/>
            </a:stretch>
          </a:blipFill>
        </p:spPr>
      </p:sp>
      <p:sp>
        <p:nvSpPr>
          <p:cNvPr id="9" name="TextBox 9"/>
          <p:cNvSpPr txBox="1"/>
          <p:nvPr/>
        </p:nvSpPr>
        <p:spPr>
          <a:xfrm>
            <a:off x="16610134" y="9518480"/>
            <a:ext cx="598073" cy="311277"/>
          </a:xfrm>
          <a:prstGeom prst="rect">
            <a:avLst/>
          </a:prstGeom>
        </p:spPr>
        <p:txBody>
          <a:bodyPr lIns="0" tIns="0" rIns="0" bIns="0" rtlCol="0" anchor="t">
            <a:spAutoFit/>
          </a:bodyPr>
          <a:lstStyle/>
          <a:p>
            <a:pPr algn="ctr">
              <a:lnSpc>
                <a:spcPts val="2304"/>
              </a:lnSpc>
            </a:pPr>
            <a:r>
              <a:rPr lang="en-US" sz="2400">
                <a:solidFill>
                  <a:srgbClr val="283728"/>
                </a:solidFill>
                <a:latin typeface="Adirek Sans Bold"/>
                <a:ea typeface="Adirek Sans Bold"/>
                <a:cs typeface="Adirek Sans Bold"/>
                <a:sym typeface="Adirek Sans Bold"/>
              </a:rPr>
              <a:t>2024</a:t>
            </a:r>
          </a:p>
        </p:txBody>
      </p:sp>
      <p:sp>
        <p:nvSpPr>
          <p:cNvPr id="10" name="TextBox 10"/>
          <p:cNvSpPr txBox="1"/>
          <p:nvPr/>
        </p:nvSpPr>
        <p:spPr>
          <a:xfrm>
            <a:off x="201093" y="960220"/>
            <a:ext cx="13585514" cy="978577"/>
          </a:xfrm>
          <a:prstGeom prst="rect">
            <a:avLst/>
          </a:prstGeom>
        </p:spPr>
        <p:txBody>
          <a:bodyPr lIns="0" tIns="0" rIns="0" bIns="0" rtlCol="0" anchor="t">
            <a:spAutoFit/>
          </a:bodyPr>
          <a:lstStyle/>
          <a:p>
            <a:pPr algn="l">
              <a:lnSpc>
                <a:spcPts val="5771"/>
              </a:lnSpc>
            </a:pPr>
            <a:r>
              <a:rPr lang="en-US" sz="11543">
                <a:solidFill>
                  <a:srgbClr val="283728"/>
                </a:solidFill>
                <a:latin typeface="Adirek Sans Heavy"/>
                <a:ea typeface="Adirek Sans Heavy"/>
                <a:cs typeface="Adirek Sans Heavy"/>
                <a:sym typeface="Adirek Sans Heavy"/>
              </a:rPr>
              <a:t>METODOLOGI PENELITIAN</a:t>
            </a:r>
          </a:p>
        </p:txBody>
      </p:sp>
      <p:sp>
        <p:nvSpPr>
          <p:cNvPr id="11" name="TextBox 11"/>
          <p:cNvSpPr txBox="1"/>
          <p:nvPr/>
        </p:nvSpPr>
        <p:spPr>
          <a:xfrm>
            <a:off x="201093" y="2146359"/>
            <a:ext cx="16049569" cy="593725"/>
          </a:xfrm>
          <a:prstGeom prst="rect">
            <a:avLst/>
          </a:prstGeom>
        </p:spPr>
        <p:txBody>
          <a:bodyPr lIns="0" tIns="0" rIns="0" bIns="0" rtlCol="0" anchor="t">
            <a:spAutoFit/>
          </a:bodyPr>
          <a:lstStyle/>
          <a:p>
            <a:pPr algn="l">
              <a:lnSpc>
                <a:spcPts val="3499"/>
              </a:lnSpc>
            </a:pPr>
            <a:r>
              <a:rPr lang="en-US" sz="6999">
                <a:solidFill>
                  <a:srgbClr val="283728"/>
                </a:solidFill>
                <a:latin typeface="Adirek Sans Heavy"/>
                <a:ea typeface="Adirek Sans Heavy"/>
                <a:cs typeface="Adirek Sans Heavy"/>
                <a:sym typeface="Adirek Sans Heavy"/>
              </a:rPr>
              <a:t>PERANCANGAN SISTEM</a:t>
            </a:r>
          </a:p>
        </p:txBody>
      </p:sp>
      <p:sp>
        <p:nvSpPr>
          <p:cNvPr id="12" name="TextBox 12"/>
          <p:cNvSpPr txBox="1"/>
          <p:nvPr/>
        </p:nvSpPr>
        <p:spPr>
          <a:xfrm>
            <a:off x="201093" y="2852565"/>
            <a:ext cx="17827443" cy="571501"/>
          </a:xfrm>
          <a:prstGeom prst="rect">
            <a:avLst/>
          </a:prstGeom>
        </p:spPr>
        <p:txBody>
          <a:bodyPr lIns="0" tIns="0" rIns="0" bIns="0" rtlCol="0" anchor="t">
            <a:spAutoFit/>
          </a:bodyPr>
          <a:lstStyle/>
          <a:p>
            <a:pPr algn="just">
              <a:lnSpc>
                <a:spcPts val="4799"/>
              </a:lnSpc>
            </a:pPr>
            <a:r>
              <a:rPr lang="en-US" sz="2999">
                <a:solidFill>
                  <a:srgbClr val="FAF2EA"/>
                </a:solidFill>
                <a:latin typeface="Roboto"/>
                <a:ea typeface="Roboto"/>
                <a:cs typeface="Roboto"/>
                <a:sym typeface="Roboto"/>
              </a:rPr>
              <a:t>Sistem rekomendasi film akan dirancang menjadi aplikasi berbasis web. </a:t>
            </a:r>
          </a:p>
        </p:txBody>
      </p:sp>
      <p:sp>
        <p:nvSpPr>
          <p:cNvPr id="13" name="TextBox 13"/>
          <p:cNvSpPr txBox="1"/>
          <p:nvPr/>
        </p:nvSpPr>
        <p:spPr>
          <a:xfrm>
            <a:off x="230278" y="3490741"/>
            <a:ext cx="17827443" cy="1171576"/>
          </a:xfrm>
          <a:prstGeom prst="rect">
            <a:avLst/>
          </a:prstGeom>
        </p:spPr>
        <p:txBody>
          <a:bodyPr lIns="0" tIns="0" rIns="0" bIns="0" rtlCol="0" anchor="t">
            <a:spAutoFit/>
          </a:bodyPr>
          <a:lstStyle/>
          <a:p>
            <a:pPr algn="just">
              <a:lnSpc>
                <a:spcPts val="4799"/>
              </a:lnSpc>
            </a:pPr>
            <a:r>
              <a:rPr lang="en-US" sz="2999">
                <a:solidFill>
                  <a:srgbClr val="FAF2EA"/>
                </a:solidFill>
                <a:latin typeface="Roboto"/>
                <a:ea typeface="Roboto"/>
                <a:cs typeface="Roboto"/>
                <a:sym typeface="Roboto"/>
              </a:rPr>
              <a:t>Backend dari aplikasi akan dirancang menggunakan framework berbasis Python seperti Flask ataupun FastAPI untuk membuat sebuah Application Programming Interface (API). </a:t>
            </a:r>
          </a:p>
        </p:txBody>
      </p:sp>
      <p:sp>
        <p:nvSpPr>
          <p:cNvPr id="14" name="TextBox 14"/>
          <p:cNvSpPr txBox="1"/>
          <p:nvPr/>
        </p:nvSpPr>
        <p:spPr>
          <a:xfrm>
            <a:off x="104251" y="7089287"/>
            <a:ext cx="17827443" cy="1171576"/>
          </a:xfrm>
          <a:prstGeom prst="rect">
            <a:avLst/>
          </a:prstGeom>
        </p:spPr>
        <p:txBody>
          <a:bodyPr lIns="0" tIns="0" rIns="0" bIns="0" rtlCol="0" anchor="t">
            <a:spAutoFit/>
          </a:bodyPr>
          <a:lstStyle/>
          <a:p>
            <a:pPr algn="just">
              <a:lnSpc>
                <a:spcPts val="4799"/>
              </a:lnSpc>
            </a:pPr>
            <a:r>
              <a:rPr lang="en-US" sz="2999">
                <a:solidFill>
                  <a:srgbClr val="FAF2EA"/>
                </a:solidFill>
                <a:latin typeface="Roboto"/>
                <a:ea typeface="Roboto"/>
                <a:cs typeface="Roboto"/>
                <a:sym typeface="Roboto"/>
              </a:rPr>
              <a:t>Frontend dari aplikasi akan dirancang dengan framework web berbasis Javascript seperti ReactJS agar antarmuka aplikasi lebih interaktif.</a:t>
            </a:r>
          </a:p>
        </p:txBody>
      </p:sp>
      <p:sp>
        <p:nvSpPr>
          <p:cNvPr id="15" name="TextBox 15"/>
          <p:cNvSpPr txBox="1"/>
          <p:nvPr/>
        </p:nvSpPr>
        <p:spPr>
          <a:xfrm>
            <a:off x="230278" y="4862342"/>
            <a:ext cx="17827443" cy="2160270"/>
          </a:xfrm>
          <a:prstGeom prst="rect">
            <a:avLst/>
          </a:prstGeom>
        </p:spPr>
        <p:txBody>
          <a:bodyPr lIns="0" tIns="0" rIns="0" bIns="0" rtlCol="0" anchor="t">
            <a:spAutoFit/>
          </a:bodyPr>
          <a:lstStyle/>
          <a:p>
            <a:pPr algn="just">
              <a:lnSpc>
                <a:spcPts val="3389"/>
              </a:lnSpc>
            </a:pPr>
            <a:r>
              <a:rPr lang="en-US" sz="2999">
                <a:solidFill>
                  <a:srgbClr val="FAF2EA"/>
                </a:solidFill>
                <a:latin typeface="Roboto"/>
                <a:ea typeface="Roboto"/>
                <a:cs typeface="Roboto"/>
                <a:sym typeface="Roboto"/>
              </a:rPr>
              <a:t>Fungsi backend : </a:t>
            </a:r>
          </a:p>
          <a:p>
            <a:pPr marL="647695" lvl="1" indent="-323848" algn="just">
              <a:lnSpc>
                <a:spcPts val="3389"/>
              </a:lnSpc>
              <a:buFont typeface="Arial"/>
              <a:buChar char="•"/>
            </a:pPr>
            <a:r>
              <a:rPr lang="en-US" sz="2999">
                <a:solidFill>
                  <a:srgbClr val="FAF2EA"/>
                </a:solidFill>
                <a:latin typeface="Roboto"/>
                <a:ea typeface="Roboto"/>
                <a:cs typeface="Roboto"/>
                <a:sym typeface="Roboto"/>
              </a:rPr>
              <a:t>Pengolahan data</a:t>
            </a:r>
          </a:p>
          <a:p>
            <a:pPr marL="647695" lvl="1" indent="-323848" algn="just">
              <a:lnSpc>
                <a:spcPts val="3389"/>
              </a:lnSpc>
              <a:buFont typeface="Arial"/>
              <a:buChar char="•"/>
            </a:pPr>
            <a:r>
              <a:rPr lang="en-US" sz="2999">
                <a:solidFill>
                  <a:srgbClr val="FAF2EA"/>
                </a:solidFill>
                <a:latin typeface="Roboto"/>
                <a:ea typeface="Roboto"/>
                <a:cs typeface="Roboto"/>
                <a:sym typeface="Roboto"/>
              </a:rPr>
              <a:t>Melayani permintaan data</a:t>
            </a:r>
          </a:p>
          <a:p>
            <a:pPr marL="647695" lvl="1" indent="-323848" algn="just">
              <a:lnSpc>
                <a:spcPts val="3389"/>
              </a:lnSpc>
              <a:buFont typeface="Arial"/>
              <a:buChar char="•"/>
            </a:pPr>
            <a:r>
              <a:rPr lang="en-US" sz="2999">
                <a:solidFill>
                  <a:srgbClr val="FAF2EA"/>
                </a:solidFill>
                <a:latin typeface="Roboto"/>
                <a:ea typeface="Roboto"/>
                <a:cs typeface="Roboto"/>
                <a:sym typeface="Roboto"/>
              </a:rPr>
              <a:t>Membuat rekomendasi</a:t>
            </a:r>
          </a:p>
          <a:p>
            <a:pPr marL="647695" lvl="1" indent="-323848" algn="just">
              <a:lnSpc>
                <a:spcPts val="3389"/>
              </a:lnSpc>
              <a:buFont typeface="Arial"/>
              <a:buChar char="•"/>
            </a:pPr>
            <a:r>
              <a:rPr lang="en-US" sz="2999">
                <a:solidFill>
                  <a:srgbClr val="FAF2EA"/>
                </a:solidFill>
                <a:latin typeface="Roboto"/>
                <a:ea typeface="Roboto"/>
                <a:cs typeface="Roboto"/>
                <a:sym typeface="Roboto"/>
              </a:rPr>
              <a:t>Mengirimkan data</a:t>
            </a:r>
          </a:p>
        </p:txBody>
      </p:sp>
      <p:sp>
        <p:nvSpPr>
          <p:cNvPr id="16" name="TextBox 16"/>
          <p:cNvSpPr txBox="1"/>
          <p:nvPr/>
        </p:nvSpPr>
        <p:spPr>
          <a:xfrm>
            <a:off x="104251" y="8270388"/>
            <a:ext cx="17827443" cy="1731645"/>
          </a:xfrm>
          <a:prstGeom prst="rect">
            <a:avLst/>
          </a:prstGeom>
        </p:spPr>
        <p:txBody>
          <a:bodyPr lIns="0" tIns="0" rIns="0" bIns="0" rtlCol="0" anchor="t">
            <a:spAutoFit/>
          </a:bodyPr>
          <a:lstStyle/>
          <a:p>
            <a:pPr algn="just">
              <a:lnSpc>
                <a:spcPts val="3389"/>
              </a:lnSpc>
            </a:pPr>
            <a:r>
              <a:rPr lang="en-US" sz="2999" dirty="0">
                <a:solidFill>
                  <a:srgbClr val="FAF2EA"/>
                </a:solidFill>
                <a:latin typeface="Roboto"/>
                <a:ea typeface="Roboto"/>
                <a:cs typeface="Roboto"/>
                <a:sym typeface="Roboto"/>
              </a:rPr>
              <a:t>Fungsi frontend : </a:t>
            </a:r>
          </a:p>
          <a:p>
            <a:pPr marL="647695" lvl="1" indent="-323848" algn="just">
              <a:lnSpc>
                <a:spcPts val="3389"/>
              </a:lnSpc>
              <a:buFont typeface="Arial"/>
              <a:buChar char="•"/>
            </a:pPr>
            <a:r>
              <a:rPr lang="en-US" sz="2999" dirty="0" err="1">
                <a:solidFill>
                  <a:srgbClr val="FAF2EA"/>
                </a:solidFill>
                <a:latin typeface="Roboto"/>
                <a:ea typeface="Roboto"/>
                <a:cs typeface="Roboto"/>
                <a:sym typeface="Roboto"/>
              </a:rPr>
              <a:t>Menampilkan</a:t>
            </a:r>
            <a:r>
              <a:rPr lang="en-US" sz="2999" dirty="0">
                <a:solidFill>
                  <a:srgbClr val="FAF2EA"/>
                </a:solidFill>
                <a:latin typeface="Roboto"/>
                <a:ea typeface="Roboto"/>
                <a:cs typeface="Roboto"/>
                <a:sym typeface="Roboto"/>
              </a:rPr>
              <a:t> data</a:t>
            </a:r>
          </a:p>
          <a:p>
            <a:pPr marL="647695" lvl="1" indent="-323848" algn="just">
              <a:lnSpc>
                <a:spcPts val="3389"/>
              </a:lnSpc>
              <a:buFont typeface="Arial"/>
              <a:buChar char="•"/>
            </a:pPr>
            <a:r>
              <a:rPr lang="en-US" sz="2999" dirty="0" err="1">
                <a:solidFill>
                  <a:srgbClr val="FAF2EA"/>
                </a:solidFill>
                <a:latin typeface="Roboto"/>
                <a:ea typeface="Roboto"/>
                <a:cs typeface="Roboto"/>
                <a:sym typeface="Roboto"/>
              </a:rPr>
              <a:t>Menampilkan</a:t>
            </a:r>
            <a:r>
              <a:rPr lang="en-US" sz="2999" dirty="0">
                <a:solidFill>
                  <a:srgbClr val="FAF2EA"/>
                </a:solidFill>
                <a:latin typeface="Roboto"/>
                <a:ea typeface="Roboto"/>
                <a:cs typeface="Roboto"/>
                <a:sym typeface="Roboto"/>
              </a:rPr>
              <a:t> </a:t>
            </a:r>
            <a:r>
              <a:rPr lang="en-US" sz="2999" dirty="0" err="1">
                <a:solidFill>
                  <a:srgbClr val="FAF2EA"/>
                </a:solidFill>
                <a:latin typeface="Roboto"/>
                <a:ea typeface="Roboto"/>
                <a:cs typeface="Roboto"/>
                <a:sym typeface="Roboto"/>
              </a:rPr>
              <a:t>rekomendasi</a:t>
            </a:r>
            <a:endParaRPr lang="en-US" sz="2999" dirty="0">
              <a:solidFill>
                <a:srgbClr val="FAF2EA"/>
              </a:solidFill>
              <a:latin typeface="Roboto"/>
              <a:ea typeface="Roboto"/>
              <a:cs typeface="Roboto"/>
              <a:sym typeface="Roboto"/>
            </a:endParaRPr>
          </a:p>
          <a:p>
            <a:pPr marL="647695" lvl="1" indent="-323848" algn="just">
              <a:lnSpc>
                <a:spcPts val="3389"/>
              </a:lnSpc>
              <a:buFont typeface="Arial"/>
              <a:buChar char="•"/>
            </a:pPr>
            <a:r>
              <a:rPr lang="en-US" sz="2999" dirty="0" err="1">
                <a:solidFill>
                  <a:srgbClr val="FAF2EA"/>
                </a:solidFill>
                <a:latin typeface="Roboto"/>
                <a:ea typeface="Roboto"/>
                <a:cs typeface="Roboto"/>
                <a:sym typeface="Roboto"/>
              </a:rPr>
              <a:t>Memberikan</a:t>
            </a:r>
            <a:r>
              <a:rPr lang="en-US" sz="2999" dirty="0">
                <a:solidFill>
                  <a:srgbClr val="FAF2EA"/>
                </a:solidFill>
                <a:latin typeface="Roboto"/>
                <a:ea typeface="Roboto"/>
                <a:cs typeface="Roboto"/>
                <a:sym typeface="Roboto"/>
              </a:rPr>
              <a:t> rating</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AF2EA"/>
        </a:solidFill>
        <a:effectLst/>
      </p:bgPr>
    </p:bg>
    <p:spTree>
      <p:nvGrpSpPr>
        <p:cNvPr id="1" name=""/>
        <p:cNvGrpSpPr/>
        <p:nvPr/>
      </p:nvGrpSpPr>
      <p:grpSpPr>
        <a:xfrm>
          <a:off x="0" y="0"/>
          <a:ext cx="0" cy="0"/>
          <a:chOff x="0" y="0"/>
          <a:chExt cx="0" cy="0"/>
        </a:xfrm>
      </p:grpSpPr>
      <p:grpSp>
        <p:nvGrpSpPr>
          <p:cNvPr id="2" name="Group 2"/>
          <p:cNvGrpSpPr/>
          <p:nvPr/>
        </p:nvGrpSpPr>
        <p:grpSpPr>
          <a:xfrm>
            <a:off x="0" y="2740084"/>
            <a:ext cx="18288000" cy="7546916"/>
            <a:chOff x="0" y="0"/>
            <a:chExt cx="4816593" cy="1987665"/>
          </a:xfrm>
        </p:grpSpPr>
        <p:sp>
          <p:nvSpPr>
            <p:cNvPr id="3" name="Freeform 3"/>
            <p:cNvSpPr/>
            <p:nvPr/>
          </p:nvSpPr>
          <p:spPr>
            <a:xfrm>
              <a:off x="0" y="0"/>
              <a:ext cx="4816592" cy="1987665"/>
            </a:xfrm>
            <a:custGeom>
              <a:avLst/>
              <a:gdLst/>
              <a:ahLst/>
              <a:cxnLst/>
              <a:rect l="l" t="t" r="r" b="b"/>
              <a:pathLst>
                <a:path w="4816592" h="1987665">
                  <a:moveTo>
                    <a:pt x="0" y="0"/>
                  </a:moveTo>
                  <a:lnTo>
                    <a:pt x="4816592" y="0"/>
                  </a:lnTo>
                  <a:lnTo>
                    <a:pt x="4816592" y="1987665"/>
                  </a:lnTo>
                  <a:lnTo>
                    <a:pt x="0" y="1987665"/>
                  </a:lnTo>
                  <a:close/>
                </a:path>
              </a:pathLst>
            </a:custGeom>
            <a:solidFill>
              <a:srgbClr val="283728"/>
            </a:solidFill>
          </p:spPr>
        </p:sp>
        <p:sp>
          <p:nvSpPr>
            <p:cNvPr id="4" name="TextBox 4"/>
            <p:cNvSpPr txBox="1"/>
            <p:nvPr/>
          </p:nvSpPr>
          <p:spPr>
            <a:xfrm>
              <a:off x="0" y="-47625"/>
              <a:ext cx="4816593" cy="2035290"/>
            </a:xfrm>
            <a:prstGeom prst="rect">
              <a:avLst/>
            </a:prstGeom>
          </p:spPr>
          <p:txBody>
            <a:bodyPr lIns="50800" tIns="50800" rIns="50800" bIns="50800" rtlCol="0" anchor="ctr"/>
            <a:lstStyle/>
            <a:p>
              <a:pPr algn="ctr">
                <a:lnSpc>
                  <a:spcPts val="3079"/>
                </a:lnSpc>
              </a:pPr>
              <a:endParaRPr/>
            </a:p>
          </p:txBody>
        </p:sp>
      </p:grpSp>
      <p:grpSp>
        <p:nvGrpSpPr>
          <p:cNvPr id="5" name="Group 5"/>
          <p:cNvGrpSpPr/>
          <p:nvPr/>
        </p:nvGrpSpPr>
        <p:grpSpPr>
          <a:xfrm>
            <a:off x="16610134" y="0"/>
            <a:ext cx="1677866" cy="1679634"/>
            <a:chOff x="0" y="0"/>
            <a:chExt cx="568780" cy="569379"/>
          </a:xfrm>
        </p:grpSpPr>
        <p:sp>
          <p:nvSpPr>
            <p:cNvPr id="6" name="Freeform 6"/>
            <p:cNvSpPr/>
            <p:nvPr/>
          </p:nvSpPr>
          <p:spPr>
            <a:xfrm>
              <a:off x="0" y="0"/>
              <a:ext cx="568780" cy="569379"/>
            </a:xfrm>
            <a:custGeom>
              <a:avLst/>
              <a:gdLst/>
              <a:ahLst/>
              <a:cxnLst/>
              <a:rect l="l" t="t" r="r" b="b"/>
              <a:pathLst>
                <a:path w="568780" h="569379">
                  <a:moveTo>
                    <a:pt x="0" y="0"/>
                  </a:moveTo>
                  <a:lnTo>
                    <a:pt x="568780" y="0"/>
                  </a:lnTo>
                  <a:lnTo>
                    <a:pt x="568780" y="569379"/>
                  </a:lnTo>
                  <a:lnTo>
                    <a:pt x="0" y="569379"/>
                  </a:lnTo>
                  <a:close/>
                </a:path>
              </a:pathLst>
            </a:custGeom>
            <a:solidFill>
              <a:srgbClr val="283728"/>
            </a:solidFill>
          </p:spPr>
        </p:sp>
        <p:sp>
          <p:nvSpPr>
            <p:cNvPr id="7" name="TextBox 7"/>
            <p:cNvSpPr txBox="1"/>
            <p:nvPr/>
          </p:nvSpPr>
          <p:spPr>
            <a:xfrm>
              <a:off x="0" y="-47625"/>
              <a:ext cx="568780" cy="617004"/>
            </a:xfrm>
            <a:prstGeom prst="rect">
              <a:avLst/>
            </a:prstGeom>
          </p:spPr>
          <p:txBody>
            <a:bodyPr lIns="50800" tIns="50800" rIns="50800" bIns="50800" rtlCol="0" anchor="ctr"/>
            <a:lstStyle/>
            <a:p>
              <a:pPr algn="ctr">
                <a:lnSpc>
                  <a:spcPts val="3079"/>
                </a:lnSpc>
              </a:pPr>
              <a:endParaRPr/>
            </a:p>
          </p:txBody>
        </p:sp>
      </p:grpSp>
      <p:sp>
        <p:nvSpPr>
          <p:cNvPr id="8" name="Freeform 8"/>
          <p:cNvSpPr/>
          <p:nvPr/>
        </p:nvSpPr>
        <p:spPr>
          <a:xfrm>
            <a:off x="16872103" y="188695"/>
            <a:ext cx="1156433" cy="1302244"/>
          </a:xfrm>
          <a:custGeom>
            <a:avLst/>
            <a:gdLst/>
            <a:ahLst/>
            <a:cxnLst/>
            <a:rect l="l" t="t" r="r" b="b"/>
            <a:pathLst>
              <a:path w="1156433" h="1302244">
                <a:moveTo>
                  <a:pt x="0" y="0"/>
                </a:moveTo>
                <a:lnTo>
                  <a:pt x="1156433" y="0"/>
                </a:lnTo>
                <a:lnTo>
                  <a:pt x="1156433" y="1302244"/>
                </a:lnTo>
                <a:lnTo>
                  <a:pt x="0" y="1302244"/>
                </a:lnTo>
                <a:lnTo>
                  <a:pt x="0" y="0"/>
                </a:lnTo>
                <a:close/>
              </a:path>
            </a:pathLst>
          </a:custGeom>
          <a:blipFill>
            <a:blip r:embed="rId2"/>
            <a:stretch>
              <a:fillRect/>
            </a:stretch>
          </a:blipFill>
        </p:spPr>
      </p:sp>
      <p:sp>
        <p:nvSpPr>
          <p:cNvPr id="9" name="Freeform 9"/>
          <p:cNvSpPr/>
          <p:nvPr/>
        </p:nvSpPr>
        <p:spPr>
          <a:xfrm>
            <a:off x="702002" y="5410149"/>
            <a:ext cx="16883997" cy="2206786"/>
          </a:xfrm>
          <a:custGeom>
            <a:avLst/>
            <a:gdLst/>
            <a:ahLst/>
            <a:cxnLst/>
            <a:rect l="l" t="t" r="r" b="b"/>
            <a:pathLst>
              <a:path w="16883997" h="2206786">
                <a:moveTo>
                  <a:pt x="0" y="0"/>
                </a:moveTo>
                <a:lnTo>
                  <a:pt x="16883996" y="0"/>
                </a:lnTo>
                <a:lnTo>
                  <a:pt x="16883996" y="2206786"/>
                </a:lnTo>
                <a:lnTo>
                  <a:pt x="0" y="2206786"/>
                </a:lnTo>
                <a:lnTo>
                  <a:pt x="0" y="0"/>
                </a:lnTo>
                <a:close/>
              </a:path>
            </a:pathLst>
          </a:custGeom>
          <a:blipFill>
            <a:blip r:embed="rId3"/>
            <a:stretch>
              <a:fillRect/>
            </a:stretch>
          </a:blipFill>
        </p:spPr>
      </p:sp>
      <p:sp>
        <p:nvSpPr>
          <p:cNvPr id="10" name="TextBox 10"/>
          <p:cNvSpPr txBox="1"/>
          <p:nvPr/>
        </p:nvSpPr>
        <p:spPr>
          <a:xfrm>
            <a:off x="16610134" y="9518480"/>
            <a:ext cx="598073" cy="311277"/>
          </a:xfrm>
          <a:prstGeom prst="rect">
            <a:avLst/>
          </a:prstGeom>
        </p:spPr>
        <p:txBody>
          <a:bodyPr lIns="0" tIns="0" rIns="0" bIns="0" rtlCol="0" anchor="t">
            <a:spAutoFit/>
          </a:bodyPr>
          <a:lstStyle/>
          <a:p>
            <a:pPr algn="ctr">
              <a:lnSpc>
                <a:spcPts val="2304"/>
              </a:lnSpc>
            </a:pPr>
            <a:r>
              <a:rPr lang="en-US" sz="2400">
                <a:solidFill>
                  <a:srgbClr val="283728"/>
                </a:solidFill>
                <a:latin typeface="Adirek Sans Bold"/>
                <a:ea typeface="Adirek Sans Bold"/>
                <a:cs typeface="Adirek Sans Bold"/>
                <a:sym typeface="Adirek Sans Bold"/>
              </a:rPr>
              <a:t>2024</a:t>
            </a:r>
          </a:p>
        </p:txBody>
      </p:sp>
      <p:sp>
        <p:nvSpPr>
          <p:cNvPr id="11" name="TextBox 11"/>
          <p:cNvSpPr txBox="1"/>
          <p:nvPr/>
        </p:nvSpPr>
        <p:spPr>
          <a:xfrm>
            <a:off x="201093" y="960220"/>
            <a:ext cx="13585514" cy="978577"/>
          </a:xfrm>
          <a:prstGeom prst="rect">
            <a:avLst/>
          </a:prstGeom>
        </p:spPr>
        <p:txBody>
          <a:bodyPr lIns="0" tIns="0" rIns="0" bIns="0" rtlCol="0" anchor="t">
            <a:spAutoFit/>
          </a:bodyPr>
          <a:lstStyle/>
          <a:p>
            <a:pPr algn="l">
              <a:lnSpc>
                <a:spcPts val="5771"/>
              </a:lnSpc>
            </a:pPr>
            <a:r>
              <a:rPr lang="en-US" sz="11543">
                <a:solidFill>
                  <a:srgbClr val="283728"/>
                </a:solidFill>
                <a:latin typeface="Adirek Sans Heavy"/>
                <a:ea typeface="Adirek Sans Heavy"/>
                <a:cs typeface="Adirek Sans Heavy"/>
                <a:sym typeface="Adirek Sans Heavy"/>
              </a:rPr>
              <a:t>METODOLOGI PENELITIAN</a:t>
            </a:r>
          </a:p>
        </p:txBody>
      </p:sp>
      <p:sp>
        <p:nvSpPr>
          <p:cNvPr id="12" name="TextBox 12"/>
          <p:cNvSpPr txBox="1"/>
          <p:nvPr/>
        </p:nvSpPr>
        <p:spPr>
          <a:xfrm>
            <a:off x="201093" y="2146359"/>
            <a:ext cx="16049569" cy="593725"/>
          </a:xfrm>
          <a:prstGeom prst="rect">
            <a:avLst/>
          </a:prstGeom>
        </p:spPr>
        <p:txBody>
          <a:bodyPr lIns="0" tIns="0" rIns="0" bIns="0" rtlCol="0" anchor="t">
            <a:spAutoFit/>
          </a:bodyPr>
          <a:lstStyle/>
          <a:p>
            <a:pPr algn="l">
              <a:lnSpc>
                <a:spcPts val="3499"/>
              </a:lnSpc>
            </a:pPr>
            <a:r>
              <a:rPr lang="en-US" sz="6999">
                <a:solidFill>
                  <a:srgbClr val="283728"/>
                </a:solidFill>
                <a:latin typeface="Adirek Sans Bold"/>
                <a:ea typeface="Adirek Sans Bold"/>
                <a:cs typeface="Adirek Sans Bold"/>
                <a:sym typeface="Adirek Sans Bold"/>
              </a:rPr>
              <a:t>EVALUASI PERFORMA REKOMENDASI</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AF2EA"/>
        </a:solidFill>
        <a:effectLst/>
      </p:bgPr>
    </p:bg>
    <p:spTree>
      <p:nvGrpSpPr>
        <p:cNvPr id="1" name=""/>
        <p:cNvGrpSpPr/>
        <p:nvPr/>
      </p:nvGrpSpPr>
      <p:grpSpPr>
        <a:xfrm>
          <a:off x="0" y="0"/>
          <a:ext cx="0" cy="0"/>
          <a:chOff x="0" y="0"/>
          <a:chExt cx="0" cy="0"/>
        </a:xfrm>
      </p:grpSpPr>
      <p:grpSp>
        <p:nvGrpSpPr>
          <p:cNvPr id="2" name="Group 2"/>
          <p:cNvGrpSpPr/>
          <p:nvPr/>
        </p:nvGrpSpPr>
        <p:grpSpPr>
          <a:xfrm>
            <a:off x="0" y="2740084"/>
            <a:ext cx="18288000" cy="7546916"/>
            <a:chOff x="0" y="0"/>
            <a:chExt cx="4816593" cy="1987665"/>
          </a:xfrm>
        </p:grpSpPr>
        <p:sp>
          <p:nvSpPr>
            <p:cNvPr id="3" name="Freeform 3"/>
            <p:cNvSpPr/>
            <p:nvPr/>
          </p:nvSpPr>
          <p:spPr>
            <a:xfrm>
              <a:off x="0" y="0"/>
              <a:ext cx="4816592" cy="1987665"/>
            </a:xfrm>
            <a:custGeom>
              <a:avLst/>
              <a:gdLst/>
              <a:ahLst/>
              <a:cxnLst/>
              <a:rect l="l" t="t" r="r" b="b"/>
              <a:pathLst>
                <a:path w="4816592" h="1987665">
                  <a:moveTo>
                    <a:pt x="0" y="0"/>
                  </a:moveTo>
                  <a:lnTo>
                    <a:pt x="4816592" y="0"/>
                  </a:lnTo>
                  <a:lnTo>
                    <a:pt x="4816592" y="1987665"/>
                  </a:lnTo>
                  <a:lnTo>
                    <a:pt x="0" y="1987665"/>
                  </a:lnTo>
                  <a:close/>
                </a:path>
              </a:pathLst>
            </a:custGeom>
            <a:solidFill>
              <a:srgbClr val="283728"/>
            </a:solidFill>
          </p:spPr>
        </p:sp>
        <p:sp>
          <p:nvSpPr>
            <p:cNvPr id="4" name="TextBox 4"/>
            <p:cNvSpPr txBox="1"/>
            <p:nvPr/>
          </p:nvSpPr>
          <p:spPr>
            <a:xfrm>
              <a:off x="0" y="-47625"/>
              <a:ext cx="4816593" cy="2035290"/>
            </a:xfrm>
            <a:prstGeom prst="rect">
              <a:avLst/>
            </a:prstGeom>
          </p:spPr>
          <p:txBody>
            <a:bodyPr lIns="50800" tIns="50800" rIns="50800" bIns="50800" rtlCol="0" anchor="ctr"/>
            <a:lstStyle/>
            <a:p>
              <a:pPr algn="ctr">
                <a:lnSpc>
                  <a:spcPts val="3079"/>
                </a:lnSpc>
              </a:pPr>
              <a:endParaRPr/>
            </a:p>
          </p:txBody>
        </p:sp>
      </p:grpSp>
      <p:grpSp>
        <p:nvGrpSpPr>
          <p:cNvPr id="5" name="Group 5"/>
          <p:cNvGrpSpPr/>
          <p:nvPr/>
        </p:nvGrpSpPr>
        <p:grpSpPr>
          <a:xfrm>
            <a:off x="16610134" y="0"/>
            <a:ext cx="1677866" cy="1679634"/>
            <a:chOff x="0" y="0"/>
            <a:chExt cx="568780" cy="569379"/>
          </a:xfrm>
        </p:grpSpPr>
        <p:sp>
          <p:nvSpPr>
            <p:cNvPr id="6" name="Freeform 6"/>
            <p:cNvSpPr/>
            <p:nvPr/>
          </p:nvSpPr>
          <p:spPr>
            <a:xfrm>
              <a:off x="0" y="0"/>
              <a:ext cx="568780" cy="569379"/>
            </a:xfrm>
            <a:custGeom>
              <a:avLst/>
              <a:gdLst/>
              <a:ahLst/>
              <a:cxnLst/>
              <a:rect l="l" t="t" r="r" b="b"/>
              <a:pathLst>
                <a:path w="568780" h="569379">
                  <a:moveTo>
                    <a:pt x="0" y="0"/>
                  </a:moveTo>
                  <a:lnTo>
                    <a:pt x="568780" y="0"/>
                  </a:lnTo>
                  <a:lnTo>
                    <a:pt x="568780" y="569379"/>
                  </a:lnTo>
                  <a:lnTo>
                    <a:pt x="0" y="569379"/>
                  </a:lnTo>
                  <a:close/>
                </a:path>
              </a:pathLst>
            </a:custGeom>
            <a:solidFill>
              <a:srgbClr val="283728"/>
            </a:solidFill>
          </p:spPr>
        </p:sp>
        <p:sp>
          <p:nvSpPr>
            <p:cNvPr id="7" name="TextBox 7"/>
            <p:cNvSpPr txBox="1"/>
            <p:nvPr/>
          </p:nvSpPr>
          <p:spPr>
            <a:xfrm>
              <a:off x="0" y="-47625"/>
              <a:ext cx="568780" cy="617004"/>
            </a:xfrm>
            <a:prstGeom prst="rect">
              <a:avLst/>
            </a:prstGeom>
          </p:spPr>
          <p:txBody>
            <a:bodyPr lIns="50800" tIns="50800" rIns="50800" bIns="50800" rtlCol="0" anchor="ctr"/>
            <a:lstStyle/>
            <a:p>
              <a:pPr algn="ctr">
                <a:lnSpc>
                  <a:spcPts val="3079"/>
                </a:lnSpc>
              </a:pPr>
              <a:endParaRPr/>
            </a:p>
          </p:txBody>
        </p:sp>
      </p:grpSp>
      <p:sp>
        <p:nvSpPr>
          <p:cNvPr id="8" name="Freeform 8"/>
          <p:cNvSpPr/>
          <p:nvPr/>
        </p:nvSpPr>
        <p:spPr>
          <a:xfrm>
            <a:off x="16872103" y="188695"/>
            <a:ext cx="1156433" cy="1302244"/>
          </a:xfrm>
          <a:custGeom>
            <a:avLst/>
            <a:gdLst/>
            <a:ahLst/>
            <a:cxnLst/>
            <a:rect l="l" t="t" r="r" b="b"/>
            <a:pathLst>
              <a:path w="1156433" h="1302244">
                <a:moveTo>
                  <a:pt x="0" y="0"/>
                </a:moveTo>
                <a:lnTo>
                  <a:pt x="1156433" y="0"/>
                </a:lnTo>
                <a:lnTo>
                  <a:pt x="1156433" y="1302244"/>
                </a:lnTo>
                <a:lnTo>
                  <a:pt x="0" y="1302244"/>
                </a:lnTo>
                <a:lnTo>
                  <a:pt x="0" y="0"/>
                </a:lnTo>
                <a:close/>
              </a:path>
            </a:pathLst>
          </a:custGeom>
          <a:blipFill>
            <a:blip r:embed="rId2"/>
            <a:stretch>
              <a:fillRect/>
            </a:stretch>
          </a:blipFill>
        </p:spPr>
      </p:sp>
      <p:sp>
        <p:nvSpPr>
          <p:cNvPr id="9" name="Freeform 9"/>
          <p:cNvSpPr/>
          <p:nvPr/>
        </p:nvSpPr>
        <p:spPr>
          <a:xfrm>
            <a:off x="3753465" y="3373679"/>
            <a:ext cx="10781070" cy="5884621"/>
          </a:xfrm>
          <a:custGeom>
            <a:avLst/>
            <a:gdLst/>
            <a:ahLst/>
            <a:cxnLst/>
            <a:rect l="l" t="t" r="r" b="b"/>
            <a:pathLst>
              <a:path w="10781070" h="5884621">
                <a:moveTo>
                  <a:pt x="0" y="0"/>
                </a:moveTo>
                <a:lnTo>
                  <a:pt x="10781070" y="0"/>
                </a:lnTo>
                <a:lnTo>
                  <a:pt x="10781070" y="5884621"/>
                </a:lnTo>
                <a:lnTo>
                  <a:pt x="0" y="5884621"/>
                </a:lnTo>
                <a:lnTo>
                  <a:pt x="0" y="0"/>
                </a:lnTo>
                <a:close/>
              </a:path>
            </a:pathLst>
          </a:custGeom>
          <a:blipFill>
            <a:blip r:embed="rId3"/>
            <a:stretch>
              <a:fillRect/>
            </a:stretch>
          </a:blipFill>
        </p:spPr>
      </p:sp>
      <p:sp>
        <p:nvSpPr>
          <p:cNvPr id="10" name="TextBox 10"/>
          <p:cNvSpPr txBox="1"/>
          <p:nvPr/>
        </p:nvSpPr>
        <p:spPr>
          <a:xfrm>
            <a:off x="16610134" y="9518480"/>
            <a:ext cx="598073" cy="311277"/>
          </a:xfrm>
          <a:prstGeom prst="rect">
            <a:avLst/>
          </a:prstGeom>
        </p:spPr>
        <p:txBody>
          <a:bodyPr lIns="0" tIns="0" rIns="0" bIns="0" rtlCol="0" anchor="t">
            <a:spAutoFit/>
          </a:bodyPr>
          <a:lstStyle/>
          <a:p>
            <a:pPr algn="ctr">
              <a:lnSpc>
                <a:spcPts val="2304"/>
              </a:lnSpc>
            </a:pPr>
            <a:r>
              <a:rPr lang="en-US" sz="2400">
                <a:solidFill>
                  <a:srgbClr val="283728"/>
                </a:solidFill>
                <a:latin typeface="Adirek Sans Bold"/>
                <a:ea typeface="Adirek Sans Bold"/>
                <a:cs typeface="Adirek Sans Bold"/>
                <a:sym typeface="Adirek Sans Bold"/>
              </a:rPr>
              <a:t>2024</a:t>
            </a:r>
          </a:p>
        </p:txBody>
      </p:sp>
      <p:sp>
        <p:nvSpPr>
          <p:cNvPr id="11" name="TextBox 11"/>
          <p:cNvSpPr txBox="1"/>
          <p:nvPr/>
        </p:nvSpPr>
        <p:spPr>
          <a:xfrm>
            <a:off x="201093" y="960220"/>
            <a:ext cx="13585514" cy="978577"/>
          </a:xfrm>
          <a:prstGeom prst="rect">
            <a:avLst/>
          </a:prstGeom>
        </p:spPr>
        <p:txBody>
          <a:bodyPr lIns="0" tIns="0" rIns="0" bIns="0" rtlCol="0" anchor="t">
            <a:spAutoFit/>
          </a:bodyPr>
          <a:lstStyle/>
          <a:p>
            <a:pPr algn="l">
              <a:lnSpc>
                <a:spcPts val="5771"/>
              </a:lnSpc>
            </a:pPr>
            <a:r>
              <a:rPr lang="en-US" sz="11543">
                <a:solidFill>
                  <a:srgbClr val="283728"/>
                </a:solidFill>
                <a:latin typeface="Adirek Sans Heavy"/>
                <a:ea typeface="Adirek Sans Heavy"/>
                <a:cs typeface="Adirek Sans Heavy"/>
                <a:sym typeface="Adirek Sans Heavy"/>
              </a:rPr>
              <a:t>JADWAL PENELITIAN</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AF2EA"/>
        </a:solidFill>
        <a:effectLst/>
      </p:bgPr>
    </p:bg>
    <p:spTree>
      <p:nvGrpSpPr>
        <p:cNvPr id="1" name=""/>
        <p:cNvGrpSpPr/>
        <p:nvPr/>
      </p:nvGrpSpPr>
      <p:grpSpPr>
        <a:xfrm>
          <a:off x="0" y="0"/>
          <a:ext cx="0" cy="0"/>
          <a:chOff x="0" y="0"/>
          <a:chExt cx="0" cy="0"/>
        </a:xfrm>
      </p:grpSpPr>
      <p:sp>
        <p:nvSpPr>
          <p:cNvPr id="2" name="TextBox 2"/>
          <p:cNvSpPr txBox="1"/>
          <p:nvPr/>
        </p:nvSpPr>
        <p:spPr>
          <a:xfrm>
            <a:off x="2414879" y="3854132"/>
            <a:ext cx="13458243" cy="2321561"/>
          </a:xfrm>
          <a:prstGeom prst="rect">
            <a:avLst/>
          </a:prstGeom>
        </p:spPr>
        <p:txBody>
          <a:bodyPr lIns="0" tIns="0" rIns="0" bIns="0" rtlCol="0" anchor="t">
            <a:spAutoFit/>
          </a:bodyPr>
          <a:lstStyle/>
          <a:p>
            <a:pPr algn="ctr">
              <a:lnSpc>
                <a:spcPts val="19039"/>
              </a:lnSpc>
            </a:pPr>
            <a:r>
              <a:rPr lang="en-US" sz="13599">
                <a:solidFill>
                  <a:srgbClr val="283728"/>
                </a:solidFill>
                <a:latin typeface="Adirek Sans Heavy"/>
                <a:ea typeface="Adirek Sans Heavy"/>
                <a:cs typeface="Adirek Sans Heavy"/>
                <a:sym typeface="Adirek Sans Heavy"/>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591</TotalTime>
  <Words>2031</Words>
  <Application>Microsoft Office PowerPoint</Application>
  <PresentationFormat>Custom</PresentationFormat>
  <Paragraphs>201</Paragraphs>
  <Slides>32</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32</vt:i4>
      </vt:variant>
    </vt:vector>
  </HeadingPairs>
  <TitlesOfParts>
    <vt:vector size="41" baseType="lpstr">
      <vt:lpstr>Arial</vt:lpstr>
      <vt:lpstr>Calibri</vt:lpstr>
      <vt:lpstr>Roboto Italics</vt:lpstr>
      <vt:lpstr>Roboto Bold</vt:lpstr>
      <vt:lpstr>Adirek Sans Heavy</vt:lpstr>
      <vt:lpstr>Roboto</vt:lpstr>
      <vt:lpstr>Adirek Sans Bold</vt:lpstr>
      <vt:lpstr>Adirek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 Modern Thesis Defense Presentation</dc:title>
  <cp:lastModifiedBy>Basudewa Weda</cp:lastModifiedBy>
  <cp:revision>8</cp:revision>
  <dcterms:created xsi:type="dcterms:W3CDTF">2006-08-16T00:00:00Z</dcterms:created>
  <dcterms:modified xsi:type="dcterms:W3CDTF">2024-07-25T00:26:06Z</dcterms:modified>
  <dc:identifier>DAGLrum3JLo</dc:identifier>
</cp:coreProperties>
</file>